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Lst>
  <p:notesMasterIdLst>
    <p:notesMasterId r:id="rId122"/>
  </p:notesMasterIdLst>
  <p:handoutMasterIdLst>
    <p:handoutMasterId r:id="rId123"/>
  </p:handoutMasterIdLst>
  <p:sldIdLst>
    <p:sldId id="256" r:id="rId5"/>
    <p:sldId id="257" r:id="rId6"/>
    <p:sldId id="259" r:id="rId7"/>
    <p:sldId id="258" r:id="rId8"/>
    <p:sldId id="263" r:id="rId9"/>
    <p:sldId id="264" r:id="rId10"/>
    <p:sldId id="266" r:id="rId11"/>
    <p:sldId id="268" r:id="rId12"/>
    <p:sldId id="267" r:id="rId13"/>
    <p:sldId id="363" r:id="rId14"/>
    <p:sldId id="262" r:id="rId15"/>
    <p:sldId id="315" r:id="rId16"/>
    <p:sldId id="269" r:id="rId17"/>
    <p:sldId id="270" r:id="rId18"/>
    <p:sldId id="272" r:id="rId19"/>
    <p:sldId id="273" r:id="rId20"/>
    <p:sldId id="314" r:id="rId21"/>
    <p:sldId id="274" r:id="rId22"/>
    <p:sldId id="277" r:id="rId23"/>
    <p:sldId id="279" r:id="rId24"/>
    <p:sldId id="280" r:id="rId25"/>
    <p:sldId id="282" r:id="rId26"/>
    <p:sldId id="283" r:id="rId27"/>
    <p:sldId id="281" r:id="rId28"/>
    <p:sldId id="284" r:id="rId29"/>
    <p:sldId id="278" r:id="rId30"/>
    <p:sldId id="275" r:id="rId31"/>
    <p:sldId id="276" r:id="rId32"/>
    <p:sldId id="287" r:id="rId33"/>
    <p:sldId id="288" r:id="rId34"/>
    <p:sldId id="289" r:id="rId35"/>
    <p:sldId id="290" r:id="rId36"/>
    <p:sldId id="364" r:id="rId37"/>
    <p:sldId id="291" r:id="rId38"/>
    <p:sldId id="285" r:id="rId39"/>
    <p:sldId id="286" r:id="rId40"/>
    <p:sldId id="292" r:id="rId41"/>
    <p:sldId id="293" r:id="rId42"/>
    <p:sldId id="295" r:id="rId43"/>
    <p:sldId id="296"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6" r:id="rId61"/>
    <p:sldId id="317" r:id="rId62"/>
    <p:sldId id="319" r:id="rId63"/>
    <p:sldId id="322" r:id="rId64"/>
    <p:sldId id="365" r:id="rId65"/>
    <p:sldId id="323" r:id="rId66"/>
    <p:sldId id="366" r:id="rId67"/>
    <p:sldId id="324" r:id="rId68"/>
    <p:sldId id="325" r:id="rId69"/>
    <p:sldId id="326" r:id="rId70"/>
    <p:sldId id="328" r:id="rId71"/>
    <p:sldId id="327" r:id="rId72"/>
    <p:sldId id="329" r:id="rId73"/>
    <p:sldId id="330" r:id="rId74"/>
    <p:sldId id="318" r:id="rId75"/>
    <p:sldId id="331" r:id="rId76"/>
    <p:sldId id="367" r:id="rId77"/>
    <p:sldId id="368" r:id="rId78"/>
    <p:sldId id="332" r:id="rId79"/>
    <p:sldId id="333" r:id="rId80"/>
    <p:sldId id="334" r:id="rId81"/>
    <p:sldId id="335" r:id="rId82"/>
    <p:sldId id="340" r:id="rId83"/>
    <p:sldId id="336" r:id="rId84"/>
    <p:sldId id="342" r:id="rId85"/>
    <p:sldId id="337" r:id="rId86"/>
    <p:sldId id="341" r:id="rId87"/>
    <p:sldId id="344" r:id="rId88"/>
    <p:sldId id="345" r:id="rId89"/>
    <p:sldId id="346" r:id="rId90"/>
    <p:sldId id="343" r:id="rId91"/>
    <p:sldId id="347" r:id="rId92"/>
    <p:sldId id="348" r:id="rId93"/>
    <p:sldId id="349" r:id="rId94"/>
    <p:sldId id="350" r:id="rId95"/>
    <p:sldId id="351" r:id="rId96"/>
    <p:sldId id="352" r:id="rId97"/>
    <p:sldId id="353" r:id="rId98"/>
    <p:sldId id="354" r:id="rId99"/>
    <p:sldId id="375" r:id="rId100"/>
    <p:sldId id="370" r:id="rId101"/>
    <p:sldId id="376" r:id="rId102"/>
    <p:sldId id="369" r:id="rId103"/>
    <p:sldId id="377" r:id="rId104"/>
    <p:sldId id="378" r:id="rId105"/>
    <p:sldId id="372" r:id="rId106"/>
    <p:sldId id="379" r:id="rId107"/>
    <p:sldId id="380" r:id="rId108"/>
    <p:sldId id="381" r:id="rId109"/>
    <p:sldId id="373" r:id="rId110"/>
    <p:sldId id="374" r:id="rId111"/>
    <p:sldId id="360" r:id="rId112"/>
    <p:sldId id="361" r:id="rId113"/>
    <p:sldId id="362" r:id="rId114"/>
    <p:sldId id="355" r:id="rId115"/>
    <p:sldId id="356" r:id="rId116"/>
    <p:sldId id="357" r:id="rId117"/>
    <p:sldId id="358" r:id="rId118"/>
    <p:sldId id="359" r:id="rId119"/>
    <p:sldId id="320" r:id="rId120"/>
    <p:sldId id="321"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 userDrawn="1">
          <p15:clr>
            <a:srgbClr val="A4A3A4"/>
          </p15:clr>
        </p15:guide>
        <p15:guide id="2" pos="1980" userDrawn="1">
          <p15:clr>
            <a:srgbClr val="A4A3A4"/>
          </p15:clr>
        </p15:guide>
        <p15:guide id="3" orient="horz" pos="187" userDrawn="1">
          <p15:clr>
            <a:srgbClr val="A4A3A4"/>
          </p15:clr>
        </p15:guide>
        <p15:guide id="5" pos="3931" userDrawn="1">
          <p15:clr>
            <a:srgbClr val="A4A3A4"/>
          </p15:clr>
        </p15:guide>
        <p15:guide id="6" orient="horz" pos="2976" userDrawn="1">
          <p15:clr>
            <a:srgbClr val="A4A3A4"/>
          </p15:clr>
        </p15:guide>
        <p15:guide id="7" orient="horz" pos="2478" userDrawn="1">
          <p15:clr>
            <a:srgbClr val="A4A3A4"/>
          </p15:clr>
        </p15:guide>
        <p15:guide id="8" orient="horz" pos="4110" userDrawn="1">
          <p15:clr>
            <a:srgbClr val="A4A3A4"/>
          </p15:clr>
        </p15:guide>
        <p15:guide id="9" orient="horz" pos="1321" userDrawn="1">
          <p15:clr>
            <a:srgbClr val="A4A3A4"/>
          </p15:clr>
        </p15:guide>
        <p15:guide id="10" orient="horz" pos="2160" userDrawn="1">
          <p15:clr>
            <a:srgbClr val="A4A3A4"/>
          </p15:clr>
        </p15:guide>
        <p15:guide id="11" pos="3840" userDrawn="1">
          <p15:clr>
            <a:srgbClr val="A4A3A4"/>
          </p15:clr>
        </p15:guide>
        <p15:guide id="12" pos="982"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916"/>
    <p:restoredTop sz="90451"/>
  </p:normalViewPr>
  <p:slideViewPr>
    <p:cSldViewPr snapToGrid="0">
      <p:cViewPr varScale="1">
        <p:scale>
          <a:sx n="101" d="100"/>
          <a:sy n="101" d="100"/>
        </p:scale>
        <p:origin x="224" y="1192"/>
      </p:cViewPr>
      <p:guideLst>
        <p:guide orient="horz" pos="414"/>
        <p:guide pos="1980"/>
        <p:guide orient="horz" pos="187"/>
        <p:guide pos="3931"/>
        <p:guide orient="horz" pos="2976"/>
        <p:guide orient="horz" pos="2478"/>
        <p:guide orient="horz" pos="4110"/>
        <p:guide orient="horz" pos="1321"/>
        <p:guide orient="horz" pos="2160"/>
        <p:guide pos="3840"/>
        <p:guide pos="98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handoutMaster" Target="handoutMasters/handout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50743E-5FD0-F037-A773-2734EE89D3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780B8A-4763-EACD-480F-07009284E8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57B1BA-A214-7042-8FC6-D07A6DAF9821}" type="datetimeFigureOut">
              <a:rPr lang="en-US" smtClean="0"/>
              <a:t>10/8/26</a:t>
            </a:fld>
            <a:endParaRPr lang="en-US"/>
          </a:p>
        </p:txBody>
      </p:sp>
      <p:sp>
        <p:nvSpPr>
          <p:cNvPr id="4" name="Footer Placeholder 3">
            <a:extLst>
              <a:ext uri="{FF2B5EF4-FFF2-40B4-BE49-F238E27FC236}">
                <a16:creationId xmlns:a16="http://schemas.microsoft.com/office/drawing/2014/main" id="{2BF647CB-4659-0581-57A6-40953866D0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BFF86E4-3BDD-BD3D-2021-832E8B83B7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0DD624-8F79-DD46-BAF8-E423FCCB18BB}" type="slidenum">
              <a:rPr lang="en-US" smtClean="0"/>
              <a:t>‹#›</a:t>
            </a:fld>
            <a:endParaRPr lang="en-US"/>
          </a:p>
        </p:txBody>
      </p:sp>
    </p:spTree>
    <p:extLst>
      <p:ext uri="{BB962C8B-B14F-4D97-AF65-F5344CB8AC3E}">
        <p14:creationId xmlns:p14="http://schemas.microsoft.com/office/powerpoint/2010/main" val="904664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B9319B-62CF-514D-9FE9-D127CE0966E6}"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59AABB-09CA-3946-92C7-908A31EE8F1A}" type="slidenum">
              <a:rPr lang="en-US" smtClean="0"/>
              <a:t>‹#›</a:t>
            </a:fld>
            <a:endParaRPr lang="en-US"/>
          </a:p>
        </p:txBody>
      </p:sp>
    </p:spTree>
    <p:extLst>
      <p:ext uri="{BB962C8B-B14F-4D97-AF65-F5344CB8AC3E}">
        <p14:creationId xmlns:p14="http://schemas.microsoft.com/office/powerpoint/2010/main" val="3154736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3</a:t>
            </a:fld>
            <a:endParaRPr lang="en-US"/>
          </a:p>
        </p:txBody>
      </p:sp>
    </p:spTree>
    <p:extLst>
      <p:ext uri="{BB962C8B-B14F-4D97-AF65-F5344CB8AC3E}">
        <p14:creationId xmlns:p14="http://schemas.microsoft.com/office/powerpoint/2010/main" val="3901977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a:t>
            </a:r>
            <a:r>
              <a:rPr lang="en-GB" b="1" dirty="0" err="1"/>
              <a:t>mermaid.live</a:t>
            </a:r>
            <a:r>
              <a:rPr lang="en-GB" b="1" dirty="0"/>
              <a:t>/</a:t>
            </a:r>
          </a:p>
          <a:p>
            <a:r>
              <a:rPr lang="en-GB" dirty="0"/>
              <a:t>flowchart LR</a:t>
            </a:r>
          </a:p>
          <a:p>
            <a:r>
              <a:rPr lang="en-GB" dirty="0"/>
              <a:t>A(Structure) --&gt; B(Molecular Formula)</a:t>
            </a:r>
          </a:p>
          <a:p>
            <a:r>
              <a:rPr lang="en-GB" dirty="0"/>
              <a:t>B --&gt; C("Molar Mass</a:t>
            </a:r>
          </a:p>
          <a:p>
            <a:r>
              <a:rPr lang="en-GB" dirty="0"/>
              <a:t>[g/mol]")</a:t>
            </a:r>
          </a:p>
          <a:p>
            <a:r>
              <a:rPr lang="en-GB" dirty="0"/>
              <a:t>D("Mass [mg]") --&gt; E("Mass [g]")</a:t>
            </a:r>
          </a:p>
          <a:p>
            <a:r>
              <a:rPr lang="en-GB" dirty="0"/>
              <a:t>C --&gt; F("Amount [mol]</a:t>
            </a:r>
          </a:p>
          <a:p>
            <a:r>
              <a:rPr lang="en-GB" dirty="0"/>
              <a:t>*n = m / M*")</a:t>
            </a:r>
          </a:p>
          <a:p>
            <a:r>
              <a:rPr lang="en-GB" dirty="0"/>
              <a:t>E --&gt; F</a:t>
            </a: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14</a:t>
            </a:fld>
            <a:endParaRPr lang="en-US"/>
          </a:p>
        </p:txBody>
      </p:sp>
    </p:spTree>
    <p:extLst>
      <p:ext uri="{BB962C8B-B14F-4D97-AF65-F5344CB8AC3E}">
        <p14:creationId xmlns:p14="http://schemas.microsoft.com/office/powerpoint/2010/main" val="945743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15</a:t>
            </a:fld>
            <a:endParaRPr lang="en-US"/>
          </a:p>
        </p:txBody>
      </p:sp>
    </p:spTree>
    <p:extLst>
      <p:ext uri="{BB962C8B-B14F-4D97-AF65-F5344CB8AC3E}">
        <p14:creationId xmlns:p14="http://schemas.microsoft.com/office/powerpoint/2010/main" val="382233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21</a:t>
            </a:fld>
            <a:endParaRPr lang="en-US"/>
          </a:p>
        </p:txBody>
      </p:sp>
    </p:spTree>
    <p:extLst>
      <p:ext uri="{BB962C8B-B14F-4D97-AF65-F5344CB8AC3E}">
        <p14:creationId xmlns:p14="http://schemas.microsoft.com/office/powerpoint/2010/main" val="3712626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r>
              <a:rPr lang="en-GB" sz="1200" b="0" i="0" u="none" strike="noStrike" kern="1200" dirty="0">
                <a:solidFill>
                  <a:schemeClr val="tx1"/>
                </a:solidFill>
                <a:effectLst/>
                <a:latin typeface="+mn-lt"/>
                <a:ea typeface="+mn-ea"/>
                <a:cs typeface="+mn-cs"/>
              </a:rPr>
              <a:t>X1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A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A1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A [L]"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C1</a:t>
            </a:r>
          </a:p>
          <a:p>
            <a:r>
              <a:rPr lang="en-GB" sz="1200" b="0" i="0" u="none" strike="noStrike" kern="1200" dirty="0">
                <a:solidFill>
                  <a:schemeClr val="tx1"/>
                </a:solidFill>
                <a:effectLst/>
                <a:latin typeface="+mn-lt"/>
                <a:ea typeface="+mn-ea"/>
                <a:cs typeface="+mn-cs"/>
              </a:rPr>
              <a:t>B1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"Concentration A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C1</a:t>
            </a:r>
          </a:p>
          <a:p>
            <a:r>
              <a:rPr lang="en-GB" sz="1200" b="0" i="0" u="none" strike="noStrike" kern="1200" dirty="0">
                <a:solidFill>
                  <a:schemeClr val="tx1"/>
                </a:solidFill>
                <a:effectLst/>
                <a:latin typeface="+mn-lt"/>
                <a:ea typeface="+mn-ea"/>
                <a:cs typeface="+mn-cs"/>
              </a:rPr>
              <a:t>C1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in A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a:t>
            </a:r>
          </a:p>
          <a:p>
            <a:r>
              <a:rPr lang="en-GB" sz="1200" b="0" i="0" u="none" strike="noStrike" kern="1200" dirty="0">
                <a:solidFill>
                  <a:schemeClr val="tx1"/>
                </a:solidFill>
                <a:effectLst/>
                <a:latin typeface="+mn-lt"/>
                <a:ea typeface="+mn-ea"/>
                <a:cs typeface="+mn-cs"/>
              </a:rPr>
              <a:t>X2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B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A2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B [L]"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C2</a:t>
            </a:r>
          </a:p>
          <a:p>
            <a:r>
              <a:rPr lang="en-GB" sz="1200" b="0" i="0" u="none" strike="noStrike" kern="1200" dirty="0">
                <a:solidFill>
                  <a:schemeClr val="tx1"/>
                </a:solidFill>
                <a:effectLst/>
                <a:latin typeface="+mn-lt"/>
                <a:ea typeface="+mn-ea"/>
                <a:cs typeface="+mn-cs"/>
              </a:rPr>
              <a:t>B2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"Concentration B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C2</a:t>
            </a:r>
          </a:p>
          <a:p>
            <a:r>
              <a:rPr lang="en-GB" sz="1200" b="0" i="0" u="none" strike="noStrike" kern="1200" dirty="0">
                <a:solidFill>
                  <a:schemeClr val="tx1"/>
                </a:solidFill>
                <a:effectLst/>
                <a:latin typeface="+mn-lt"/>
                <a:ea typeface="+mn-ea"/>
                <a:cs typeface="+mn-cs"/>
              </a:rPr>
              <a:t>C2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in B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a:t>
            </a:r>
          </a:p>
          <a:p>
            <a:r>
              <a:rPr lang="en-GB" sz="1200" b="0" i="0" u="none" strike="noStrike" kern="1200" dirty="0">
                <a:solidFill>
                  <a:schemeClr val="tx1"/>
                </a:solidFill>
                <a:effectLst/>
                <a:latin typeface="+mn-lt"/>
                <a:ea typeface="+mn-ea"/>
                <a:cs typeface="+mn-cs"/>
              </a:rPr>
              <a:t>C1 --&gt; 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amount [mol]</a:t>
            </a:r>
          </a:p>
          <a:p>
            <a:r>
              <a:rPr lang="en-GB" sz="1200" b="0" i="0" u="none" strike="noStrike" kern="1200" dirty="0">
                <a:solidFill>
                  <a:schemeClr val="tx1"/>
                </a:solidFill>
                <a:effectLst/>
                <a:latin typeface="+mn-lt"/>
                <a:ea typeface="+mn-ea"/>
                <a:cs typeface="+mn-cs"/>
              </a:rPr>
              <a:t>*n = 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 n</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p>
          <a:p>
            <a:r>
              <a:rPr lang="en-GB" sz="1200" b="0" i="0" u="none" strike="noStrike" kern="1200" dirty="0">
                <a:solidFill>
                  <a:schemeClr val="tx1"/>
                </a:solidFill>
                <a:effectLst/>
                <a:latin typeface="+mn-lt"/>
                <a:ea typeface="+mn-ea"/>
                <a:cs typeface="+mn-cs"/>
              </a:rPr>
              <a:t>C2 --&gt; X</a:t>
            </a:r>
          </a:p>
          <a:p>
            <a:r>
              <a:rPr lang="en-GB" sz="1200" b="0" i="0" u="none" strike="noStrike" kern="1200" dirty="0">
                <a:solidFill>
                  <a:schemeClr val="tx1"/>
                </a:solidFill>
                <a:effectLst/>
                <a:latin typeface="+mn-lt"/>
                <a:ea typeface="+mn-ea"/>
                <a:cs typeface="+mn-cs"/>
              </a:rPr>
              <a:t>C1 ~~~ Y</a:t>
            </a:r>
          </a:p>
          <a:p>
            <a:r>
              <a:rPr lang="en-GB" sz="1200" b="0" i="0" u="none" strike="noStrike" kern="1200" dirty="0">
                <a:solidFill>
                  <a:schemeClr val="tx1"/>
                </a:solidFill>
                <a:effectLst/>
                <a:latin typeface="+mn-lt"/>
                <a:ea typeface="+mn-ea"/>
                <a:cs typeface="+mn-cs"/>
              </a:rPr>
              <a:t>A1 --&gt; Y</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volume [L]</a:t>
            </a:r>
          </a:p>
          <a:p>
            <a:r>
              <a:rPr lang="en-GB" sz="1200" b="0" i="0" u="none" strike="noStrike" kern="1200" dirty="0">
                <a:solidFill>
                  <a:schemeClr val="tx1"/>
                </a:solidFill>
                <a:effectLst/>
                <a:latin typeface="+mn-lt"/>
                <a:ea typeface="+mn-ea"/>
                <a:cs typeface="+mn-cs"/>
              </a:rPr>
              <a:t>*V = 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 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p>
          <a:p>
            <a:r>
              <a:rPr lang="en-GB" sz="1200" b="0" i="0" u="none" strike="noStrike" kern="1200" dirty="0">
                <a:solidFill>
                  <a:schemeClr val="tx1"/>
                </a:solidFill>
                <a:effectLst/>
                <a:latin typeface="+mn-lt"/>
                <a:ea typeface="+mn-ea"/>
                <a:cs typeface="+mn-cs"/>
              </a:rPr>
              <a:t>A2 --&gt; Y</a:t>
            </a:r>
          </a:p>
          <a:p>
            <a:r>
              <a:rPr lang="en-GB" sz="1200" b="0" i="0" u="none" strike="noStrike" kern="1200" dirty="0">
                <a:solidFill>
                  <a:schemeClr val="tx1"/>
                </a:solidFill>
                <a:effectLst/>
                <a:latin typeface="+mn-lt"/>
                <a:ea typeface="+mn-ea"/>
                <a:cs typeface="+mn-cs"/>
              </a:rPr>
              <a:t>X --&gt; 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"Final concentration [M]</a:t>
            </a:r>
          </a:p>
          <a:p>
            <a:r>
              <a:rPr lang="en-GB" sz="1200" b="0" i="0" u="none" strike="noStrike" kern="1200" dirty="0">
                <a:solidFill>
                  <a:schemeClr val="tx1"/>
                </a:solidFill>
                <a:effectLst/>
                <a:latin typeface="+mn-lt"/>
                <a:ea typeface="+mn-ea"/>
                <a:cs typeface="+mn-cs"/>
              </a:rPr>
              <a:t>*c = n / V*"</a:t>
            </a:r>
            <a:r>
              <a:rPr lang="en-GB" sz="1200" b="1" i="0" u="none" strike="noStrike" kern="1200" dirty="0">
                <a:solidFill>
                  <a:schemeClr val="tx1"/>
                </a:solidFill>
                <a:effectLst/>
                <a:latin typeface="+mn-lt"/>
                <a:ea typeface="+mn-ea"/>
                <a:cs typeface="+mn-cs"/>
              </a:rPr>
              <a:t>)</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Y --&gt; Z</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foo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bar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30</a:t>
            </a:fld>
            <a:endParaRPr lang="en-US"/>
          </a:p>
        </p:txBody>
      </p:sp>
    </p:spTree>
    <p:extLst>
      <p:ext uri="{BB962C8B-B14F-4D97-AF65-F5344CB8AC3E}">
        <p14:creationId xmlns:p14="http://schemas.microsoft.com/office/powerpoint/2010/main" val="2373744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64</a:t>
            </a:fld>
            <a:endParaRPr lang="en-US"/>
          </a:p>
        </p:txBody>
      </p:sp>
    </p:spTree>
    <p:extLst>
      <p:ext uri="{BB962C8B-B14F-4D97-AF65-F5344CB8AC3E}">
        <p14:creationId xmlns:p14="http://schemas.microsoft.com/office/powerpoint/2010/main" val="3181968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78</a:t>
            </a:fld>
            <a:endParaRPr lang="en-US"/>
          </a:p>
        </p:txBody>
      </p:sp>
    </p:spTree>
    <p:extLst>
      <p:ext uri="{BB962C8B-B14F-4D97-AF65-F5344CB8AC3E}">
        <p14:creationId xmlns:p14="http://schemas.microsoft.com/office/powerpoint/2010/main" val="346764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8520-1287-6A2A-A14A-13A3941EA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65C76-667A-8F5E-C759-717398F1E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053D8-457E-1EB5-05F7-7BC6771510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CE0E72-F761-C34F-29E1-0197190E47FE}"/>
              </a:ext>
            </a:extLst>
          </p:cNvPr>
          <p:cNvSpPr>
            <a:spLocks noGrp="1"/>
          </p:cNvSpPr>
          <p:nvPr>
            <p:ph type="sldNum" sz="quarter" idx="5"/>
          </p:nvPr>
        </p:nvSpPr>
        <p:spPr/>
        <p:txBody>
          <a:bodyPr/>
          <a:lstStyle/>
          <a:p>
            <a:fld id="{8159AABB-09CA-3946-92C7-908A31EE8F1A}" type="slidenum">
              <a:rPr lang="en-US" smtClean="0"/>
              <a:t>79</a:t>
            </a:fld>
            <a:endParaRPr lang="en-US"/>
          </a:p>
        </p:txBody>
      </p:sp>
    </p:spTree>
    <p:extLst>
      <p:ext uri="{BB962C8B-B14F-4D97-AF65-F5344CB8AC3E}">
        <p14:creationId xmlns:p14="http://schemas.microsoft.com/office/powerpoint/2010/main" val="3277011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8BC6-9A81-567A-D2D7-7840B43F5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620FE-273C-BD7A-F186-935BE921A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D740B-1D13-9CD2-E6DB-E275B5F7CB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0B300C6-9BF1-1B68-68E2-AD127C291582}"/>
              </a:ext>
            </a:extLst>
          </p:cNvPr>
          <p:cNvSpPr>
            <a:spLocks noGrp="1"/>
          </p:cNvSpPr>
          <p:nvPr>
            <p:ph type="sldNum" sz="quarter" idx="5"/>
          </p:nvPr>
        </p:nvSpPr>
        <p:spPr/>
        <p:txBody>
          <a:bodyPr/>
          <a:lstStyle/>
          <a:p>
            <a:fld id="{8159AABB-09CA-3946-92C7-908A31EE8F1A}" type="slidenum">
              <a:rPr lang="en-US" smtClean="0"/>
              <a:t>80</a:t>
            </a:fld>
            <a:endParaRPr lang="en-US"/>
          </a:p>
        </p:txBody>
      </p:sp>
    </p:spTree>
    <p:extLst>
      <p:ext uri="{BB962C8B-B14F-4D97-AF65-F5344CB8AC3E}">
        <p14:creationId xmlns:p14="http://schemas.microsoft.com/office/powerpoint/2010/main" val="421147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A849-F5D8-D399-E928-CFB489BB1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8D66-F09A-6D9C-5809-EEC12B90C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00E63-4F0D-5B75-B35F-365CCDCE3C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B57670-AC16-5DA7-9F08-8AAE606CE5BC}"/>
              </a:ext>
            </a:extLst>
          </p:cNvPr>
          <p:cNvSpPr>
            <a:spLocks noGrp="1"/>
          </p:cNvSpPr>
          <p:nvPr>
            <p:ph type="sldNum" sz="quarter" idx="5"/>
          </p:nvPr>
        </p:nvSpPr>
        <p:spPr/>
        <p:txBody>
          <a:bodyPr/>
          <a:lstStyle/>
          <a:p>
            <a:fld id="{8159AABB-09CA-3946-92C7-908A31EE8F1A}" type="slidenum">
              <a:rPr lang="en-US" smtClean="0"/>
              <a:t>81</a:t>
            </a:fld>
            <a:endParaRPr lang="en-US"/>
          </a:p>
        </p:txBody>
      </p:sp>
    </p:spTree>
    <p:extLst>
      <p:ext uri="{BB962C8B-B14F-4D97-AF65-F5344CB8AC3E}">
        <p14:creationId xmlns:p14="http://schemas.microsoft.com/office/powerpoint/2010/main" val="3360642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34A3C-5802-BDAA-4178-EA81B7E94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E8D38-DC00-A118-E2F6-5090AF7F5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5E179-A147-A83F-B8C2-7E1C600134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B3292B-75A3-C026-3E14-985F9F7A5335}"/>
              </a:ext>
            </a:extLst>
          </p:cNvPr>
          <p:cNvSpPr>
            <a:spLocks noGrp="1"/>
          </p:cNvSpPr>
          <p:nvPr>
            <p:ph type="sldNum" sz="quarter" idx="5"/>
          </p:nvPr>
        </p:nvSpPr>
        <p:spPr/>
        <p:txBody>
          <a:bodyPr/>
          <a:lstStyle/>
          <a:p>
            <a:fld id="{8159AABB-09CA-3946-92C7-908A31EE8F1A}" type="slidenum">
              <a:rPr lang="en-US" smtClean="0"/>
              <a:t>82</a:t>
            </a:fld>
            <a:endParaRPr lang="en-US"/>
          </a:p>
        </p:txBody>
      </p:sp>
    </p:spTree>
    <p:extLst>
      <p:ext uri="{BB962C8B-B14F-4D97-AF65-F5344CB8AC3E}">
        <p14:creationId xmlns:p14="http://schemas.microsoft.com/office/powerpoint/2010/main" val="3116963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A849-F5D8-D399-E928-CFB489BB1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8D66-F09A-6D9C-5809-EEC12B90C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00E63-4F0D-5B75-B35F-365CCDCE3C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B57670-AC16-5DA7-9F08-8AAE606CE5BC}"/>
              </a:ext>
            </a:extLst>
          </p:cNvPr>
          <p:cNvSpPr>
            <a:spLocks noGrp="1"/>
          </p:cNvSpPr>
          <p:nvPr>
            <p:ph type="sldNum" sz="quarter" idx="5"/>
          </p:nvPr>
        </p:nvSpPr>
        <p:spPr/>
        <p:txBody>
          <a:bodyPr/>
          <a:lstStyle/>
          <a:p>
            <a:fld id="{8159AABB-09CA-3946-92C7-908A31EE8F1A}" type="slidenum">
              <a:rPr lang="en-US" smtClean="0"/>
              <a:t>83</a:t>
            </a:fld>
            <a:endParaRPr lang="en-US"/>
          </a:p>
        </p:txBody>
      </p:sp>
    </p:spTree>
    <p:extLst>
      <p:ext uri="{BB962C8B-B14F-4D97-AF65-F5344CB8AC3E}">
        <p14:creationId xmlns:p14="http://schemas.microsoft.com/office/powerpoint/2010/main" val="1432128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87</a:t>
            </a:fld>
            <a:endParaRPr lang="en-US"/>
          </a:p>
        </p:txBody>
      </p:sp>
    </p:spTree>
    <p:extLst>
      <p:ext uri="{BB962C8B-B14F-4D97-AF65-F5344CB8AC3E}">
        <p14:creationId xmlns:p14="http://schemas.microsoft.com/office/powerpoint/2010/main" val="2119975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17DF2-E25B-65A3-CD1C-1A027CAB2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015DD-D8B2-42F2-5233-BF61153C0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2EE4C-67C3-DC9B-E070-9C3A522534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C67D06-35E4-33A3-46C3-638F3BCAA258}"/>
              </a:ext>
            </a:extLst>
          </p:cNvPr>
          <p:cNvSpPr>
            <a:spLocks noGrp="1"/>
          </p:cNvSpPr>
          <p:nvPr>
            <p:ph type="sldNum" sz="quarter" idx="5"/>
          </p:nvPr>
        </p:nvSpPr>
        <p:spPr/>
        <p:txBody>
          <a:bodyPr/>
          <a:lstStyle/>
          <a:p>
            <a:fld id="{8159AABB-09CA-3946-92C7-908A31EE8F1A}" type="slidenum">
              <a:rPr lang="en-US" smtClean="0"/>
              <a:t>88</a:t>
            </a:fld>
            <a:endParaRPr lang="en-US"/>
          </a:p>
        </p:txBody>
      </p:sp>
    </p:spTree>
    <p:extLst>
      <p:ext uri="{BB962C8B-B14F-4D97-AF65-F5344CB8AC3E}">
        <p14:creationId xmlns:p14="http://schemas.microsoft.com/office/powerpoint/2010/main" val="135944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80D59-662C-6DB2-E5D9-32C6BBCB2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6D040-FAD7-FBED-7428-C963BA790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08B9A-547A-200E-61E1-12D3C80AE8C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0268EF5-4377-BF7D-D38C-10557B848D05}"/>
              </a:ext>
            </a:extLst>
          </p:cNvPr>
          <p:cNvSpPr>
            <a:spLocks noGrp="1"/>
          </p:cNvSpPr>
          <p:nvPr>
            <p:ph type="sldNum" sz="quarter" idx="5"/>
          </p:nvPr>
        </p:nvSpPr>
        <p:spPr/>
        <p:txBody>
          <a:bodyPr/>
          <a:lstStyle/>
          <a:p>
            <a:fld id="{8159AABB-09CA-3946-92C7-908A31EE8F1A}" type="slidenum">
              <a:rPr lang="en-US" smtClean="0"/>
              <a:t>89</a:t>
            </a:fld>
            <a:endParaRPr lang="en-US"/>
          </a:p>
        </p:txBody>
      </p:sp>
    </p:spTree>
    <p:extLst>
      <p:ext uri="{BB962C8B-B14F-4D97-AF65-F5344CB8AC3E}">
        <p14:creationId xmlns:p14="http://schemas.microsoft.com/office/powerpoint/2010/main" val="1165482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398E-72B3-F1FC-8D5B-92FD62B30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E75-8E61-AB27-8E70-BBE80B064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27F82-35B0-CB2C-6D3F-D8D931E283A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B47CB9-41D6-F0F2-E477-56024DE52F2F}"/>
              </a:ext>
            </a:extLst>
          </p:cNvPr>
          <p:cNvSpPr>
            <a:spLocks noGrp="1"/>
          </p:cNvSpPr>
          <p:nvPr>
            <p:ph type="sldNum" sz="quarter" idx="5"/>
          </p:nvPr>
        </p:nvSpPr>
        <p:spPr/>
        <p:txBody>
          <a:bodyPr/>
          <a:lstStyle/>
          <a:p>
            <a:fld id="{8159AABB-09CA-3946-92C7-908A31EE8F1A}" type="slidenum">
              <a:rPr lang="en-US" smtClean="0"/>
              <a:t>90</a:t>
            </a:fld>
            <a:endParaRPr lang="en-US"/>
          </a:p>
        </p:txBody>
      </p:sp>
    </p:spTree>
    <p:extLst>
      <p:ext uri="{BB962C8B-B14F-4D97-AF65-F5344CB8AC3E}">
        <p14:creationId xmlns:p14="http://schemas.microsoft.com/office/powerpoint/2010/main" val="2024217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A8128-3E52-2C01-4108-13678BC63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F0FB1-FB66-A6C3-D05C-EC0250E5D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86CCE-8DDA-10BC-E57B-D33A793E7AE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5C113E4-7DC0-BC99-E3CD-B701BF5AFE3A}"/>
              </a:ext>
            </a:extLst>
          </p:cNvPr>
          <p:cNvSpPr>
            <a:spLocks noGrp="1"/>
          </p:cNvSpPr>
          <p:nvPr>
            <p:ph type="sldNum" sz="quarter" idx="5"/>
          </p:nvPr>
        </p:nvSpPr>
        <p:spPr/>
        <p:txBody>
          <a:bodyPr/>
          <a:lstStyle/>
          <a:p>
            <a:fld id="{8159AABB-09CA-3946-92C7-908A31EE8F1A}" type="slidenum">
              <a:rPr lang="en-US" smtClean="0"/>
              <a:t>91</a:t>
            </a:fld>
            <a:endParaRPr lang="en-US"/>
          </a:p>
        </p:txBody>
      </p:sp>
    </p:spTree>
    <p:extLst>
      <p:ext uri="{BB962C8B-B14F-4D97-AF65-F5344CB8AC3E}">
        <p14:creationId xmlns:p14="http://schemas.microsoft.com/office/powerpoint/2010/main" val="2562858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1800-3063-7FE0-1859-F5F54138E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C3C0-490E-BC67-E573-CA99039CB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EE464-3F6D-774F-D783-50FE96B3CF49}"/>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acid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acid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acid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eq</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base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cB</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base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cB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base [M]</a:t>
            </a:r>
          </a:p>
          <a:p>
            <a:r>
              <a:rPr lang="en-GB" sz="1200" b="0" i="0" u="none" strike="noStrike" kern="1200" dirty="0">
                <a:solidFill>
                  <a:schemeClr val="tx1"/>
                </a:solidFill>
                <a:effectLst/>
                <a:latin typeface="+mn-lt"/>
                <a:ea typeface="+mn-ea"/>
                <a:cs typeface="+mn-cs"/>
              </a:rPr>
              <a:t>*c = n / 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E81C2200-192C-E8BA-F5D9-678B75C55931}"/>
              </a:ext>
            </a:extLst>
          </p:cNvPr>
          <p:cNvSpPr>
            <a:spLocks noGrp="1"/>
          </p:cNvSpPr>
          <p:nvPr>
            <p:ph type="sldNum" sz="quarter" idx="5"/>
          </p:nvPr>
        </p:nvSpPr>
        <p:spPr/>
        <p:txBody>
          <a:bodyPr/>
          <a:lstStyle/>
          <a:p>
            <a:fld id="{8159AABB-09CA-3946-92C7-908A31EE8F1A}" type="slidenum">
              <a:rPr lang="en-US" smtClean="0"/>
              <a:t>92</a:t>
            </a:fld>
            <a:endParaRPr lang="en-US"/>
          </a:p>
        </p:txBody>
      </p:sp>
    </p:spTree>
    <p:extLst>
      <p:ext uri="{BB962C8B-B14F-4D97-AF65-F5344CB8AC3E}">
        <p14:creationId xmlns:p14="http://schemas.microsoft.com/office/powerpoint/2010/main" val="4209596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DD26-701E-FD74-98C2-D429890DB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86EE6-45D0-ECE6-A0D7-9EC21482C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F0D7F-D18E-F4A9-1B52-1D9BDE8DF351}"/>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acid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acid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amount acid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x</a:t>
            </a:r>
          </a:p>
          <a:p>
            <a:br>
              <a:rPr lang="en-GB" sz="1200" b="0" i="0" u="none" strike="noStrike" kern="1200" dirty="0">
                <a:solidFill>
                  <a:schemeClr val="tx1"/>
                </a:solidFill>
                <a:effectLst/>
                <a:latin typeface="+mn-lt"/>
                <a:ea typeface="+mn-ea"/>
                <a:cs typeface="+mn-cs"/>
              </a:rPr>
            </a:br>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base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base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base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unreacted</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eq</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p>
          <a:p>
            <a:r>
              <a:rPr lang="en-GB" sz="1200" b="0" i="0" u="none" strike="noStrike" kern="1200" dirty="0">
                <a:solidFill>
                  <a:schemeClr val="tx1"/>
                </a:solidFill>
                <a:effectLst/>
                <a:latin typeface="+mn-lt"/>
                <a:ea typeface="+mn-ea"/>
                <a:cs typeface="+mn-cs"/>
              </a:rPr>
              <a:t>H2SO4 + 2 NaOH →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unreacted</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unreacted</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unreacted acid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x</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acid reacting with ephedrine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nE</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eq2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p>
          <a:p>
            <a:r>
              <a:rPr lang="en-GB" sz="1200" b="0" i="0" u="none" strike="noStrike" kern="1200" dirty="0">
                <a:solidFill>
                  <a:schemeClr val="tx1"/>
                </a:solidFill>
                <a:effectLst/>
                <a:latin typeface="+mn-lt"/>
                <a:ea typeface="+mn-ea"/>
                <a:cs typeface="+mn-cs"/>
              </a:rPr>
              <a:t>H2SO4 + 2 Eph →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a:t>
            </a:r>
            <a:r>
              <a:rPr lang="en-GB" sz="1200" b="0" i="0" u="none" strike="noStrike" kern="1200" dirty="0" err="1">
                <a:solidFill>
                  <a:schemeClr val="tx1"/>
                </a:solidFill>
                <a:effectLst/>
                <a:latin typeface="+mn-lt"/>
                <a:ea typeface="+mn-ea"/>
                <a:cs typeface="+mn-cs"/>
              </a:rPr>
              <a:t>nE</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nE</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ephedrine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C458624-E8EA-B275-CB12-E894D37E83A3}"/>
              </a:ext>
            </a:extLst>
          </p:cNvPr>
          <p:cNvSpPr>
            <a:spLocks noGrp="1"/>
          </p:cNvSpPr>
          <p:nvPr>
            <p:ph type="sldNum" sz="quarter" idx="5"/>
          </p:nvPr>
        </p:nvSpPr>
        <p:spPr/>
        <p:txBody>
          <a:bodyPr/>
          <a:lstStyle/>
          <a:p>
            <a:fld id="{8159AABB-09CA-3946-92C7-908A31EE8F1A}" type="slidenum">
              <a:rPr lang="en-US" smtClean="0"/>
              <a:t>93</a:t>
            </a:fld>
            <a:endParaRPr lang="en-US"/>
          </a:p>
        </p:txBody>
      </p:sp>
    </p:spTree>
    <p:extLst>
      <p:ext uri="{BB962C8B-B14F-4D97-AF65-F5344CB8AC3E}">
        <p14:creationId xmlns:p14="http://schemas.microsoft.com/office/powerpoint/2010/main" val="1279222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6161-426A-EB24-7219-6AF3C8D19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46470-AB0E-4B76-F710-D203B25EF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269A3-DFC3-2BE4-3533-67E5213FD3E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B04330F-CA37-6D57-4835-3541E354B38F}"/>
              </a:ext>
            </a:extLst>
          </p:cNvPr>
          <p:cNvSpPr>
            <a:spLocks noGrp="1"/>
          </p:cNvSpPr>
          <p:nvPr>
            <p:ph type="sldNum" sz="quarter" idx="5"/>
          </p:nvPr>
        </p:nvSpPr>
        <p:spPr/>
        <p:txBody>
          <a:bodyPr/>
          <a:lstStyle/>
          <a:p>
            <a:fld id="{8159AABB-09CA-3946-92C7-908A31EE8F1A}" type="slidenum">
              <a:rPr lang="en-US" smtClean="0"/>
              <a:t>94</a:t>
            </a:fld>
            <a:endParaRPr lang="en-US"/>
          </a:p>
        </p:txBody>
      </p:sp>
    </p:spTree>
    <p:extLst>
      <p:ext uri="{BB962C8B-B14F-4D97-AF65-F5344CB8AC3E}">
        <p14:creationId xmlns:p14="http://schemas.microsoft.com/office/powerpoint/2010/main" val="3211161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of NaOH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cf</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0.1 M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qc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"Quoted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"Actual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rc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our concentration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ms</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salicylic acid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sample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Salicyclic</a:t>
            </a:r>
            <a:r>
              <a:rPr lang="en-GB" sz="1200" b="0" i="0" u="none" strike="noStrike" kern="1200" dirty="0">
                <a:solidFill>
                  <a:schemeClr val="tx1"/>
                </a:solidFill>
                <a:effectLst/>
                <a:latin typeface="+mn-lt"/>
                <a:ea typeface="+mn-ea"/>
                <a:cs typeface="+mn-cs"/>
              </a:rPr>
              <a:t> acid content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110</a:t>
            </a:fld>
            <a:endParaRPr lang="en-US"/>
          </a:p>
        </p:txBody>
      </p:sp>
    </p:spTree>
    <p:extLst>
      <p:ext uri="{BB962C8B-B14F-4D97-AF65-F5344CB8AC3E}">
        <p14:creationId xmlns:p14="http://schemas.microsoft.com/office/powerpoint/2010/main" val="3476121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wet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wet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"Wet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mfluor</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fluorescein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lod</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"Loss on drying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change</a:t>
            </a:r>
          </a:p>
          <a:p>
            <a:r>
              <a:rPr lang="en-GB" sz="1200" b="0" i="0" u="none" strike="noStrike" kern="1200" dirty="0">
                <a:solidFill>
                  <a:schemeClr val="tx1"/>
                </a:solidFill>
                <a:effectLst/>
                <a:latin typeface="+mn-lt"/>
                <a:ea typeface="+mn-ea"/>
                <a:cs typeface="+mn-cs"/>
              </a:rPr>
              <a:t>wet --&gt; change</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"Change in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dry</a:t>
            </a:r>
          </a:p>
          <a:p>
            <a:r>
              <a:rPr lang="en-GB" sz="1200" b="0" i="0" u="none" strike="noStrike" kern="1200" dirty="0">
                <a:solidFill>
                  <a:schemeClr val="tx1"/>
                </a:solidFill>
                <a:effectLst/>
                <a:latin typeface="+mn-lt"/>
                <a:ea typeface="+mn-ea"/>
                <a:cs typeface="+mn-cs"/>
              </a:rPr>
              <a:t>dry</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"Dry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dried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115</a:t>
            </a:fld>
            <a:endParaRPr lang="en-US"/>
          </a:p>
        </p:txBody>
      </p:sp>
    </p:spTree>
    <p:extLst>
      <p:ext uri="{BB962C8B-B14F-4D97-AF65-F5344CB8AC3E}">
        <p14:creationId xmlns:p14="http://schemas.microsoft.com/office/powerpoint/2010/main" val="3504516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Table with 1 line 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14763EF-7D37-173D-C426-E02F3191D1D0}"/>
              </a:ext>
            </a:extLst>
          </p:cNvPr>
          <p:cNvSpPr>
            <a:spLocks noGrp="1"/>
          </p:cNvSpPr>
          <p:nvPr>
            <p:ph type="title"/>
          </p:nvPr>
        </p:nvSpPr>
        <p:spPr>
          <a:xfrm>
            <a:off x="334963" y="657225"/>
            <a:ext cx="10082212" cy="728663"/>
          </a:xfrm>
          <a:prstGeom prst="rect">
            <a:avLst/>
          </a:prstGeom>
        </p:spPr>
        <p:txBody>
          <a:bodyPr anchor="t" anchorCtr="0">
            <a:noAutofit/>
          </a:bodyPr>
          <a:lstStyle/>
          <a:p>
            <a:r>
              <a:rPr lang="en-GB"/>
              <a:t>Click to edit Master title style</a:t>
            </a:r>
            <a:endParaRPr lang="en-US"/>
          </a:p>
        </p:txBody>
      </p:sp>
      <p:sp>
        <p:nvSpPr>
          <p:cNvPr id="4" name="Table Placeholder 3">
            <a:extLst>
              <a:ext uri="{FF2B5EF4-FFF2-40B4-BE49-F238E27FC236}">
                <a16:creationId xmlns:a16="http://schemas.microsoft.com/office/drawing/2014/main" id="{C8C6FDD5-50BF-C571-F98C-CCE13E0D8D38}"/>
              </a:ext>
            </a:extLst>
          </p:cNvPr>
          <p:cNvSpPr>
            <a:spLocks noGrp="1"/>
          </p:cNvSpPr>
          <p:nvPr>
            <p:ph type="tbl" sz="quarter" idx="10" hasCustomPrompt="1"/>
          </p:nvPr>
        </p:nvSpPr>
        <p:spPr>
          <a:xfrm>
            <a:off x="334963" y="1385888"/>
            <a:ext cx="11522075" cy="5103812"/>
          </a:xfrm>
        </p:spPr>
        <p:txBody>
          <a:bodyPr/>
          <a:lstStyle>
            <a:lvl1pPr marL="0" indent="0">
              <a:lnSpc>
                <a:spcPct val="150000"/>
              </a:lnSpc>
              <a:spcBef>
                <a:spcPts val="0"/>
              </a:spcBef>
              <a:spcAft>
                <a:spcPts val="0"/>
              </a:spcAft>
              <a:buFontTx/>
              <a:buNone/>
              <a:defRPr/>
            </a:lvl1pPr>
          </a:lstStyle>
          <a:p>
            <a:r>
              <a:rPr lang="en-US" dirty="0"/>
              <a:t>Insert table</a:t>
            </a:r>
          </a:p>
        </p:txBody>
      </p:sp>
    </p:spTree>
    <p:extLst>
      <p:ext uri="{BB962C8B-B14F-4D97-AF65-F5344CB8AC3E}">
        <p14:creationId xmlns:p14="http://schemas.microsoft.com/office/powerpoint/2010/main" val="270437617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25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 1 column text block with sub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7211370-1E99-8161-DB79-2B86F1DF486C}"/>
              </a:ext>
            </a:extLst>
          </p:cNvPr>
          <p:cNvSpPr>
            <a:spLocks noGrp="1"/>
          </p:cNvSpPr>
          <p:nvPr>
            <p:ph type="title"/>
          </p:nvPr>
        </p:nvSpPr>
        <p:spPr>
          <a:xfrm>
            <a:off x="334963" y="657225"/>
            <a:ext cx="10174541" cy="757047"/>
          </a:xfrm>
          <a:prstGeom prst="rect">
            <a:avLst/>
          </a:prstGeom>
        </p:spPr>
        <p:txBody>
          <a:bodyPr anchor="t" anchorCtr="0">
            <a:noAutofit/>
          </a:bodyPr>
          <a:lstStyle/>
          <a:p>
            <a:r>
              <a:rPr lang="en-GB"/>
              <a:t>Click to edit Master title style</a:t>
            </a:r>
            <a:endParaRPr lang="en-US"/>
          </a:p>
        </p:txBody>
      </p:sp>
      <p:sp>
        <p:nvSpPr>
          <p:cNvPr id="4" name="Content Placeholder">
            <a:extLst>
              <a:ext uri="{FF2B5EF4-FFF2-40B4-BE49-F238E27FC236}">
                <a16:creationId xmlns:a16="http://schemas.microsoft.com/office/drawing/2014/main" id="{F935D9BA-7793-6761-1BA4-70A2A2C3367D}"/>
              </a:ext>
            </a:extLst>
          </p:cNvPr>
          <p:cNvSpPr>
            <a:spLocks noGrp="1"/>
          </p:cNvSpPr>
          <p:nvPr>
            <p:ph sz="half" idx="2"/>
          </p:nvPr>
        </p:nvSpPr>
        <p:spPr>
          <a:xfrm>
            <a:off x="334963" y="1414272"/>
            <a:ext cx="11522073" cy="507542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343357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593">
          <p15:clr>
            <a:srgbClr val="FBAE40"/>
          </p15:clr>
        </p15:guide>
        <p15:guide id="2" orient="horz" pos="41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ontent - Blank logo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798671"/>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2 line 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4" y="1051817"/>
            <a:ext cx="11522073" cy="936625"/>
          </a:xfrm>
          <a:prstGeom prst="rect">
            <a:avLst/>
          </a:prstGeom>
        </p:spPr>
        <p:txBody>
          <a:bodyPr anchor="t" anchorCtr="0">
            <a:noAutofit/>
          </a:bodyPr>
          <a:lstStyle>
            <a:lvl1pPr algn="l">
              <a:lnSpc>
                <a:spcPts val="4000"/>
              </a:lnSpc>
              <a:defRPr sz="3600"/>
            </a:lvl1pPr>
          </a:lstStyle>
          <a:p>
            <a:r>
              <a:rPr lang="en-GB"/>
              <a:t>Click to edit Master 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215716649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39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line heading with sub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5" y="620713"/>
            <a:ext cx="8569324" cy="936625"/>
          </a:xfrm>
          <a:prstGeom prst="rect">
            <a:avLst/>
          </a:prstGeom>
        </p:spPr>
        <p:txBody>
          <a:bodyPr anchor="b" anchorCtr="0">
            <a:noAutofit/>
          </a:bodyPr>
          <a:lstStyle>
            <a:lvl1pPr algn="l">
              <a:lnSpc>
                <a:spcPts val="4000"/>
              </a:lnSpc>
              <a:defRPr sz="3600"/>
            </a:lvl1pPr>
          </a:lstStyle>
          <a:p>
            <a:r>
              <a:rPr lang="en-GB"/>
              <a:t>Click to edit Master title style</a:t>
            </a:r>
            <a:endParaRPr lang="en-US"/>
          </a:p>
        </p:txBody>
      </p:sp>
      <p:sp>
        <p:nvSpPr>
          <p:cNvPr id="12" name="Subtitle">
            <a:extLst>
              <a:ext uri="{FF2B5EF4-FFF2-40B4-BE49-F238E27FC236}">
                <a16:creationId xmlns:a16="http://schemas.microsoft.com/office/drawing/2014/main" id="{9B2B995B-DEF8-013B-3199-AE984F4AD129}"/>
              </a:ext>
            </a:extLst>
          </p:cNvPr>
          <p:cNvSpPr>
            <a:spLocks noGrp="1"/>
          </p:cNvSpPr>
          <p:nvPr>
            <p:ph type="subTitle" idx="1"/>
          </p:nvPr>
        </p:nvSpPr>
        <p:spPr>
          <a:xfrm>
            <a:off x="334963" y="1808163"/>
            <a:ext cx="11522074" cy="433387"/>
          </a:xfrm>
        </p:spPr>
        <p:txBody>
          <a:bodyPr anchor="b"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55854285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39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3 line 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5" y="333375"/>
            <a:ext cx="8569324" cy="1474788"/>
          </a:xfrm>
          <a:prstGeom prst="rect">
            <a:avLst/>
          </a:prstGeom>
        </p:spPr>
        <p:txBody>
          <a:bodyPr anchor="t" anchorCtr="0">
            <a:noAutofit/>
          </a:bodyPr>
          <a:lstStyle>
            <a:lvl1pPr algn="l">
              <a:lnSpc>
                <a:spcPts val="4000"/>
              </a:lnSpc>
              <a:defRPr sz="3600"/>
            </a:lvl1pPr>
          </a:lstStyle>
          <a:p>
            <a:r>
              <a:rPr lang="en-GB"/>
              <a:t>Click to edit Master 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168525"/>
            <a:ext cx="1219200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605972332"/>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21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1 line heading with sub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FC0AD74-C15A-D552-5F46-8E8DB0738188}"/>
              </a:ext>
            </a:extLst>
          </p:cNvPr>
          <p:cNvSpPr>
            <a:spLocks noGrp="1"/>
          </p:cNvSpPr>
          <p:nvPr>
            <p:ph type="ctrTitle"/>
          </p:nvPr>
        </p:nvSpPr>
        <p:spPr>
          <a:xfrm>
            <a:off x="334964" y="1339850"/>
            <a:ext cx="11522073" cy="936625"/>
          </a:xfrm>
          <a:prstGeom prst="rect">
            <a:avLst/>
          </a:prstGeom>
        </p:spPr>
        <p:txBody>
          <a:bodyPr anchor="b" anchorCtr="0">
            <a:noAutofit/>
          </a:bodyPr>
          <a:lstStyle>
            <a:lvl1pPr algn="l">
              <a:lnSpc>
                <a:spcPts val="4000"/>
              </a:lnSpc>
              <a:defRPr sz="3600"/>
            </a:lvl1pPr>
          </a:lstStyle>
          <a:p>
            <a:r>
              <a:rPr lang="en-GB"/>
              <a:t>Click to edit Master title style</a:t>
            </a:r>
            <a:endParaRPr lang="en-US"/>
          </a:p>
        </p:txBody>
      </p:sp>
      <p:sp>
        <p:nvSpPr>
          <p:cNvPr id="3" name="Subtitle">
            <a:extLst>
              <a:ext uri="{FF2B5EF4-FFF2-40B4-BE49-F238E27FC236}">
                <a16:creationId xmlns:a16="http://schemas.microsoft.com/office/drawing/2014/main" id="{521BC464-310B-87ED-232E-CEE156B33202}"/>
              </a:ext>
            </a:extLst>
          </p:cNvPr>
          <p:cNvSpPr>
            <a:spLocks noGrp="1"/>
          </p:cNvSpPr>
          <p:nvPr>
            <p:ph type="subTitle" idx="1"/>
          </p:nvPr>
        </p:nvSpPr>
        <p:spPr>
          <a:xfrm>
            <a:off x="334963" y="1087436"/>
            <a:ext cx="10082212" cy="433387"/>
          </a:xfrm>
        </p:spPr>
        <p:txBody>
          <a:bodyPr anchor="b"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a:extLst>
              <a:ext uri="{FF2B5EF4-FFF2-40B4-BE49-F238E27FC236}">
                <a16:creationId xmlns:a16="http://schemas.microsoft.com/office/drawing/2014/main" id="{03228F18-FACD-6E7A-43B3-6B6897DA7EBC}"/>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27658026"/>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p15:clr>
            <a:srgbClr val="FBAE40"/>
          </p15:clr>
        </p15:guide>
        <p15:guide id="4" pos="3840">
          <p15:clr>
            <a:srgbClr val="FBAE40"/>
          </p15:clr>
        </p15:guide>
        <p15:guide id="5" orient="horz" pos="913">
          <p15:clr>
            <a:srgbClr val="FBAE40"/>
          </p15:clr>
        </p15:guide>
        <p15:guide id="6" orient="horz" pos="39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Divider - 5 line 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334963" y="2168525"/>
            <a:ext cx="10082212" cy="2555874"/>
          </a:xfrm>
          <a:prstGeom prst="rect">
            <a:avLst/>
          </a:prstGeom>
        </p:spPr>
        <p:txBody>
          <a:bodyPr anchor="ctr" anchorCtr="0">
            <a:noAutofit/>
          </a:bodyPr>
          <a:lstStyle>
            <a:lvl1pPr>
              <a:lnSpc>
                <a:spcPts val="4000"/>
              </a:lnSpc>
              <a:defRPr/>
            </a:lvl1pPr>
          </a:lstStyle>
          <a:p>
            <a:r>
              <a:rPr lang="en-GB"/>
              <a:t>Click to edit Master title style</a:t>
            </a:r>
            <a:endParaRPr lang="en-US"/>
          </a:p>
        </p:txBody>
      </p:sp>
    </p:spTree>
    <p:extLst>
      <p:ext uri="{BB962C8B-B14F-4D97-AF65-F5344CB8AC3E}">
        <p14:creationId xmlns:p14="http://schemas.microsoft.com/office/powerpoint/2010/main" val="134883746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ivider - 2 line heading with sub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334963" y="1808163"/>
            <a:ext cx="10082212" cy="1368424"/>
          </a:xfrm>
          <a:prstGeom prst="rect">
            <a:avLst/>
          </a:prstGeom>
        </p:spPr>
        <p:txBody>
          <a:bodyPr anchor="b" anchorCtr="0">
            <a:noAutofit/>
          </a:bodyPr>
          <a:lstStyle>
            <a:lvl1pPr>
              <a:lnSpc>
                <a:spcPts val="4000"/>
              </a:lnSpc>
              <a:defRPr/>
            </a:lvl1pPr>
          </a:lstStyle>
          <a:p>
            <a:r>
              <a:rPr lang="en-GB"/>
              <a:t>Click to edit Master title style</a:t>
            </a:r>
            <a:endParaRPr lang="en-US"/>
          </a:p>
        </p:txBody>
      </p:sp>
      <p:sp>
        <p:nvSpPr>
          <p:cNvPr id="5" name="Subtitle">
            <a:extLst>
              <a:ext uri="{FF2B5EF4-FFF2-40B4-BE49-F238E27FC236}">
                <a16:creationId xmlns:a16="http://schemas.microsoft.com/office/drawing/2014/main" id="{F8EFF3E7-4A9D-3BE1-EB38-6D9285B1F261}"/>
              </a:ext>
            </a:extLst>
          </p:cNvPr>
          <p:cNvSpPr>
            <a:spLocks noGrp="1"/>
          </p:cNvSpPr>
          <p:nvPr>
            <p:ph type="subTitle" idx="10"/>
          </p:nvPr>
        </p:nvSpPr>
        <p:spPr>
          <a:xfrm>
            <a:off x="334963" y="3429000"/>
            <a:ext cx="10082212" cy="621167"/>
          </a:xfrm>
        </p:spPr>
        <p:txBody>
          <a:bodyPr anchor="t"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48908341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5 line 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6240462" y="2168525"/>
            <a:ext cx="5616575" cy="2555874"/>
          </a:xfrm>
          <a:prstGeom prst="rect">
            <a:avLst/>
          </a:prstGeom>
        </p:spPr>
        <p:txBody>
          <a:bodyPr anchor="ctr" anchorCtr="0">
            <a:noAutofit/>
          </a:bodyPr>
          <a:lstStyle>
            <a:lvl1pPr>
              <a:lnSpc>
                <a:spcPts val="4000"/>
              </a:lnSpc>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B62197F3-A6FB-C4AC-19FC-8106C68E4911}"/>
              </a:ext>
            </a:extLst>
          </p:cNvPr>
          <p:cNvSpPr>
            <a:spLocks noGrp="1"/>
          </p:cNvSpPr>
          <p:nvPr>
            <p:ph type="pic" sz="quarter" idx="10"/>
          </p:nvPr>
        </p:nvSpPr>
        <p:spPr>
          <a:xfrm>
            <a:off x="-1" y="0"/>
            <a:ext cx="5951539" cy="6858000"/>
          </a:xfrm>
        </p:spPr>
        <p:txBody>
          <a:bodyPr/>
          <a:lstStyle>
            <a:lvl1pPr marL="0" indent="0">
              <a:buNone/>
              <a:defRPr sz="3200"/>
            </a:lvl1pPr>
          </a:lstStyle>
          <a:p>
            <a:r>
              <a:rPr lang="en-GB"/>
              <a:t>Click icon to add picture</a:t>
            </a:r>
            <a:endParaRPr lang="en-US"/>
          </a:p>
        </p:txBody>
      </p:sp>
    </p:spTree>
    <p:extLst>
      <p:ext uri="{BB962C8B-B14F-4D97-AF65-F5344CB8AC3E}">
        <p14:creationId xmlns:p14="http://schemas.microsoft.com/office/powerpoint/2010/main" val="231147810"/>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 2 line heading with sub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6240463" y="1808163"/>
            <a:ext cx="5616574" cy="1368424"/>
          </a:xfrm>
          <a:prstGeom prst="rect">
            <a:avLst/>
          </a:prstGeom>
        </p:spPr>
        <p:txBody>
          <a:bodyPr anchor="b" anchorCtr="0">
            <a:noAutofit/>
          </a:bodyPr>
          <a:lstStyle>
            <a:lvl1pPr>
              <a:lnSpc>
                <a:spcPts val="4000"/>
              </a:lnSpc>
              <a:defRPr/>
            </a:lvl1pPr>
          </a:lstStyle>
          <a:p>
            <a:r>
              <a:rPr lang="en-GB"/>
              <a:t>Click to edit Master title style</a:t>
            </a:r>
            <a:endParaRPr lang="en-US"/>
          </a:p>
        </p:txBody>
      </p:sp>
      <p:sp>
        <p:nvSpPr>
          <p:cNvPr id="5" name="Subtitle">
            <a:extLst>
              <a:ext uri="{FF2B5EF4-FFF2-40B4-BE49-F238E27FC236}">
                <a16:creationId xmlns:a16="http://schemas.microsoft.com/office/drawing/2014/main" id="{F8EFF3E7-4A9D-3BE1-EB38-6D9285B1F261}"/>
              </a:ext>
            </a:extLst>
          </p:cNvPr>
          <p:cNvSpPr>
            <a:spLocks noGrp="1"/>
          </p:cNvSpPr>
          <p:nvPr>
            <p:ph type="subTitle" idx="10"/>
          </p:nvPr>
        </p:nvSpPr>
        <p:spPr>
          <a:xfrm>
            <a:off x="6240462" y="3429000"/>
            <a:ext cx="5616575" cy="621167"/>
          </a:xfrm>
        </p:spPr>
        <p:txBody>
          <a:bodyPr anchor="t"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Picture Placeholder 3">
            <a:extLst>
              <a:ext uri="{FF2B5EF4-FFF2-40B4-BE49-F238E27FC236}">
                <a16:creationId xmlns:a16="http://schemas.microsoft.com/office/drawing/2014/main" id="{09E8782B-5FEC-1BC9-2FDE-B1CE72DCDFB4}"/>
              </a:ext>
            </a:extLst>
          </p:cNvPr>
          <p:cNvSpPr>
            <a:spLocks noGrp="1"/>
          </p:cNvSpPr>
          <p:nvPr>
            <p:ph type="pic" sz="quarter" idx="11"/>
          </p:nvPr>
        </p:nvSpPr>
        <p:spPr>
          <a:xfrm>
            <a:off x="0" y="0"/>
            <a:ext cx="5951538" cy="6858000"/>
          </a:xfrm>
        </p:spPr>
        <p:txBody>
          <a:bodyPr/>
          <a:lstStyle>
            <a:lvl1pPr marL="0" indent="0">
              <a:buFontTx/>
              <a:buNone/>
              <a:defRPr sz="3200"/>
            </a:lvl1pPr>
          </a:lstStyle>
          <a:p>
            <a:pPr marL="0" marR="0" lvl="0" indent="0" algn="l" defTabSz="914400" rtl="0" eaLnBrk="1" fontAlgn="auto" latinLnBrk="0" hangingPunct="1">
              <a:lnSpc>
                <a:spcPts val="2400"/>
              </a:lnSpc>
              <a:spcBef>
                <a:spcPts val="400"/>
              </a:spcBef>
              <a:spcAft>
                <a:spcPts val="800"/>
              </a:spcAft>
              <a:buClr>
                <a:schemeClr val="tx2"/>
              </a:buClr>
              <a:buSzPct val="120000"/>
              <a:buFontTx/>
              <a:buNone/>
              <a:tabLst/>
              <a:defRPr/>
            </a:pPr>
            <a:r>
              <a:rPr lang="en-GB"/>
              <a:t>Click icon to add picture</a:t>
            </a:r>
            <a:endParaRPr lang="en-US"/>
          </a:p>
        </p:txBody>
      </p:sp>
    </p:spTree>
    <p:extLst>
      <p:ext uri="{BB962C8B-B14F-4D97-AF65-F5344CB8AC3E}">
        <p14:creationId xmlns:p14="http://schemas.microsoft.com/office/powerpoint/2010/main" val="1413909297"/>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1 column text block">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14763EF-7D37-173D-C426-E02F3191D1D0}"/>
              </a:ext>
            </a:extLst>
          </p:cNvPr>
          <p:cNvSpPr>
            <a:spLocks noGrp="1"/>
          </p:cNvSpPr>
          <p:nvPr>
            <p:ph type="title"/>
          </p:nvPr>
        </p:nvSpPr>
        <p:spPr>
          <a:xfrm>
            <a:off x="334963" y="620712"/>
            <a:ext cx="8569325" cy="1309687"/>
          </a:xfrm>
          <a:prstGeom prst="rect">
            <a:avLst/>
          </a:prstGeom>
        </p:spPr>
        <p:txBody>
          <a:bodyPr anchor="b" anchorCtr="0">
            <a:noAutofit/>
          </a:bodyPr>
          <a:lstStyle/>
          <a:p>
            <a:r>
              <a:rPr lang="en-GB"/>
              <a:t>Click to edit Master title style</a:t>
            </a:r>
            <a:endParaRPr lang="en-US"/>
          </a:p>
        </p:txBody>
      </p:sp>
      <p:sp>
        <p:nvSpPr>
          <p:cNvPr id="3" name="Content Placeholder">
            <a:extLst>
              <a:ext uri="{FF2B5EF4-FFF2-40B4-BE49-F238E27FC236}">
                <a16:creationId xmlns:a16="http://schemas.microsoft.com/office/drawing/2014/main" id="{4DF7C209-22A4-AA9A-CF62-77EB4EE0B36E}"/>
              </a:ext>
            </a:extLst>
          </p:cNvPr>
          <p:cNvSpPr>
            <a:spLocks noGrp="1"/>
          </p:cNvSpPr>
          <p:nvPr>
            <p:ph idx="1"/>
          </p:nvPr>
        </p:nvSpPr>
        <p:spPr>
          <a:xfrm>
            <a:off x="334963" y="2168524"/>
            <a:ext cx="8569325" cy="4321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0311934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grpSp>
        <p:nvGrpSpPr>
          <p:cNvPr id="2" name="UCL logo">
            <a:extLst>
              <a:ext uri="{FF2B5EF4-FFF2-40B4-BE49-F238E27FC236}">
                <a16:creationId xmlns:a16="http://schemas.microsoft.com/office/drawing/2014/main" id="{3C47E006-8388-F17F-B297-962DCBD05485}"/>
              </a:ext>
              <a:ext uri="{C183D7F6-B498-43B3-948B-1728B52AA6E4}">
                <adec:decorative xmlns:adec="http://schemas.microsoft.com/office/drawing/2017/decorative" val="1"/>
              </a:ext>
            </a:extLst>
          </p:cNvPr>
          <p:cNvGrpSpPr/>
          <p:nvPr userDrawn="1"/>
        </p:nvGrpSpPr>
        <p:grpSpPr>
          <a:xfrm>
            <a:off x="10639582" y="368300"/>
            <a:ext cx="1217456" cy="360000"/>
            <a:chOff x="10639582" y="368300"/>
            <a:chExt cx="1217456" cy="360000"/>
          </a:xfrm>
        </p:grpSpPr>
        <p:pic>
          <p:nvPicPr>
            <p:cNvPr id="17" name="Picture 16">
              <a:extLst>
                <a:ext uri="{FF2B5EF4-FFF2-40B4-BE49-F238E27FC236}">
                  <a16:creationId xmlns:a16="http://schemas.microsoft.com/office/drawing/2014/main" id="{8917FD2A-867D-23BE-1947-A6ACDFBD1375}"/>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10639582" y="368300"/>
              <a:ext cx="1217455" cy="360000"/>
            </a:xfrm>
            <a:prstGeom prst="rect">
              <a:avLst/>
            </a:prstGeom>
          </p:spPr>
        </p:pic>
        <p:pic>
          <p:nvPicPr>
            <p:cNvPr id="18" name="Picture 17">
              <a:extLst>
                <a:ext uri="{FF2B5EF4-FFF2-40B4-BE49-F238E27FC236}">
                  <a16:creationId xmlns:a16="http://schemas.microsoft.com/office/drawing/2014/main" id="{2105EA9A-2D49-AC77-1743-E08C5BB86153}"/>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10639583" y="368300"/>
              <a:ext cx="1217455" cy="360000"/>
            </a:xfrm>
            <a:prstGeom prst="rect">
              <a:avLst/>
            </a:prstGeom>
          </p:spPr>
        </p:pic>
      </p:grpSp>
      <p:sp>
        <p:nvSpPr>
          <p:cNvPr id="19" name="Title Placeholder">
            <a:extLst>
              <a:ext uri="{FF2B5EF4-FFF2-40B4-BE49-F238E27FC236}">
                <a16:creationId xmlns:a16="http://schemas.microsoft.com/office/drawing/2014/main" id="{B6F3C59E-C6F9-D65B-EFEB-6F353BCA27C8}"/>
              </a:ext>
            </a:extLst>
          </p:cNvPr>
          <p:cNvSpPr>
            <a:spLocks noGrp="1"/>
          </p:cNvSpPr>
          <p:nvPr userDrawn="1">
            <p:ph type="title"/>
          </p:nvPr>
        </p:nvSpPr>
        <p:spPr>
          <a:xfrm>
            <a:off x="334963" y="620713"/>
            <a:ext cx="10082213" cy="1187450"/>
          </a:xfrm>
          <a:prstGeom prst="rect">
            <a:avLst/>
          </a:prstGeom>
        </p:spPr>
        <p:txBody>
          <a:bodyPr vert="horz" lIns="0" tIns="0" rIns="0" bIns="0" rtlCol="0" anchor="t" anchorCtr="0">
            <a:noAutofit/>
          </a:bodyPr>
          <a:lstStyle/>
          <a:p>
            <a:r>
              <a:rPr lang="en-GB"/>
              <a:t>Click to edit Master title style</a:t>
            </a:r>
            <a:endParaRPr lang="en-US"/>
          </a:p>
        </p:txBody>
      </p:sp>
      <p:sp>
        <p:nvSpPr>
          <p:cNvPr id="13" name="Content Placeholder">
            <a:extLst>
              <a:ext uri="{FF2B5EF4-FFF2-40B4-BE49-F238E27FC236}">
                <a16:creationId xmlns:a16="http://schemas.microsoft.com/office/drawing/2014/main" id="{B7155DF5-BC25-EA32-D065-A9303BA1C3D0}"/>
              </a:ext>
            </a:extLst>
          </p:cNvPr>
          <p:cNvSpPr>
            <a:spLocks noGrp="1"/>
          </p:cNvSpPr>
          <p:nvPr>
            <p:ph type="body" idx="1"/>
          </p:nvPr>
        </p:nvSpPr>
        <p:spPr>
          <a:xfrm>
            <a:off x="334963" y="2168525"/>
            <a:ext cx="11522074" cy="3960812"/>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Date Placeholder">
            <a:extLst>
              <a:ext uri="{FF2B5EF4-FFF2-40B4-BE49-F238E27FC236}">
                <a16:creationId xmlns:a16="http://schemas.microsoft.com/office/drawing/2014/main" id="{B0AE195F-3926-B2DD-F9A1-E44FA0305893}"/>
              </a:ext>
            </a:extLst>
          </p:cNvPr>
          <p:cNvSpPr>
            <a:spLocks noGrp="1"/>
          </p:cNvSpPr>
          <p:nvPr>
            <p:ph type="dt" sz="half" idx="2"/>
          </p:nvPr>
        </p:nvSpPr>
        <p:spPr>
          <a:xfrm>
            <a:off x="334963" y="6130925"/>
            <a:ext cx="2665412" cy="365125"/>
          </a:xfrm>
          <a:prstGeom prst="rect">
            <a:avLst/>
          </a:prstGeom>
        </p:spPr>
        <p:txBody>
          <a:bodyPr vert="horz" lIns="0" tIns="0" rIns="0" bIns="0" rtlCol="0" anchor="b" anchorCtr="0"/>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DF51766-BC8A-A342-BBD6-9E393E1F0B77}" type="datetimeFigureOut">
              <a:rPr lang="en-US" smtClean="0"/>
              <a:pPr/>
              <a:t>10/8/26</a:t>
            </a:fld>
            <a:endParaRPr lang="en-US"/>
          </a:p>
        </p:txBody>
      </p:sp>
      <p:sp>
        <p:nvSpPr>
          <p:cNvPr id="15" name="Slide Number Placeholder">
            <a:extLst>
              <a:ext uri="{FF2B5EF4-FFF2-40B4-BE49-F238E27FC236}">
                <a16:creationId xmlns:a16="http://schemas.microsoft.com/office/drawing/2014/main" id="{49B26A44-4973-4D9C-D6C6-458A42FD62A8}"/>
              </a:ext>
            </a:extLst>
          </p:cNvPr>
          <p:cNvSpPr>
            <a:spLocks noGrp="1"/>
          </p:cNvSpPr>
          <p:nvPr>
            <p:ph type="sldNum" sz="quarter" idx="4"/>
          </p:nvPr>
        </p:nvSpPr>
        <p:spPr>
          <a:xfrm>
            <a:off x="3287712" y="6129339"/>
            <a:ext cx="2663825" cy="366712"/>
          </a:xfrm>
          <a:prstGeom prst="rect">
            <a:avLst/>
          </a:prstGeom>
        </p:spPr>
        <p:txBody>
          <a:bodyPr vert="horz" lIns="0" tIns="0" rIns="0" bIns="0" rtlCol="0" anchor="b" anchorCtr="0"/>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7A06BAB5-F73F-C14E-A646-5D141EEE45DD}" type="slidenum">
              <a:rPr lang="en-US" smtClean="0"/>
              <a:pPr/>
              <a:t>‹#›</a:t>
            </a:fld>
            <a:endParaRPr lang="en-US"/>
          </a:p>
        </p:txBody>
      </p:sp>
      <p:sp>
        <p:nvSpPr>
          <p:cNvPr id="20" name="Footer Placeholder">
            <a:extLst>
              <a:ext uri="{FF2B5EF4-FFF2-40B4-BE49-F238E27FC236}">
                <a16:creationId xmlns:a16="http://schemas.microsoft.com/office/drawing/2014/main" id="{008AFCD7-DE5B-8EF6-5F99-0F9545902D35}"/>
              </a:ext>
            </a:extLst>
          </p:cNvPr>
          <p:cNvSpPr>
            <a:spLocks noGrp="1"/>
          </p:cNvSpPr>
          <p:nvPr userDrawn="1">
            <p:ph type="ftr" sz="quarter" idx="3"/>
          </p:nvPr>
        </p:nvSpPr>
        <p:spPr>
          <a:xfrm>
            <a:off x="6240463" y="6129338"/>
            <a:ext cx="5616574" cy="366712"/>
          </a:xfrm>
          <a:prstGeom prst="rect">
            <a:avLst/>
          </a:prstGeom>
        </p:spPr>
        <p:txBody>
          <a:bodyPr vert="horz" lIns="0" tIns="0" rIns="0" bIns="0" rtlCol="0" anchor="b" anchorCtr="0"/>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lgn="r"/>
            <a:r>
              <a:rPr lang="en-US"/>
              <a:t>Footer</a:t>
            </a:r>
          </a:p>
        </p:txBody>
      </p:sp>
    </p:spTree>
    <p:extLst>
      <p:ext uri="{BB962C8B-B14F-4D97-AF65-F5344CB8AC3E}">
        <p14:creationId xmlns:p14="http://schemas.microsoft.com/office/powerpoint/2010/main" val="1475472401"/>
      </p:ext>
    </p:extLst>
  </p:cSld>
  <p:clrMap bg1="lt1" tx1="dk1" bg2="lt2" tx2="dk2" accent1="accent1" accent2="accent2" accent3="accent3" accent4="accent4" accent5="accent5" accent6="accent6" hlink="hlink" folHlink="folHlink"/>
  <p:sldLayoutIdLst>
    <p:sldLayoutId id="2147483701" r:id="rId1"/>
    <p:sldLayoutId id="2147483670" r:id="rId2"/>
    <p:sldLayoutId id="2147483673" r:id="rId3"/>
    <p:sldLayoutId id="2147483662" r:id="rId4"/>
    <p:sldLayoutId id="2147483687" r:id="rId5"/>
    <p:sldLayoutId id="2147483683" r:id="rId6"/>
    <p:sldLayoutId id="2147483674" r:id="rId7"/>
    <p:sldLayoutId id="2147483689" r:id="rId8"/>
    <p:sldLayoutId id="2147483688" r:id="rId9"/>
    <p:sldLayoutId id="2147483690" r:id="rId10"/>
    <p:sldLayoutId id="2147483691" r:id="rId11"/>
    <p:sldLayoutId id="2147483668" r:id="rId12"/>
  </p:sldLayoutIdLst>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txStyles>
    <p:titleStyle>
      <a:lvl1pPr algn="l" defTabSz="914400" rtl="0" eaLnBrk="1" latinLnBrk="0" hangingPunct="1">
        <a:lnSpc>
          <a:spcPts val="4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288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152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1440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orient="horz" pos="232" userDrawn="1">
          <p15:clr>
            <a:srgbClr val="F26B43"/>
          </p15:clr>
        </p15:guide>
        <p15:guide id="32" orient="horz" pos="4088" userDrawn="1">
          <p15:clr>
            <a:srgbClr val="F26B43"/>
          </p15:clr>
        </p15:guide>
        <p15:guide id="33" orient="horz" pos="2954" userDrawn="1">
          <p15:clr>
            <a:srgbClr val="F26B43"/>
          </p15:clr>
        </p15:guide>
        <p15:guide id="34" pos="7469" userDrawn="1">
          <p15:clr>
            <a:srgbClr val="F26B43"/>
          </p15:clr>
        </p15:guide>
        <p15:guide id="35" pos="3749" userDrawn="1">
          <p15:clr>
            <a:srgbClr val="F26B43"/>
          </p15:clr>
        </p15:guide>
        <p15:guide id="36" pos="4679" userDrawn="1">
          <p15:clr>
            <a:srgbClr val="F26B43"/>
          </p15:clr>
        </p15:guide>
        <p15:guide id="37" orient="horz" pos="2047" userDrawn="1">
          <p15:clr>
            <a:srgbClr val="F26B43"/>
          </p15:clr>
        </p15:guide>
        <p15:guide id="38" orient="horz" pos="1366" userDrawn="1">
          <p15:clr>
            <a:srgbClr val="F26B43"/>
          </p15:clr>
        </p15:guide>
        <p15:guide id="39" pos="5790" userDrawn="1">
          <p15:clr>
            <a:srgbClr val="F26B43"/>
          </p15:clr>
        </p15:guide>
        <p15:guide id="40" orient="horz" pos="459" userDrawn="1">
          <p15:clr>
            <a:srgbClr val="F26B43"/>
          </p15:clr>
        </p15:guide>
        <p15:guide id="41" orient="horz" pos="3861" userDrawn="1">
          <p15:clr>
            <a:srgbClr val="F26B43"/>
          </p15:clr>
        </p15:guide>
        <p15:guide id="42" pos="211" userDrawn="1">
          <p15:clr>
            <a:srgbClr val="F26B43"/>
          </p15:clr>
        </p15:guide>
        <p15:guide id="43" orient="horz" pos="1139" userDrawn="1">
          <p15:clr>
            <a:srgbClr val="F26B43"/>
          </p15:clr>
        </p15:guide>
        <p15:guide id="44" orient="horz" pos="3181" userDrawn="1">
          <p15:clr>
            <a:srgbClr val="F26B43"/>
          </p15:clr>
        </p15:guide>
        <p15:guide id="45" orient="horz" pos="391" userDrawn="1">
          <p15:clr>
            <a:srgbClr val="F26B43"/>
          </p15:clr>
        </p15:guide>
        <p15:guide id="46" pos="4861" userDrawn="1">
          <p15:clr>
            <a:srgbClr val="F26B43"/>
          </p15:clr>
        </p15:guide>
        <p15:guide id="47" pos="5609" userDrawn="1">
          <p15:clr>
            <a:srgbClr val="F26B43"/>
          </p15:clr>
        </p15:guide>
        <p15:guide id="48" pos="3931" userDrawn="1">
          <p15:clr>
            <a:srgbClr val="F26B43"/>
          </p15:clr>
        </p15:guide>
        <p15:guide id="49" pos="6562" userDrawn="1">
          <p15:clr>
            <a:srgbClr val="F26B43"/>
          </p15:clr>
        </p15:guide>
        <p15:guide id="50" pos="6743" userDrawn="1">
          <p15:clr>
            <a:srgbClr val="F26B43"/>
          </p15:clr>
        </p15:guide>
        <p15:guide id="51" pos="3001" userDrawn="1">
          <p15:clr>
            <a:srgbClr val="F26B43"/>
          </p15:clr>
        </p15:guide>
        <p15:guide id="52" pos="2819" userDrawn="1">
          <p15:clr>
            <a:srgbClr val="F26B43"/>
          </p15:clr>
        </p15:guide>
        <p15:guide id="53" pos="2071" userDrawn="1">
          <p15:clr>
            <a:srgbClr val="F26B43"/>
          </p15:clr>
        </p15:guide>
        <p15:guide id="54" pos="1890" userDrawn="1">
          <p15:clr>
            <a:srgbClr val="F26B43"/>
          </p15:clr>
        </p15:guide>
        <p15:guide id="55" pos="1118" userDrawn="1">
          <p15:clr>
            <a:srgbClr val="F26B43"/>
          </p15:clr>
        </p15:guide>
        <p15:guide id="56" pos="937" userDrawn="1">
          <p15:clr>
            <a:srgbClr val="F26B43"/>
          </p15:clr>
        </p15:guide>
        <p15:guide id="57" orient="horz" pos="227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25.jpeg"/></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 Id="rId5" Type="http://schemas.openxmlformats.org/officeDocument/2006/relationships/image" Target="../media/image37.emf"/><Relationship Id="rId4" Type="http://schemas.openxmlformats.org/officeDocument/2006/relationships/oleObject" Target="../embeddings/oleObject4.bin"/></Relationships>
</file>

<file path=ppt/slides/_rels/slide5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brians-reaction-scheme.jpg" TargetMode="External"/><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melanies-reaction-scheme.jpg" TargetMode="External"/><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6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5.bin"/><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10_5487624466.jpg%3frevision=1" TargetMode="External"/><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6.bin"/><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36_4005377247.jpg%3frevision=1" TargetMode="External"/><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17_6578038021.jpg%3frevision=1&amp;size=bestfit&amp;width=747&amp;height=386" TargetMode="External"/><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s%3fq=tbnANd9GcS-M-YNs155uOP3xP3yCQWCZEA-p7ASkZNJSg&amp;s" TargetMode="External"/><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file:////Users/chris/Library/Group%20Containers/UBF8T346G9.ms/WebArchiveCopyPasteTempFiles/com.microsoft.Word/images%3fq=tbnANd9GcTqU_8_8Un7ZDtlcVgorNm4KwBzI8Qkm_9AEQ&amp;s" TargetMode="External"/><Relationship Id="rId4" Type="http://schemas.openxmlformats.org/officeDocument/2006/relationships/image" Target="../media/image5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F5B21A-4210-62AF-1FEE-6FB6AC72239A}"/>
              </a:ext>
            </a:extLst>
          </p:cNvPr>
          <p:cNvSpPr>
            <a:spLocks noGrp="1"/>
          </p:cNvSpPr>
          <p:nvPr>
            <p:ph type="title"/>
          </p:nvPr>
        </p:nvSpPr>
        <p:spPr/>
        <p:txBody>
          <a:bodyPr/>
          <a:lstStyle/>
          <a:p>
            <a:r>
              <a:rPr lang="en-GB" dirty="0"/>
              <a:t>PHAY0002</a:t>
            </a:r>
            <a:br>
              <a:rPr lang="en-GB" dirty="0"/>
            </a:br>
            <a:r>
              <a:rPr lang="en-GB" dirty="0"/>
              <a:t>Stoichiometry</a:t>
            </a:r>
          </a:p>
        </p:txBody>
      </p:sp>
      <p:sp>
        <p:nvSpPr>
          <p:cNvPr id="8" name="Subtitle 7">
            <a:extLst>
              <a:ext uri="{FF2B5EF4-FFF2-40B4-BE49-F238E27FC236}">
                <a16:creationId xmlns:a16="http://schemas.microsoft.com/office/drawing/2014/main" id="{F42A7AD4-19A0-CDBD-2175-0A91D3FA32A7}"/>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C0B8814E-F944-215B-498D-D2F4BABF4B6C}"/>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540635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B6A-9838-1CCB-0569-837D15FAC9A4}"/>
              </a:ext>
            </a:extLst>
          </p:cNvPr>
          <p:cNvSpPr>
            <a:spLocks noGrp="1"/>
          </p:cNvSpPr>
          <p:nvPr>
            <p:ph type="title"/>
          </p:nvPr>
        </p:nvSpPr>
        <p:spPr/>
        <p:txBody>
          <a:bodyPr/>
          <a:lstStyle/>
          <a:p>
            <a:r>
              <a:rPr lang="en-GB" dirty="0"/>
              <a:t>Historical motivation</a:t>
            </a:r>
          </a:p>
        </p:txBody>
      </p:sp>
      <p:pic>
        <p:nvPicPr>
          <p:cNvPr id="7" name="Content Placeholder 3" descr="pharmacy_lab_1930s.jpg">
            <a:extLst>
              <a:ext uri="{FF2B5EF4-FFF2-40B4-BE49-F238E27FC236}">
                <a16:creationId xmlns:a16="http://schemas.microsoft.com/office/drawing/2014/main" id="{C6CA674B-9756-7962-2637-7D367B81B9D7}"/>
              </a:ext>
            </a:extLst>
          </p:cNvPr>
          <p:cNvPicPr>
            <a:picLocks noGrp="1" noChangeAspect="1"/>
          </p:cNvPicPr>
          <p:nvPr>
            <p:ph type="tbl" sz="quarter" idx="10"/>
          </p:nvPr>
        </p:nvPicPr>
        <p:blipFill>
          <a:blip r:embed="rId2" cstate="print"/>
          <a:srcRect b="4247"/>
          <a:stretch>
            <a:fillRect/>
          </a:stretch>
        </p:blipFill>
        <p:spPr>
          <a:xfrm>
            <a:off x="2986792" y="1385888"/>
            <a:ext cx="6218415" cy="4710527"/>
          </a:xfrm>
          <a:prstGeom prst="rect">
            <a:avLst/>
          </a:prstGeom>
        </p:spPr>
      </p:pic>
    </p:spTree>
    <p:extLst>
      <p:ext uri="{BB962C8B-B14F-4D97-AF65-F5344CB8AC3E}">
        <p14:creationId xmlns:p14="http://schemas.microsoft.com/office/powerpoint/2010/main" val="3297646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7C9D0-A6A2-2665-3C29-63BF93625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41DFA-24EE-7705-1581-73C97431C713}"/>
              </a:ext>
            </a:extLst>
          </p:cNvPr>
          <p:cNvSpPr>
            <a:spLocks noGrp="1"/>
          </p:cNvSpPr>
          <p:nvPr>
            <p:ph type="title"/>
          </p:nvPr>
        </p:nvSpPr>
        <p:spPr/>
        <p:txBody>
          <a:bodyPr/>
          <a:lstStyle/>
          <a:p>
            <a:r>
              <a:rPr lang="en-GB" dirty="0"/>
              <a:t>Introduction and learning objectives</a:t>
            </a:r>
          </a:p>
        </p:txBody>
      </p:sp>
      <p:sp>
        <p:nvSpPr>
          <p:cNvPr id="3" name="Table Placeholder 2">
            <a:extLst>
              <a:ext uri="{FF2B5EF4-FFF2-40B4-BE49-F238E27FC236}">
                <a16:creationId xmlns:a16="http://schemas.microsoft.com/office/drawing/2014/main" id="{CBFE8A12-8201-2AFD-463B-89A8F3E4921D}"/>
              </a:ext>
            </a:extLst>
          </p:cNvPr>
          <p:cNvSpPr>
            <a:spLocks noGrp="1"/>
          </p:cNvSpPr>
          <p:nvPr>
            <p:ph type="tbl" sz="quarter" idx="10"/>
          </p:nvPr>
        </p:nvSpPr>
        <p:spPr/>
        <p:txBody>
          <a:bodyPr>
            <a:normAutofit fontScale="92500"/>
          </a:bodyPr>
          <a:lstStyle/>
          <a:p>
            <a:pPr>
              <a:lnSpc>
                <a:spcPct val="160000"/>
              </a:lnSpc>
              <a:spcBef>
                <a:spcPts val="0"/>
              </a:spcBef>
              <a:spcAft>
                <a:spcPts val="0"/>
              </a:spcAft>
            </a:pPr>
            <a:r>
              <a:rPr lang="en-GB" dirty="0"/>
              <a:t>Being able to </a:t>
            </a:r>
            <a:r>
              <a:rPr lang="en-GB" b="1" dirty="0"/>
              <a:t>confidently and correctly calculate </a:t>
            </a:r>
            <a:r>
              <a:rPr lang="en-GB" dirty="0"/>
              <a:t>chemical quantities is an essential skill for the pharmacist!</a:t>
            </a:r>
          </a:p>
          <a:p>
            <a:pPr>
              <a:lnSpc>
                <a:spcPct val="160000"/>
              </a:lnSpc>
              <a:spcBef>
                <a:spcPts val="0"/>
              </a:spcBef>
              <a:spcAft>
                <a:spcPts val="0"/>
              </a:spcAft>
            </a:pPr>
            <a:endParaRPr lang="en-GB" dirty="0"/>
          </a:p>
          <a:p>
            <a:pPr>
              <a:lnSpc>
                <a:spcPct val="160000"/>
              </a:lnSpc>
              <a:spcBef>
                <a:spcPts val="0"/>
              </a:spcBef>
              <a:spcAft>
                <a:spcPts val="0"/>
              </a:spcAft>
            </a:pPr>
            <a:r>
              <a:rPr lang="en-GB" dirty="0"/>
              <a:t>Understanding:</a:t>
            </a:r>
          </a:p>
          <a:p>
            <a:pPr marL="285750" indent="-285750">
              <a:lnSpc>
                <a:spcPct val="160000"/>
              </a:lnSpc>
              <a:spcBef>
                <a:spcPts val="0"/>
              </a:spcBef>
              <a:spcAft>
                <a:spcPts val="0"/>
              </a:spcAft>
              <a:buFont typeface="Arial" panose="020B0604020202020204" pitchFamily="34" charset="0"/>
              <a:buChar char="•"/>
            </a:pPr>
            <a:r>
              <a:rPr lang="en-GB" dirty="0"/>
              <a:t>the ways in which compounds react with each other</a:t>
            </a:r>
          </a:p>
          <a:p>
            <a:pPr marL="285750" indent="-285750">
              <a:lnSpc>
                <a:spcPct val="160000"/>
              </a:lnSpc>
              <a:spcBef>
                <a:spcPts val="0"/>
              </a:spcBef>
              <a:spcAft>
                <a:spcPts val="0"/>
              </a:spcAft>
              <a:buFont typeface="Arial" panose="020B0604020202020204" pitchFamily="34" charset="0"/>
              <a:buChar char="•"/>
            </a:pPr>
            <a:r>
              <a:rPr lang="en-GB" dirty="0"/>
              <a:t>the ratios in which they react</a:t>
            </a:r>
          </a:p>
          <a:p>
            <a:pPr marL="285750" indent="-285750">
              <a:lnSpc>
                <a:spcPct val="160000"/>
              </a:lnSpc>
              <a:spcBef>
                <a:spcPts val="0"/>
              </a:spcBef>
              <a:spcAft>
                <a:spcPts val="0"/>
              </a:spcAft>
              <a:buFont typeface="Arial" panose="020B0604020202020204" pitchFamily="34" charset="0"/>
              <a:buChar char="•"/>
            </a:pPr>
            <a:r>
              <a:rPr lang="en-GB" dirty="0"/>
              <a:t>the efficiency of the reactions</a:t>
            </a:r>
          </a:p>
          <a:p>
            <a:pPr>
              <a:lnSpc>
                <a:spcPct val="160000"/>
              </a:lnSpc>
              <a:spcBef>
                <a:spcPts val="0"/>
              </a:spcBef>
              <a:spcAft>
                <a:spcPts val="0"/>
              </a:spcAft>
            </a:pPr>
            <a:r>
              <a:rPr lang="en-GB" dirty="0"/>
              <a:t>is crucial to a number of areas of pharmacy and pharmaceutical analysis.</a:t>
            </a:r>
          </a:p>
          <a:p>
            <a:pPr>
              <a:lnSpc>
                <a:spcPct val="160000"/>
              </a:lnSpc>
              <a:spcBef>
                <a:spcPts val="0"/>
              </a:spcBef>
              <a:spcAft>
                <a:spcPts val="0"/>
              </a:spcAft>
            </a:pPr>
            <a:endParaRPr lang="en-GB" dirty="0"/>
          </a:p>
          <a:p>
            <a:pPr>
              <a:lnSpc>
                <a:spcPct val="160000"/>
              </a:lnSpc>
              <a:spcBef>
                <a:spcPts val="0"/>
              </a:spcBef>
              <a:spcAft>
                <a:spcPts val="0"/>
              </a:spcAft>
            </a:pPr>
            <a:r>
              <a:rPr lang="en-GB" dirty="0"/>
              <a:t>These include:</a:t>
            </a:r>
          </a:p>
          <a:p>
            <a:pPr marL="285750" indent="-285750">
              <a:lnSpc>
                <a:spcPct val="160000"/>
              </a:lnSpc>
              <a:spcBef>
                <a:spcPts val="0"/>
              </a:spcBef>
              <a:spcAft>
                <a:spcPts val="0"/>
              </a:spcAft>
              <a:buFont typeface="Arial" panose="020B0604020202020204" pitchFamily="34" charset="0"/>
              <a:buChar char="•"/>
            </a:pPr>
            <a:r>
              <a:rPr lang="en-GB" dirty="0"/>
              <a:t>calculating the yields and efficiency of chemical reactions and processes</a:t>
            </a:r>
          </a:p>
          <a:p>
            <a:pPr marL="285750" indent="-285750">
              <a:lnSpc>
                <a:spcPct val="160000"/>
              </a:lnSpc>
              <a:spcBef>
                <a:spcPts val="0"/>
              </a:spcBef>
              <a:spcAft>
                <a:spcPts val="0"/>
              </a:spcAft>
              <a:buFont typeface="Arial" panose="020B0604020202020204" pitchFamily="34" charset="0"/>
              <a:buChar char="•"/>
            </a:pPr>
            <a:r>
              <a:rPr lang="en-GB" dirty="0"/>
              <a:t>analytical methods (titration procedures, gravimetric analysis) to determine the drug or impurity content of medicines</a:t>
            </a:r>
          </a:p>
          <a:p>
            <a:pPr marL="285750" indent="-285750">
              <a:lnSpc>
                <a:spcPct val="160000"/>
              </a:lnSpc>
              <a:spcBef>
                <a:spcPts val="0"/>
              </a:spcBef>
              <a:spcAft>
                <a:spcPts val="0"/>
              </a:spcAft>
              <a:buFont typeface="Arial" panose="020B0604020202020204" pitchFamily="34" charset="0"/>
              <a:buChar char="•"/>
            </a:pPr>
            <a:r>
              <a:rPr lang="en-GB" dirty="0"/>
              <a:t>equilibrium processes involving e.g. acid-base reactions and buffering systems</a:t>
            </a:r>
          </a:p>
        </p:txBody>
      </p:sp>
    </p:spTree>
    <p:extLst>
      <p:ext uri="{BB962C8B-B14F-4D97-AF65-F5344CB8AC3E}">
        <p14:creationId xmlns:p14="http://schemas.microsoft.com/office/powerpoint/2010/main" val="430877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678A-468D-0DDB-B3F7-0C6408109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83408-2C9F-1F29-C8A8-201A10CF7684}"/>
              </a:ext>
            </a:extLst>
          </p:cNvPr>
          <p:cNvSpPr>
            <a:spLocks noGrp="1"/>
          </p:cNvSpPr>
          <p:nvPr>
            <p:ph type="title"/>
          </p:nvPr>
        </p:nvSpPr>
        <p:spPr/>
        <p:txBody>
          <a:bodyPr/>
          <a:lstStyle/>
          <a:p>
            <a:r>
              <a:rPr lang="en-GB" dirty="0"/>
              <a:t>Recommended reading and reference books</a:t>
            </a:r>
          </a:p>
        </p:txBody>
      </p:sp>
      <p:sp>
        <p:nvSpPr>
          <p:cNvPr id="3" name="Table Placeholder 2">
            <a:extLst>
              <a:ext uri="{FF2B5EF4-FFF2-40B4-BE49-F238E27FC236}">
                <a16:creationId xmlns:a16="http://schemas.microsoft.com/office/drawing/2014/main" id="{7078990D-0801-0BCD-2E9C-CBBFF593B428}"/>
              </a:ext>
            </a:extLst>
          </p:cNvPr>
          <p:cNvSpPr>
            <a:spLocks noGrp="1"/>
          </p:cNvSpPr>
          <p:nvPr>
            <p:ph type="tbl" sz="quarter" idx="10"/>
          </p:nvPr>
        </p:nvSpPr>
        <p:spPr/>
        <p:txBody>
          <a:bodyPr/>
          <a:lstStyle/>
          <a:p>
            <a:r>
              <a:rPr lang="en-GB" b="1" dirty="0"/>
              <a:t>Pharmaceutical Analysis.</a:t>
            </a:r>
            <a:r>
              <a:rPr lang="en-GB" dirty="0"/>
              <a:t> D G Watson. Elsevier Churchill Livingstone, 2nd edition, 2005</a:t>
            </a:r>
          </a:p>
          <a:p>
            <a:endParaRPr lang="en-GB" dirty="0"/>
          </a:p>
          <a:p>
            <a:r>
              <a:rPr lang="en-GB" b="1" dirty="0"/>
              <a:t>Essentials of Pharmaceutical Chemistry.</a:t>
            </a:r>
            <a:r>
              <a:rPr lang="en-GB" dirty="0"/>
              <a:t> D Cairns. Pharmaceutical Press, London, 2nd edition, 2003.</a:t>
            </a:r>
          </a:p>
          <a:p>
            <a:endParaRPr lang="en-GB" dirty="0"/>
          </a:p>
          <a:p>
            <a:r>
              <a:rPr lang="en-GB" dirty="0"/>
              <a:t>Some </a:t>
            </a:r>
            <a:r>
              <a:rPr lang="en-GB" b="1" dirty="0"/>
              <a:t>Khan Academy </a:t>
            </a:r>
            <a:r>
              <a:rPr lang="en-GB" dirty="0"/>
              <a:t>worked examples – search for ‘stoichiometry’</a:t>
            </a:r>
          </a:p>
        </p:txBody>
      </p:sp>
    </p:spTree>
    <p:extLst>
      <p:ext uri="{BB962C8B-B14F-4D97-AF65-F5344CB8AC3E}">
        <p14:creationId xmlns:p14="http://schemas.microsoft.com/office/powerpoint/2010/main" val="6157137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64387-13C9-F362-22AD-0680CA13FAF8}"/>
              </a:ext>
            </a:extLst>
          </p:cNvPr>
          <p:cNvSpPr>
            <a:spLocks noGrp="1"/>
          </p:cNvSpPr>
          <p:nvPr>
            <p:ph type="title"/>
          </p:nvPr>
        </p:nvSpPr>
        <p:spPr/>
        <p:txBody>
          <a:bodyPr/>
          <a:lstStyle/>
          <a:p>
            <a:r>
              <a:rPr lang="en-GB" dirty="0"/>
              <a:t>Moles and Avogadro’s constant</a:t>
            </a:r>
          </a:p>
        </p:txBody>
      </p:sp>
      <p:sp>
        <p:nvSpPr>
          <p:cNvPr id="3" name="Table Placeholder 2">
            <a:extLst>
              <a:ext uri="{FF2B5EF4-FFF2-40B4-BE49-F238E27FC236}">
                <a16:creationId xmlns:a16="http://schemas.microsoft.com/office/drawing/2014/main" id="{AFFBAADD-7C0A-7A75-0321-68E98CAF1997}"/>
              </a:ext>
            </a:extLst>
          </p:cNvPr>
          <p:cNvSpPr>
            <a:spLocks noGrp="1"/>
          </p:cNvSpPr>
          <p:nvPr>
            <p:ph type="tbl" sz="quarter" idx="10"/>
          </p:nvPr>
        </p:nvSpPr>
        <p:spPr>
          <a:xfrm>
            <a:off x="334963" y="1385888"/>
            <a:ext cx="5761037" cy="5103812"/>
          </a:xfrm>
        </p:spPr>
        <p:txBody>
          <a:bodyPr/>
          <a:lstStyle/>
          <a:p>
            <a:pPr marL="285750" indent="-285750">
              <a:buFont typeface="Arial" panose="020B0604020202020204" pitchFamily="34" charset="0"/>
              <a:buChar char="•"/>
            </a:pPr>
            <a:r>
              <a:rPr lang="en-GB" dirty="0"/>
              <a:t>A mole is a unit. It’s not a typical unit, though. It’s really just a number—like “dozen” or “billion.”</a:t>
            </a:r>
          </a:p>
          <a:p>
            <a:pPr marL="285750" indent="-285750">
              <a:buFont typeface="Arial" panose="020B0604020202020204" pitchFamily="34" charset="0"/>
              <a:buChar char="•"/>
            </a:pPr>
            <a:r>
              <a:rPr lang="en-GB" dirty="0"/>
              <a:t>If you have a mole of something, it means you have 602,214,129,000,000,000,000,000 of them (usually written 6.022 x 10</a:t>
            </a:r>
            <a:r>
              <a:rPr lang="en-GB" baseline="30000" dirty="0"/>
              <a:t>23</a:t>
            </a:r>
            <a:r>
              <a:rPr lang="en-GB" dirty="0"/>
              <a:t>).</a:t>
            </a:r>
          </a:p>
          <a:p>
            <a:pPr marL="285750" indent="-285750">
              <a:buFont typeface="Arial" panose="020B0604020202020204" pitchFamily="34" charset="0"/>
              <a:buChar char="•"/>
            </a:pPr>
            <a:r>
              <a:rPr lang="en-GB" dirty="0"/>
              <a:t>This is Avogadro’s number.</a:t>
            </a:r>
          </a:p>
          <a:p>
            <a:pPr marL="285750" indent="-285750">
              <a:buFont typeface="Arial" panose="020B0604020202020204" pitchFamily="34" charset="0"/>
              <a:buChar char="•"/>
            </a:pPr>
            <a:r>
              <a:rPr lang="en-GB" dirty="0"/>
              <a:t>It’s such a big number because it’s used for counting numbers of molecules, which there are a lot of.</a:t>
            </a:r>
          </a:p>
          <a:p>
            <a:pPr marL="285750" indent="-285750">
              <a:buFont typeface="Arial" panose="020B0604020202020204" pitchFamily="34" charset="0"/>
              <a:buChar char="•"/>
            </a:pPr>
            <a:r>
              <a:rPr lang="en-GB" dirty="0"/>
              <a:t>One mole is equal to the number of atoms in 12 grams of carbon-12.</a:t>
            </a:r>
          </a:p>
        </p:txBody>
      </p:sp>
      <p:pic>
        <p:nvPicPr>
          <p:cNvPr id="4" name="Picture 2">
            <a:extLst>
              <a:ext uri="{FF2B5EF4-FFF2-40B4-BE49-F238E27FC236}">
                <a16:creationId xmlns:a16="http://schemas.microsoft.com/office/drawing/2014/main" id="{F5B9B200-5F72-C816-2BFD-E8F32B62CFF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69300" y="2024917"/>
            <a:ext cx="1358900" cy="2070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597517-D796-A40E-8594-FDE08BAF8CD9}"/>
              </a:ext>
            </a:extLst>
          </p:cNvPr>
          <p:cNvSpPr txBox="1"/>
          <p:nvPr/>
        </p:nvSpPr>
        <p:spPr>
          <a:xfrm>
            <a:off x="7358846" y="4734046"/>
            <a:ext cx="3379808" cy="1323439"/>
          </a:xfrm>
          <a:prstGeom prst="rect">
            <a:avLst/>
          </a:prstGeom>
          <a:noFill/>
        </p:spPr>
        <p:txBody>
          <a:bodyPr wrap="square" rtlCol="0">
            <a:spAutoFit/>
          </a:bodyPr>
          <a:lstStyle/>
          <a:p>
            <a:pPr algn="ctr"/>
            <a:r>
              <a:rPr lang="en-GB" sz="2000" i="1" dirty="0"/>
              <a:t>N</a:t>
            </a:r>
            <a:r>
              <a:rPr lang="en-GB" sz="2000" baseline="-25000" dirty="0"/>
              <a:t>A</a:t>
            </a:r>
            <a:r>
              <a:rPr lang="en-GB" sz="2000" i="1" dirty="0"/>
              <a:t> is Avogadro’s constant.</a:t>
            </a:r>
          </a:p>
          <a:p>
            <a:pPr algn="ctr"/>
            <a:r>
              <a:rPr lang="en-GB" sz="2000" i="1" dirty="0"/>
              <a:t>Note the units:</a:t>
            </a:r>
          </a:p>
          <a:p>
            <a:pPr algn="ctr"/>
            <a:endParaRPr lang="en-GB" sz="2000" i="1" dirty="0"/>
          </a:p>
          <a:p>
            <a:pPr algn="ctr"/>
            <a:r>
              <a:rPr lang="en-GB" sz="2000" i="1" dirty="0"/>
              <a:t>N</a:t>
            </a:r>
            <a:r>
              <a:rPr lang="en-GB" sz="2000" baseline="-25000" dirty="0"/>
              <a:t>A</a:t>
            </a:r>
            <a:r>
              <a:rPr lang="en-GB" sz="2000" dirty="0"/>
              <a:t> = 6.022 x 10</a:t>
            </a:r>
            <a:r>
              <a:rPr lang="en-GB" sz="2000" baseline="30000" dirty="0"/>
              <a:t>23</a:t>
            </a:r>
            <a:r>
              <a:rPr lang="en-GB" sz="2000" dirty="0"/>
              <a:t> </a:t>
            </a:r>
            <a:r>
              <a:rPr lang="en-GB" sz="2000" b="1" dirty="0"/>
              <a:t>mol</a:t>
            </a:r>
            <a:r>
              <a:rPr lang="en-GB" sz="2000" b="1" baseline="30000" dirty="0"/>
              <a:t>-1</a:t>
            </a:r>
          </a:p>
        </p:txBody>
      </p:sp>
      <p:sp>
        <p:nvSpPr>
          <p:cNvPr id="6" name="TextBox 5">
            <a:extLst>
              <a:ext uri="{FF2B5EF4-FFF2-40B4-BE49-F238E27FC236}">
                <a16:creationId xmlns:a16="http://schemas.microsoft.com/office/drawing/2014/main" id="{52D07983-99B4-2C94-7323-0F0F153CC7D4}"/>
              </a:ext>
            </a:extLst>
          </p:cNvPr>
          <p:cNvSpPr txBox="1"/>
          <p:nvPr/>
        </p:nvSpPr>
        <p:spPr>
          <a:xfrm>
            <a:off x="10867236" y="6305034"/>
            <a:ext cx="1197764" cy="369332"/>
          </a:xfrm>
          <a:prstGeom prst="rect">
            <a:avLst/>
          </a:prstGeom>
          <a:noFill/>
        </p:spPr>
        <p:txBody>
          <a:bodyPr wrap="none" rtlCol="0">
            <a:spAutoFit/>
          </a:bodyPr>
          <a:lstStyle/>
          <a:p>
            <a:r>
              <a:rPr lang="en-GB" dirty="0" err="1"/>
              <a:t>xkcd.com</a:t>
            </a:r>
            <a:endParaRPr lang="en-GB" dirty="0"/>
          </a:p>
        </p:txBody>
      </p:sp>
    </p:spTree>
    <p:extLst>
      <p:ext uri="{BB962C8B-B14F-4D97-AF65-F5344CB8AC3E}">
        <p14:creationId xmlns:p14="http://schemas.microsoft.com/office/powerpoint/2010/main" val="3974850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986546D-C6BF-DD8C-2BF9-7D7FD6291B73}"/>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3A88BDFC-3F30-AFA0-8525-5B33CCE4D36B}"/>
              </a:ext>
            </a:extLst>
          </p:cNvPr>
          <p:cNvSpPr>
            <a:spLocks noGrp="1"/>
          </p:cNvSpPr>
          <p:nvPr>
            <p:ph type="title"/>
          </p:nvPr>
        </p:nvSpPr>
        <p:spPr/>
        <p:txBody>
          <a:bodyPr/>
          <a:lstStyle/>
          <a:p>
            <a:r>
              <a:rPr lang="en-GB" dirty="0"/>
              <a:t>Calculation of amount of substance</a:t>
            </a:r>
          </a:p>
        </p:txBody>
      </p:sp>
      <p:sp>
        <p:nvSpPr>
          <p:cNvPr id="6" name="Table Placeholder 5">
            <a:extLst>
              <a:ext uri="{FF2B5EF4-FFF2-40B4-BE49-F238E27FC236}">
                <a16:creationId xmlns:a16="http://schemas.microsoft.com/office/drawing/2014/main" id="{5B4E6445-5063-40A3-1DF6-0ACA28005F2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amount</a:t>
            </a:r>
            <a:r>
              <a:rPr lang="en-GB" dirty="0"/>
              <a:t> of a substance, </a:t>
            </a:r>
            <a:r>
              <a:rPr lang="en-GB" i="1" dirty="0"/>
              <a:t>n</a:t>
            </a:r>
            <a:r>
              <a:rPr lang="en-GB" dirty="0"/>
              <a:t>, can be calculated if</a:t>
            </a:r>
            <a:br>
              <a:rPr lang="en-GB" dirty="0"/>
            </a:br>
            <a:r>
              <a:rPr lang="en-GB" dirty="0"/>
              <a:t>the </a:t>
            </a:r>
            <a:r>
              <a:rPr lang="en-GB" b="1" dirty="0"/>
              <a:t>number of entities</a:t>
            </a:r>
            <a:r>
              <a:rPr lang="en-GB" dirty="0"/>
              <a:t>, </a:t>
            </a:r>
            <a:r>
              <a:rPr lang="en-GB" i="1" dirty="0"/>
              <a:t>N</a:t>
            </a:r>
            <a:r>
              <a:rPr lang="en-GB" dirty="0"/>
              <a:t>, is known:</a:t>
            </a:r>
          </a:p>
          <a:p>
            <a:pPr marL="285750" indent="-285750">
              <a:buFont typeface="Arial" panose="020B0604020202020204" pitchFamily="34" charset="0"/>
              <a:buChar char="•"/>
            </a:pP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86E874-DDBD-77C7-E973-53B60098205D}"/>
                  </a:ext>
                </a:extLst>
              </p:cNvPr>
              <p:cNvSpPr txBox="1"/>
              <p:nvPr/>
            </p:nvSpPr>
            <p:spPr>
              <a:xfrm>
                <a:off x="1331088" y="2386367"/>
                <a:ext cx="763607" cy="563872"/>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𝑁</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𝐴</m:t>
                              </m:r>
                            </m:sub>
                          </m:sSub>
                        </m:den>
                      </m:f>
                    </m:oMath>
                  </m:oMathPara>
                </a14:m>
                <a:endParaRPr lang="en-GB" dirty="0"/>
              </a:p>
            </p:txBody>
          </p:sp>
        </mc:Choice>
        <mc:Fallback xmlns="">
          <p:sp>
            <p:nvSpPr>
              <p:cNvPr id="7" name="TextBox 6">
                <a:extLst>
                  <a:ext uri="{FF2B5EF4-FFF2-40B4-BE49-F238E27FC236}">
                    <a16:creationId xmlns:a16="http://schemas.microsoft.com/office/drawing/2014/main" id="{6486E874-DDBD-77C7-E973-53B60098205D}"/>
                  </a:ext>
                </a:extLst>
              </p:cNvPr>
              <p:cNvSpPr txBox="1">
                <a:spLocks noRot="1" noChangeAspect="1" noMove="1" noResize="1" noEditPoints="1" noAdjustHandles="1" noChangeArrowheads="1" noChangeShapeType="1" noTextEdit="1"/>
              </p:cNvSpPr>
              <p:nvPr/>
            </p:nvSpPr>
            <p:spPr>
              <a:xfrm>
                <a:off x="1331088" y="2386367"/>
                <a:ext cx="763607" cy="563872"/>
              </a:xfrm>
              <a:prstGeom prst="rect">
                <a:avLst/>
              </a:prstGeom>
              <a:blipFill>
                <a:blip r:embed="rId2"/>
                <a:stretch>
                  <a:fillRect l="-3226"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8DB7CF-499C-BAF9-3968-88F37C177180}"/>
                  </a:ext>
                </a:extLst>
              </p:cNvPr>
              <p:cNvSpPr txBox="1"/>
              <p:nvPr/>
            </p:nvSpPr>
            <p:spPr>
              <a:xfrm>
                <a:off x="10111848" y="2656008"/>
                <a:ext cx="1096967" cy="587918"/>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𝑁</m:t>
                              </m:r>
                            </m:e>
                          </m:d>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m:t>
                              </m:r>
                              <m:r>
                                <a:rPr lang="en-GB" b="0" i="1" smtClean="0">
                                  <a:latin typeface="Cambria Math" panose="02040503050406030204" pitchFamily="18" charset="0"/>
                                </a:rPr>
                                <m:t>𝑁</m:t>
                              </m:r>
                            </m:e>
                            <m:sub>
                              <m:r>
                                <a:rPr lang="en-GB" b="0" i="1" smtClean="0">
                                  <a:latin typeface="Cambria Math" panose="02040503050406030204" pitchFamily="18" charset="0"/>
                                </a:rPr>
                                <m:t>𝐴</m:t>
                              </m:r>
                            </m:sub>
                          </m:sSub>
                          <m:r>
                            <a:rPr lang="en-GB" b="0" i="1" smtClean="0">
                              <a:latin typeface="Cambria Math" panose="02040503050406030204" pitchFamily="18" charset="0"/>
                            </a:rPr>
                            <m:t>]</m:t>
                          </m:r>
                        </m:den>
                      </m:f>
                    </m:oMath>
                  </m:oMathPara>
                </a14:m>
                <a:endParaRPr lang="en-GB" dirty="0"/>
              </a:p>
            </p:txBody>
          </p:sp>
        </mc:Choice>
        <mc:Fallback xmlns="">
          <p:sp>
            <p:nvSpPr>
              <p:cNvPr id="8" name="TextBox 7">
                <a:extLst>
                  <a:ext uri="{FF2B5EF4-FFF2-40B4-BE49-F238E27FC236}">
                    <a16:creationId xmlns:a16="http://schemas.microsoft.com/office/drawing/2014/main" id="{ED8DB7CF-499C-BAF9-3968-88F37C177180}"/>
                  </a:ext>
                </a:extLst>
              </p:cNvPr>
              <p:cNvSpPr txBox="1">
                <a:spLocks noRot="1" noChangeAspect="1" noMove="1" noResize="1" noEditPoints="1" noAdjustHandles="1" noChangeArrowheads="1" noChangeShapeType="1" noTextEdit="1"/>
              </p:cNvSpPr>
              <p:nvPr/>
            </p:nvSpPr>
            <p:spPr>
              <a:xfrm>
                <a:off x="10111848" y="2656008"/>
                <a:ext cx="1096967" cy="587918"/>
              </a:xfrm>
              <a:prstGeom prst="rect">
                <a:avLst/>
              </a:prstGeom>
              <a:blipFill>
                <a:blip r:embed="rId3"/>
                <a:stretch>
                  <a:fillRect r="-6897" b="-170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17485B-E304-5445-82F4-6FA7DFF41452}"/>
                  </a:ext>
                </a:extLst>
              </p:cNvPr>
              <p:cNvSpPr txBox="1"/>
              <p:nvPr/>
            </p:nvSpPr>
            <p:spPr>
              <a:xfrm>
                <a:off x="10111848" y="3502094"/>
                <a:ext cx="1388329" cy="520399"/>
              </a:xfrm>
              <a:prstGeom prst="rect">
                <a:avLst/>
              </a:prstGeom>
              <a:noFill/>
            </p:spPr>
            <p:txBody>
              <a:bodyPr wrap="squar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mol</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0" smtClean="0">
                                  <a:latin typeface="Cambria Math" panose="02040503050406030204" pitchFamily="18" charset="0"/>
                                </a:rPr>
                              </m:ctrlPr>
                            </m:sSupPr>
                            <m:e>
                              <m:r>
                                <m:rPr>
                                  <m:nor/>
                                </m:rPr>
                                <a:rPr lang="en-GB" b="0" i="0" smtClean="0">
                                  <a:latin typeface="Cambria Math" panose="02040503050406030204" pitchFamily="18" charset="0"/>
                                </a:rPr>
                                <m:t>mol</m:t>
                              </m:r>
                            </m:e>
                            <m:sup>
                              <m:r>
                                <a:rPr lang="en-GB" b="0" i="1" smtClean="0">
                                  <a:latin typeface="Cambria Math" panose="02040503050406030204" pitchFamily="18" charset="0"/>
                                </a:rPr>
                                <m:t>−1</m:t>
                              </m:r>
                            </m:sup>
                          </m:sSup>
                        </m:den>
                      </m:f>
                    </m:oMath>
                  </m:oMathPara>
                </a14:m>
                <a:endParaRPr lang="en-GB" dirty="0"/>
              </a:p>
            </p:txBody>
          </p:sp>
        </mc:Choice>
        <mc:Fallback xmlns="">
          <p:sp>
            <p:nvSpPr>
              <p:cNvPr id="9" name="TextBox 8">
                <a:extLst>
                  <a:ext uri="{FF2B5EF4-FFF2-40B4-BE49-F238E27FC236}">
                    <a16:creationId xmlns:a16="http://schemas.microsoft.com/office/drawing/2014/main" id="{4D17485B-E304-5445-82F4-6FA7DFF41452}"/>
                  </a:ext>
                </a:extLst>
              </p:cNvPr>
              <p:cNvSpPr txBox="1">
                <a:spLocks noRot="1" noChangeAspect="1" noMove="1" noResize="1" noEditPoints="1" noAdjustHandles="1" noChangeArrowheads="1" noChangeShapeType="1" noTextEdit="1"/>
              </p:cNvSpPr>
              <p:nvPr/>
            </p:nvSpPr>
            <p:spPr>
              <a:xfrm>
                <a:off x="10111848" y="3502094"/>
                <a:ext cx="1388329" cy="520399"/>
              </a:xfrm>
              <a:prstGeom prst="rect">
                <a:avLst/>
              </a:prstGeom>
              <a:blipFill>
                <a:blip r:embed="rId4"/>
                <a:stretch>
                  <a:fillRect l="-2727" t="-4762" b="-14286"/>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98A32185-3637-FB30-886F-F6A1EFDFAFDB}"/>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2257842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968-1806-A5DD-6A7E-2FF8A1B0B40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DCA8678-DB6B-D185-328D-0C587C5132D5}"/>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395DE901-A29B-21DF-ADED-7FD5AE372F9F}"/>
              </a:ext>
            </a:extLst>
          </p:cNvPr>
          <p:cNvSpPr>
            <a:spLocks noGrp="1"/>
          </p:cNvSpPr>
          <p:nvPr>
            <p:ph type="title"/>
          </p:nvPr>
        </p:nvSpPr>
        <p:spPr/>
        <p:txBody>
          <a:bodyPr/>
          <a:lstStyle/>
          <a:p>
            <a:r>
              <a:rPr lang="en-GB" dirty="0"/>
              <a:t>Calculation of amount of substance</a:t>
            </a:r>
          </a:p>
        </p:txBody>
      </p:sp>
      <p:sp>
        <p:nvSpPr>
          <p:cNvPr id="6" name="Table Placeholder 5">
            <a:extLst>
              <a:ext uri="{FF2B5EF4-FFF2-40B4-BE49-F238E27FC236}">
                <a16:creationId xmlns:a16="http://schemas.microsoft.com/office/drawing/2014/main" id="{2E92F69E-2226-31E4-9A0D-9DA10D946D7B}"/>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amount</a:t>
            </a:r>
            <a:r>
              <a:rPr lang="en-GB" dirty="0"/>
              <a:t> of a substance, </a:t>
            </a:r>
            <a:r>
              <a:rPr lang="en-GB" i="1" dirty="0"/>
              <a:t>n</a:t>
            </a:r>
            <a:r>
              <a:rPr lang="en-GB" dirty="0"/>
              <a:t>, can be calculated if its </a:t>
            </a:r>
            <a:r>
              <a:rPr lang="en-GB" b="1" dirty="0"/>
              <a:t>mass</a:t>
            </a:r>
            <a:r>
              <a:rPr lang="en-GB" dirty="0"/>
              <a:t>, </a:t>
            </a:r>
            <a:r>
              <a:rPr lang="en-GB" i="1" dirty="0"/>
              <a:t>m</a:t>
            </a:r>
            <a:r>
              <a:rPr lang="en-GB" dirty="0"/>
              <a:t>,</a:t>
            </a:r>
            <a:br>
              <a:rPr lang="en-GB" dirty="0"/>
            </a:br>
            <a:r>
              <a:rPr lang="en-GB" dirty="0"/>
              <a:t>and </a:t>
            </a:r>
            <a:r>
              <a:rPr lang="en-GB" b="1" dirty="0"/>
              <a:t>molar mass</a:t>
            </a:r>
            <a:r>
              <a:rPr lang="en-GB" dirty="0"/>
              <a:t>, </a:t>
            </a:r>
            <a:r>
              <a:rPr lang="en-GB" i="1" dirty="0"/>
              <a:t>M</a:t>
            </a:r>
            <a:r>
              <a:rPr lang="en-GB" dirty="0"/>
              <a:t>, are known: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If the mass is measured in grams, then the molar mass must be in g mol</a:t>
            </a:r>
            <a:r>
              <a:rPr lang="en-GB" baseline="30000" dirty="0"/>
              <a:t>-1</a:t>
            </a:r>
            <a:br>
              <a:rPr lang="en-GB" dirty="0"/>
            </a:br>
            <a:endParaRPr lang="en-GB" dirty="0"/>
          </a:p>
          <a:p>
            <a:pPr marL="285750" indent="-285750">
              <a:buFont typeface="Arial" panose="020B0604020202020204" pitchFamily="34" charset="0"/>
              <a:buChar char="•"/>
            </a:pPr>
            <a:r>
              <a:rPr lang="en-GB" dirty="0"/>
              <a:t>The molar mass is numerically equivalent to the relative molecular mass, </a:t>
            </a:r>
            <a:r>
              <a:rPr lang="en-GB" i="1" dirty="0"/>
              <a:t>M</a:t>
            </a:r>
            <a:r>
              <a:rPr lang="en-GB" baseline="-25000" dirty="0"/>
              <a:t>r</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Beware:</a:t>
            </a:r>
            <a:r>
              <a:rPr lang="en-GB" dirty="0"/>
              <a:t> The relative molecular mass (</a:t>
            </a:r>
            <a:r>
              <a:rPr lang="en-GB" i="1" dirty="0"/>
              <a:t>M</a:t>
            </a:r>
            <a:r>
              <a:rPr lang="en-GB" baseline="-25000" dirty="0"/>
              <a:t>r</a:t>
            </a:r>
            <a:r>
              <a:rPr lang="en-GB" dirty="0"/>
              <a:t>) is a </a:t>
            </a:r>
            <a:r>
              <a:rPr lang="en-GB" b="1" dirty="0"/>
              <a:t>dimensionless </a:t>
            </a:r>
            <a:r>
              <a:rPr lang="en-GB" dirty="0"/>
              <a:t>number calculated from atomic masses. The molar mass (M) has </a:t>
            </a:r>
            <a:r>
              <a:rPr lang="en-GB" b="1" dirty="0"/>
              <a:t>units</a:t>
            </a:r>
            <a:r>
              <a:rPr lang="en-GB" dirty="0"/>
              <a:t> of g mol⁻¹ and is used in stoichiometric calculations. The numbers are the same but serve different purposes, so don’t confuse </a:t>
            </a:r>
            <a:r>
              <a:rPr lang="en-GB" i="1" dirty="0"/>
              <a:t>M</a:t>
            </a:r>
            <a:r>
              <a:rPr lang="en-GB" baseline="-25000" dirty="0"/>
              <a:t>r</a:t>
            </a:r>
            <a:r>
              <a:rPr lang="en-GB" dirty="0"/>
              <a:t> = 180.157 with </a:t>
            </a:r>
            <a:r>
              <a:rPr lang="en-GB" i="1" dirty="0"/>
              <a:t>M</a:t>
            </a:r>
            <a:r>
              <a:rPr lang="en-GB" dirty="0"/>
              <a:t> = 180.157 g mol⁻¹ in your calculations.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57747F-3FF7-5C70-EEA3-7851871E16B1}"/>
                  </a:ext>
                </a:extLst>
              </p:cNvPr>
              <p:cNvSpPr txBox="1"/>
              <p:nvPr/>
            </p:nvSpPr>
            <p:spPr>
              <a:xfrm>
                <a:off x="1365812" y="2419725"/>
                <a:ext cx="705321" cy="472565"/>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𝑚</m:t>
                          </m:r>
                        </m:num>
                        <m:den>
                          <m:r>
                            <a:rPr lang="en-GB" b="0" i="1" smtClean="0">
                              <a:latin typeface="Cambria Math" panose="02040503050406030204" pitchFamily="18" charset="0"/>
                            </a:rPr>
                            <m:t>𝑀</m:t>
                          </m:r>
                        </m:den>
                      </m:f>
                    </m:oMath>
                  </m:oMathPara>
                </a14:m>
                <a:endParaRPr lang="en-GB" dirty="0"/>
              </a:p>
            </p:txBody>
          </p:sp>
        </mc:Choice>
        <mc:Fallback xmlns="">
          <p:sp>
            <p:nvSpPr>
              <p:cNvPr id="7" name="TextBox 6">
                <a:extLst>
                  <a:ext uri="{FF2B5EF4-FFF2-40B4-BE49-F238E27FC236}">
                    <a16:creationId xmlns:a16="http://schemas.microsoft.com/office/drawing/2014/main" id="{AB57747F-3FF7-5C70-EEA3-7851871E16B1}"/>
                  </a:ext>
                </a:extLst>
              </p:cNvPr>
              <p:cNvSpPr txBox="1">
                <a:spLocks noRot="1" noChangeAspect="1" noMove="1" noResize="1" noEditPoints="1" noAdjustHandles="1" noChangeArrowheads="1" noChangeShapeType="1" noTextEdit="1"/>
              </p:cNvSpPr>
              <p:nvPr/>
            </p:nvSpPr>
            <p:spPr>
              <a:xfrm>
                <a:off x="1365812" y="2419725"/>
                <a:ext cx="705321" cy="472565"/>
              </a:xfrm>
              <a:prstGeom prst="rect">
                <a:avLst/>
              </a:prstGeom>
              <a:blipFill>
                <a:blip r:embed="rId2"/>
                <a:stretch>
                  <a:fillRect l="-3509" r="-5263" b="-157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1A8706-B4E3-9AD6-4273-E9F3D288C1BF}"/>
                  </a:ext>
                </a:extLst>
              </p:cNvPr>
              <p:cNvSpPr txBox="1"/>
              <p:nvPr/>
            </p:nvSpPr>
            <p:spPr>
              <a:xfrm>
                <a:off x="10111848" y="2656008"/>
                <a:ext cx="1023614" cy="58791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𝑚</m:t>
                              </m:r>
                            </m:e>
                          </m:d>
                        </m:num>
                        <m:den>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𝑀</m:t>
                              </m:r>
                            </m:e>
                          </m:d>
                        </m:den>
                      </m:f>
                    </m:oMath>
                  </m:oMathPara>
                </a14:m>
                <a:endParaRPr lang="en-GB" dirty="0"/>
              </a:p>
            </p:txBody>
          </p:sp>
        </mc:Choice>
        <mc:Fallback xmlns="">
          <p:sp>
            <p:nvSpPr>
              <p:cNvPr id="8" name="TextBox 7">
                <a:extLst>
                  <a:ext uri="{FF2B5EF4-FFF2-40B4-BE49-F238E27FC236}">
                    <a16:creationId xmlns:a16="http://schemas.microsoft.com/office/drawing/2014/main" id="{AB1A8706-B4E3-9AD6-4273-E9F3D288C1BF}"/>
                  </a:ext>
                </a:extLst>
              </p:cNvPr>
              <p:cNvSpPr txBox="1">
                <a:spLocks noRot="1" noChangeAspect="1" noMove="1" noResize="1" noEditPoints="1" noAdjustHandles="1" noChangeArrowheads="1" noChangeShapeType="1" noTextEdit="1"/>
              </p:cNvSpPr>
              <p:nvPr/>
            </p:nvSpPr>
            <p:spPr>
              <a:xfrm>
                <a:off x="10111848" y="2656008"/>
                <a:ext cx="1023614" cy="587918"/>
              </a:xfrm>
              <a:prstGeom prst="rect">
                <a:avLst/>
              </a:prstGeom>
              <a:blipFill>
                <a:blip r:embed="rId3"/>
                <a:stretch>
                  <a:fillRect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EC4A54-EFB5-5641-80A9-7B2EBD8EDFA6}"/>
                  </a:ext>
                </a:extLst>
              </p:cNvPr>
              <p:cNvSpPr txBox="1"/>
              <p:nvPr/>
            </p:nvSpPr>
            <p:spPr>
              <a:xfrm>
                <a:off x="10111848" y="3502094"/>
                <a:ext cx="1513171" cy="522964"/>
              </a:xfrm>
              <a:prstGeom prst="rect">
                <a:avLst/>
              </a:prstGeom>
              <a:noFill/>
            </p:spPr>
            <p:txBody>
              <a:bodyPr wrap="non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mol</m:t>
                      </m:r>
                      <m:r>
                        <a:rPr lang="en-GB" b="0" i="1" smtClean="0">
                          <a:latin typeface="Cambria Math" panose="02040503050406030204" pitchFamily="18" charset="0"/>
                        </a:rPr>
                        <m:t>=</m:t>
                      </m:r>
                      <m:f>
                        <m:fPr>
                          <m:ctrlPr>
                            <a:rPr lang="en-GB" b="0" i="0" smtClean="0">
                              <a:latin typeface="Cambria Math" panose="02040503050406030204" pitchFamily="18" charset="0"/>
                            </a:rPr>
                          </m:ctrlPr>
                        </m:fPr>
                        <m:num>
                          <m:r>
                            <m:rPr>
                              <m:nor/>
                            </m:rPr>
                            <a:rPr lang="en-GB" b="0" i="0" smtClean="0">
                              <a:latin typeface="Cambria Math" panose="02040503050406030204" pitchFamily="18" charset="0"/>
                            </a:rPr>
                            <m:t>g</m:t>
                          </m:r>
                        </m:num>
                        <m:den>
                          <m:sSup>
                            <m:sSupPr>
                              <m:ctrlPr>
                                <a:rPr lang="en-GB" b="0" i="0" smtClean="0">
                                  <a:latin typeface="Cambria Math" panose="02040503050406030204" pitchFamily="18" charset="0"/>
                                </a:rPr>
                              </m:ctrlPr>
                            </m:sSupPr>
                            <m:e>
                              <m:r>
                                <m:rPr>
                                  <m:nor/>
                                </m:rPr>
                                <a:rPr lang="en-GB" b="0" i="0" smtClean="0">
                                  <a:latin typeface="Cambria Math" panose="02040503050406030204" pitchFamily="18" charset="0"/>
                                </a:rPr>
                                <m:t>g mol</m:t>
                              </m:r>
                            </m:e>
                            <m:sup>
                              <m:r>
                                <a:rPr lang="en-GB" b="0" i="1" smtClean="0">
                                  <a:latin typeface="Cambria Math" panose="02040503050406030204" pitchFamily="18" charset="0"/>
                                </a:rPr>
                                <m:t>−1</m:t>
                              </m:r>
                            </m:sup>
                          </m:sSup>
                        </m:den>
                      </m:f>
                    </m:oMath>
                  </m:oMathPara>
                </a14:m>
                <a:endParaRPr lang="en-GB" dirty="0"/>
              </a:p>
            </p:txBody>
          </p:sp>
        </mc:Choice>
        <mc:Fallback xmlns="">
          <p:sp>
            <p:nvSpPr>
              <p:cNvPr id="9" name="TextBox 8">
                <a:extLst>
                  <a:ext uri="{FF2B5EF4-FFF2-40B4-BE49-F238E27FC236}">
                    <a16:creationId xmlns:a16="http://schemas.microsoft.com/office/drawing/2014/main" id="{0FEC4A54-EFB5-5641-80A9-7B2EBD8EDFA6}"/>
                  </a:ext>
                </a:extLst>
              </p:cNvPr>
              <p:cNvSpPr txBox="1">
                <a:spLocks noRot="1" noChangeAspect="1" noMove="1" noResize="1" noEditPoints="1" noAdjustHandles="1" noChangeArrowheads="1" noChangeShapeType="1" noTextEdit="1"/>
              </p:cNvSpPr>
              <p:nvPr/>
            </p:nvSpPr>
            <p:spPr>
              <a:xfrm>
                <a:off x="10111848" y="3502094"/>
                <a:ext cx="1513171" cy="522964"/>
              </a:xfrm>
              <a:prstGeom prst="rect">
                <a:avLst/>
              </a:prstGeom>
              <a:blipFill>
                <a:blip r:embed="rId4"/>
                <a:stretch>
                  <a:fillRect l="-3333" t="-2381" b="-21429"/>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027F5439-CF96-C4D4-6D7D-F4E538C0D569}"/>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419116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0AF6-EC70-CAB8-27BE-1B16BA8FF5C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87DD7C9-F0F8-A4B7-A447-537BDFC56064}"/>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F150CC6F-1821-FC4A-CE04-FBE169BC2521}"/>
              </a:ext>
            </a:extLst>
          </p:cNvPr>
          <p:cNvSpPr>
            <a:spLocks noGrp="1"/>
          </p:cNvSpPr>
          <p:nvPr>
            <p:ph type="title"/>
          </p:nvPr>
        </p:nvSpPr>
        <p:spPr/>
        <p:txBody>
          <a:bodyPr/>
          <a:lstStyle/>
          <a:p>
            <a:r>
              <a:rPr lang="en-GB" dirty="0"/>
              <a:t>Calculations involving liquids</a:t>
            </a:r>
          </a:p>
        </p:txBody>
      </p:sp>
      <p:sp>
        <p:nvSpPr>
          <p:cNvPr id="6" name="Table Placeholder 5">
            <a:extLst>
              <a:ext uri="{FF2B5EF4-FFF2-40B4-BE49-F238E27FC236}">
                <a16:creationId xmlns:a16="http://schemas.microsoft.com/office/drawing/2014/main" id="{1EDA84B7-8C18-205D-5CEF-8274905FE94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mass</a:t>
            </a:r>
            <a:r>
              <a:rPr lang="en-GB" dirty="0"/>
              <a:t> of a substance, </a:t>
            </a:r>
            <a:r>
              <a:rPr lang="en-GB" i="1" dirty="0"/>
              <a:t>m</a:t>
            </a:r>
            <a:r>
              <a:rPr lang="en-GB" dirty="0"/>
              <a:t>, can be calculated if its </a:t>
            </a:r>
            <a:r>
              <a:rPr lang="en-GB" b="1" dirty="0"/>
              <a:t>volume</a:t>
            </a:r>
            <a:r>
              <a:rPr lang="en-GB" dirty="0"/>
              <a:t>, </a:t>
            </a:r>
            <a:r>
              <a:rPr lang="en-GB" i="1" dirty="0"/>
              <a:t>V</a:t>
            </a:r>
            <a:r>
              <a:rPr lang="en-GB" dirty="0"/>
              <a:t>,</a:t>
            </a:r>
            <a:br>
              <a:rPr lang="en-GB" dirty="0"/>
            </a:br>
            <a:r>
              <a:rPr lang="en-GB" dirty="0"/>
              <a:t>and </a:t>
            </a:r>
            <a:r>
              <a:rPr lang="en-GB" b="1" dirty="0"/>
              <a:t>density</a:t>
            </a:r>
            <a:r>
              <a:rPr lang="en-GB" dirty="0"/>
              <a:t>, </a:t>
            </a:r>
            <a:r>
              <a:rPr lang="el-GR" i="1" dirty="0"/>
              <a:t>ρ</a:t>
            </a:r>
            <a:r>
              <a:rPr lang="en-GB" dirty="0"/>
              <a:t>, are known (</a:t>
            </a:r>
            <a:r>
              <a:rPr lang="el-GR" i="1" dirty="0"/>
              <a:t>ρ</a:t>
            </a:r>
            <a:r>
              <a:rPr lang="el-GR" dirty="0"/>
              <a:t> i</a:t>
            </a:r>
            <a:r>
              <a:rPr lang="en-GB" dirty="0"/>
              <a:t>s the Greek letter rho):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Density typically has units of g mL</a:t>
            </a:r>
            <a:r>
              <a:rPr lang="en-GB" baseline="30000" dirty="0"/>
              <a:t>-1</a:t>
            </a:r>
            <a:r>
              <a:rPr lang="en-GB" dirty="0"/>
              <a:t> or g cm</a:t>
            </a:r>
            <a:r>
              <a:rPr lang="en-GB" baseline="30000" dirty="0"/>
              <a:t>-3</a:t>
            </a:r>
          </a:p>
          <a:p>
            <a:pPr marL="861750" lvl="1" indent="-285750">
              <a:buFont typeface="Arial" panose="020B0604020202020204" pitchFamily="34" charset="0"/>
              <a:buChar char="•"/>
            </a:pPr>
            <a:r>
              <a:rPr lang="en-GB" dirty="0"/>
              <a:t>N.B. these are the same because 1 mL = 1 cm</a:t>
            </a:r>
            <a:r>
              <a:rPr lang="en-GB" baseline="30000" dirty="0"/>
              <a:t>3</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Useful to remember: the density of </a:t>
            </a:r>
            <a:r>
              <a:rPr lang="en-GB" b="1" dirty="0"/>
              <a:t>water</a:t>
            </a:r>
            <a:r>
              <a:rPr lang="en-GB" dirty="0"/>
              <a:t> is 1 g mL</a:t>
            </a:r>
            <a:r>
              <a:rPr lang="en-GB" baseline="30000" dirty="0"/>
              <a:t>-1</a:t>
            </a:r>
            <a:r>
              <a:rPr lang="en-GB" dirty="0"/>
              <a:t> (at 4ºC)</a:t>
            </a:r>
          </a:p>
          <a:p>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CEE315-7348-59F5-DA70-C99C4536F760}"/>
                  </a:ext>
                </a:extLst>
              </p:cNvPr>
              <p:cNvSpPr txBox="1"/>
              <p:nvPr/>
            </p:nvSpPr>
            <p:spPr>
              <a:xfrm>
                <a:off x="1365812" y="2536627"/>
                <a:ext cx="844847"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𝜌</m:t>
                      </m:r>
                      <m:r>
                        <a:rPr lang="en-GB" b="0" i="1" smtClean="0">
                          <a:latin typeface="Cambria Math" panose="02040503050406030204" pitchFamily="18" charset="0"/>
                        </a:rPr>
                        <m:t>𝑉</m:t>
                      </m:r>
                    </m:oMath>
                  </m:oMathPara>
                </a14:m>
                <a:endParaRPr lang="en-GB" dirty="0"/>
              </a:p>
            </p:txBody>
          </p:sp>
        </mc:Choice>
        <mc:Fallback xmlns="">
          <p:sp>
            <p:nvSpPr>
              <p:cNvPr id="7" name="TextBox 6">
                <a:extLst>
                  <a:ext uri="{FF2B5EF4-FFF2-40B4-BE49-F238E27FC236}">
                    <a16:creationId xmlns:a16="http://schemas.microsoft.com/office/drawing/2014/main" id="{34CEE315-7348-59F5-DA70-C99C4536F760}"/>
                  </a:ext>
                </a:extLst>
              </p:cNvPr>
              <p:cNvSpPr txBox="1">
                <a:spLocks noRot="1" noChangeAspect="1" noMove="1" noResize="1" noEditPoints="1" noAdjustHandles="1" noChangeArrowheads="1" noChangeShapeType="1" noTextEdit="1"/>
              </p:cNvSpPr>
              <p:nvPr/>
            </p:nvSpPr>
            <p:spPr>
              <a:xfrm>
                <a:off x="1365812" y="2536627"/>
                <a:ext cx="844847" cy="276999"/>
              </a:xfrm>
              <a:prstGeom prst="rect">
                <a:avLst/>
              </a:prstGeom>
              <a:blipFill>
                <a:blip r:embed="rId2"/>
                <a:stretch>
                  <a:fillRect l="-2941" r="-7353"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BF2C41-5849-1A4D-F61F-9EC75E9A2FE2}"/>
                  </a:ext>
                </a:extLst>
              </p:cNvPr>
              <p:cNvSpPr txBox="1"/>
              <p:nvPr/>
            </p:nvSpPr>
            <p:spPr>
              <a:xfrm>
                <a:off x="10111848" y="2656008"/>
                <a:ext cx="1331134" cy="276999"/>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𝑚</m:t>
                          </m:r>
                        </m:e>
                      </m:d>
                      <m:r>
                        <a:rPr lang="en-GB" b="0" i="1" smtClean="0">
                          <a:latin typeface="Cambria Math" panose="02040503050406030204" pitchFamily="18" charset="0"/>
                        </a:rPr>
                        <m:t>=</m:t>
                      </m:r>
                      <m:d>
                        <m:dPr>
                          <m:begChr m:val="["/>
                          <m:endChr m:val="]"/>
                          <m:ctrlPr>
                            <a:rPr lang="el-GR" b="0" i="1" smtClean="0">
                              <a:latin typeface="Cambria Math" panose="02040503050406030204" pitchFamily="18" charset="0"/>
                            </a:rPr>
                          </m:ctrlPr>
                        </m:dPr>
                        <m:e>
                          <m:r>
                            <a:rPr lang="el-GR" b="0" i="1" smtClean="0">
                              <a:latin typeface="Cambria Math" panose="02040503050406030204" pitchFamily="18" charset="0"/>
                            </a:rPr>
                            <m:t>𝜌</m:t>
                          </m:r>
                        </m:e>
                      </m:d>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𝑉</m:t>
                          </m:r>
                        </m:e>
                      </m:d>
                    </m:oMath>
                  </m:oMathPara>
                </a14:m>
                <a:endParaRPr lang="en-GB" dirty="0"/>
              </a:p>
            </p:txBody>
          </p:sp>
        </mc:Choice>
        <mc:Fallback xmlns="">
          <p:sp>
            <p:nvSpPr>
              <p:cNvPr id="8" name="TextBox 7">
                <a:extLst>
                  <a:ext uri="{FF2B5EF4-FFF2-40B4-BE49-F238E27FC236}">
                    <a16:creationId xmlns:a16="http://schemas.microsoft.com/office/drawing/2014/main" id="{01BF2C41-5849-1A4D-F61F-9EC75E9A2FE2}"/>
                  </a:ext>
                </a:extLst>
              </p:cNvPr>
              <p:cNvSpPr txBox="1">
                <a:spLocks noRot="1" noChangeAspect="1" noMove="1" noResize="1" noEditPoints="1" noAdjustHandles="1" noChangeArrowheads="1" noChangeShapeType="1" noTextEdit="1"/>
              </p:cNvSpPr>
              <p:nvPr/>
            </p:nvSpPr>
            <p:spPr>
              <a:xfrm>
                <a:off x="10111848" y="2656008"/>
                <a:ext cx="1331134" cy="276999"/>
              </a:xfrm>
              <a:prstGeom prst="rect">
                <a:avLst/>
              </a:prstGeom>
              <a:blipFill>
                <a:blip r:embed="rId3"/>
                <a:stretch>
                  <a:fillRect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66CC66-5ADB-5845-DBD3-955B51EFDFFE}"/>
                  </a:ext>
                </a:extLst>
              </p:cNvPr>
              <p:cNvSpPr txBox="1"/>
              <p:nvPr/>
            </p:nvSpPr>
            <p:spPr>
              <a:xfrm>
                <a:off x="10111848" y="3502094"/>
                <a:ext cx="1417055" cy="472565"/>
              </a:xfrm>
              <a:prstGeom prst="rect">
                <a:avLst/>
              </a:prstGeom>
              <a:noFill/>
            </p:spPr>
            <p:txBody>
              <a:bodyPr wrap="non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g</m:t>
                      </m:r>
                      <m:r>
                        <a:rPr lang="en-GB" b="0" i="1" smtClean="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g</m:t>
                          </m:r>
                        </m:num>
                        <m:den>
                          <m:r>
                            <m:rPr>
                              <m:nor/>
                            </m:rPr>
                            <a:rPr lang="en-GB" i="0">
                              <a:latin typeface="Cambria Math" panose="02040503050406030204" pitchFamily="18" charset="0"/>
                            </a:rPr>
                            <m:t>mL</m:t>
                          </m:r>
                        </m:den>
                      </m:f>
                      <m:r>
                        <a:rPr lang="en-GB" b="0" i="1" smtClean="0">
                          <a:latin typeface="Cambria Math" panose="02040503050406030204" pitchFamily="18" charset="0"/>
                        </a:rPr>
                        <m:t> × </m:t>
                      </m:r>
                      <m:r>
                        <m:rPr>
                          <m:nor/>
                        </m:rPr>
                        <a:rPr lang="en-GB" b="0" i="0" smtClean="0">
                          <a:latin typeface="Cambria Math" panose="02040503050406030204" pitchFamily="18" charset="0"/>
                        </a:rPr>
                        <m:t>mL</m:t>
                      </m:r>
                    </m:oMath>
                  </m:oMathPara>
                </a14:m>
                <a:endParaRPr lang="en-GB" dirty="0"/>
              </a:p>
            </p:txBody>
          </p:sp>
        </mc:Choice>
        <mc:Fallback xmlns="">
          <p:sp>
            <p:nvSpPr>
              <p:cNvPr id="9" name="TextBox 8">
                <a:extLst>
                  <a:ext uri="{FF2B5EF4-FFF2-40B4-BE49-F238E27FC236}">
                    <a16:creationId xmlns:a16="http://schemas.microsoft.com/office/drawing/2014/main" id="{FE66CC66-5ADB-5845-DBD3-955B51EFDFFE}"/>
                  </a:ext>
                </a:extLst>
              </p:cNvPr>
              <p:cNvSpPr txBox="1">
                <a:spLocks noRot="1" noChangeAspect="1" noMove="1" noResize="1" noEditPoints="1" noAdjustHandles="1" noChangeArrowheads="1" noChangeShapeType="1" noTextEdit="1"/>
              </p:cNvSpPr>
              <p:nvPr/>
            </p:nvSpPr>
            <p:spPr>
              <a:xfrm>
                <a:off x="10111848" y="3502094"/>
                <a:ext cx="1417055" cy="472565"/>
              </a:xfrm>
              <a:prstGeom prst="rect">
                <a:avLst/>
              </a:prstGeom>
              <a:blipFill>
                <a:blip r:embed="rId4"/>
                <a:stretch>
                  <a:fillRect l="-3571" t="-2632" r="-3571" b="-18421"/>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399425DC-E6B9-8C49-D2CB-FD093260594E}"/>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799247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C976-F397-360F-D59E-A132CE6E16C9}"/>
              </a:ext>
            </a:extLst>
          </p:cNvPr>
          <p:cNvSpPr>
            <a:spLocks noGrp="1"/>
          </p:cNvSpPr>
          <p:nvPr>
            <p:ph type="title"/>
          </p:nvPr>
        </p:nvSpPr>
        <p:spPr/>
        <p:txBody>
          <a:bodyPr/>
          <a:lstStyle/>
          <a:p>
            <a:r>
              <a:rPr lang="en-GB" dirty="0" err="1"/>
              <a:t>Mentimeter</a:t>
            </a:r>
            <a:endParaRPr lang="en-GB" dirty="0"/>
          </a:p>
        </p:txBody>
      </p:sp>
      <p:sp>
        <p:nvSpPr>
          <p:cNvPr id="6" name="Subtitle 5">
            <a:extLst>
              <a:ext uri="{FF2B5EF4-FFF2-40B4-BE49-F238E27FC236}">
                <a16:creationId xmlns:a16="http://schemas.microsoft.com/office/drawing/2014/main" id="{B2E991CF-FF57-AAE4-8615-66885842EE97}"/>
              </a:ext>
            </a:extLst>
          </p:cNvPr>
          <p:cNvSpPr>
            <a:spLocks noGrp="1"/>
          </p:cNvSpPr>
          <p:nvPr>
            <p:ph type="subTitle" idx="10"/>
          </p:nvPr>
        </p:nvSpPr>
        <p:spPr/>
        <p:txBody>
          <a:bodyPr/>
          <a:lstStyle/>
          <a:p>
            <a:r>
              <a:rPr lang="en-GB" dirty="0"/>
              <a:t>Test your intuition…</a:t>
            </a:r>
          </a:p>
        </p:txBody>
      </p:sp>
    </p:spTree>
    <p:extLst>
      <p:ext uri="{BB962C8B-B14F-4D97-AF65-F5344CB8AC3E}">
        <p14:creationId xmlns:p14="http://schemas.microsoft.com/office/powerpoint/2010/main" val="1961194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C796F6-90D7-B2BA-6B39-C45A064A2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31271-9BC5-F75B-1FB4-F2B7A8EDFDB5}"/>
              </a:ext>
            </a:extLst>
          </p:cNvPr>
          <p:cNvSpPr>
            <a:spLocks noGrp="1"/>
          </p:cNvSpPr>
          <p:nvPr>
            <p:ph type="title"/>
          </p:nvPr>
        </p:nvSpPr>
        <p:spPr/>
        <p:txBody>
          <a:bodyPr/>
          <a:lstStyle/>
          <a:p>
            <a:r>
              <a:rPr lang="en-GB" dirty="0" err="1"/>
              <a:t>Mentimeter</a:t>
            </a:r>
            <a:r>
              <a:rPr lang="en-GB" dirty="0"/>
              <a:t>: test your intuition…</a:t>
            </a:r>
          </a:p>
        </p:txBody>
      </p:sp>
      <p:sp>
        <p:nvSpPr>
          <p:cNvPr id="3" name="Table Placeholder 2">
            <a:extLst>
              <a:ext uri="{FF2B5EF4-FFF2-40B4-BE49-F238E27FC236}">
                <a16:creationId xmlns:a16="http://schemas.microsoft.com/office/drawing/2014/main" id="{53CA5E84-B4A0-5843-D041-B6E33C8E7969}"/>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How many moles are in these common items?</a:t>
            </a:r>
          </a:p>
          <a:p>
            <a:pPr marL="861750" lvl="1" indent="-285750">
              <a:buFont typeface="Arial" panose="020B0604020202020204" pitchFamily="34" charset="0"/>
              <a:buChar char="•"/>
            </a:pPr>
            <a:r>
              <a:rPr lang="en-GB" dirty="0"/>
              <a:t>20 mL water</a:t>
            </a:r>
          </a:p>
          <a:p>
            <a:pPr marL="861750" lvl="1" indent="-285750">
              <a:buFont typeface="Arial" panose="020B0604020202020204" pitchFamily="34" charset="0"/>
              <a:buChar char="•"/>
            </a:pPr>
            <a:r>
              <a:rPr lang="en-GB" dirty="0"/>
              <a:t>Ethanol in one shot of vodka</a:t>
            </a:r>
          </a:p>
          <a:p>
            <a:pPr marL="861750" lvl="1" indent="-285750">
              <a:buFont typeface="Arial" panose="020B0604020202020204" pitchFamily="34" charset="0"/>
              <a:buChar char="•"/>
            </a:pPr>
            <a:r>
              <a:rPr lang="en-GB" dirty="0"/>
              <a:t>Aspirin in a 300 mg tablet</a:t>
            </a:r>
          </a:p>
          <a:p>
            <a:pPr marL="285750" indent="-285750">
              <a:buFont typeface="Arial" panose="020B0604020202020204" pitchFamily="34" charset="0"/>
              <a:buChar char="•"/>
            </a:pPr>
            <a:r>
              <a:rPr lang="en-GB" dirty="0"/>
              <a:t>How many molecules of aspirin will be found in a ‘typical’ cell after taking one tablet?</a:t>
            </a:r>
          </a:p>
          <a:p>
            <a:pPr marL="285750" indent="-285750">
              <a:buFont typeface="Arial" panose="020B0604020202020204" pitchFamily="34" charset="0"/>
              <a:buChar char="•"/>
            </a:pPr>
            <a:r>
              <a:rPr lang="en-GB" dirty="0"/>
              <a:t>What is the molar concentration of water?</a:t>
            </a:r>
          </a:p>
          <a:p>
            <a:pPr marL="285750" indent="-285750">
              <a:buFont typeface="Arial" panose="020B0604020202020204" pitchFamily="34" charset="0"/>
              <a:buChar char="•"/>
            </a:pPr>
            <a:r>
              <a:rPr lang="en-GB" dirty="0"/>
              <a:t>Volume of contraction of ethanol?</a:t>
            </a:r>
          </a:p>
        </p:txBody>
      </p:sp>
    </p:spTree>
    <p:extLst>
      <p:ext uri="{BB962C8B-B14F-4D97-AF65-F5344CB8AC3E}">
        <p14:creationId xmlns:p14="http://schemas.microsoft.com/office/powerpoint/2010/main" val="19095162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6F0A7-2825-B94C-8609-EA5EB7E64A54}"/>
              </a:ext>
            </a:extLst>
          </p:cNvPr>
          <p:cNvSpPr>
            <a:spLocks noGrp="1"/>
          </p:cNvSpPr>
          <p:nvPr>
            <p:ph type="title"/>
          </p:nvPr>
        </p:nvSpPr>
        <p:spPr/>
        <p:txBody>
          <a:bodyPr/>
          <a:lstStyle/>
          <a:p>
            <a:r>
              <a:rPr lang="en-GB" dirty="0"/>
              <a:t>How to problem solve</a:t>
            </a:r>
          </a:p>
        </p:txBody>
      </p:sp>
      <p:sp>
        <p:nvSpPr>
          <p:cNvPr id="3" name="Table Placeholder 2">
            <a:extLst>
              <a:ext uri="{FF2B5EF4-FFF2-40B4-BE49-F238E27FC236}">
                <a16:creationId xmlns:a16="http://schemas.microsoft.com/office/drawing/2014/main" id="{CE7A33EA-8DD1-CB8A-88DA-CA6FA5289E2A}"/>
              </a:ext>
            </a:extLst>
          </p:cNvPr>
          <p:cNvSpPr>
            <a:spLocks noGrp="1"/>
          </p:cNvSpPr>
          <p:nvPr>
            <p:ph type="tbl" sz="quarter" idx="10"/>
          </p:nvPr>
        </p:nvSpPr>
        <p:spPr/>
        <p:txBody>
          <a:bodyPr/>
          <a:lstStyle/>
          <a:p>
            <a:pPr marL="342900" indent="-342900">
              <a:buAutoNum type="arabicPeriod"/>
            </a:pPr>
            <a:r>
              <a:rPr lang="en-GB" b="1" dirty="0"/>
              <a:t>Read &amp; Identify</a:t>
            </a:r>
          </a:p>
          <a:p>
            <a:pPr marL="918900" lvl="1" indent="-342900"/>
            <a:r>
              <a:rPr lang="en-GB" dirty="0"/>
              <a:t>What’s being asked?</a:t>
            </a:r>
          </a:p>
          <a:p>
            <a:pPr marL="918900" lvl="1" indent="-342900"/>
            <a:r>
              <a:rPr lang="en-GB" dirty="0"/>
              <a:t>What data is given?</a:t>
            </a:r>
          </a:p>
          <a:p>
            <a:pPr marL="342900" indent="-342900">
              <a:buAutoNum type="arabicPeriod"/>
            </a:pPr>
            <a:r>
              <a:rPr lang="en-GB" b="1" dirty="0"/>
              <a:t>Estimate</a:t>
            </a:r>
          </a:p>
          <a:p>
            <a:pPr marL="918900" lvl="1" indent="-342900"/>
            <a:r>
              <a:rPr lang="en-GB" dirty="0"/>
              <a:t>What would a reasonable answer look like?</a:t>
            </a:r>
          </a:p>
          <a:p>
            <a:pPr marL="342900" indent="-342900">
              <a:buAutoNum type="arabicPeriod"/>
            </a:pPr>
            <a:r>
              <a:rPr lang="en-GB" b="1" dirty="0"/>
              <a:t>Plan</a:t>
            </a:r>
          </a:p>
          <a:p>
            <a:pPr marL="918900" lvl="1" indent="-342900"/>
            <a:r>
              <a:rPr lang="en-GB" dirty="0"/>
              <a:t>What approach or equation(s) do I need? </a:t>
            </a:r>
          </a:p>
          <a:p>
            <a:pPr marL="342900" indent="-342900">
              <a:buAutoNum type="arabicPeriod"/>
            </a:pPr>
            <a:r>
              <a:rPr lang="en-GB" b="1" dirty="0"/>
              <a:t>Execute</a:t>
            </a:r>
          </a:p>
          <a:p>
            <a:pPr marL="918900" lvl="1" indent="-342900"/>
            <a:r>
              <a:rPr lang="en-GB" dirty="0"/>
              <a:t>Show the calculation </a:t>
            </a:r>
            <a:r>
              <a:rPr lang="en-GB" b="1" dirty="0"/>
              <a:t>with units</a:t>
            </a:r>
          </a:p>
          <a:p>
            <a:pPr marL="342900" indent="-342900">
              <a:buAutoNum type="arabicPeriod"/>
            </a:pPr>
            <a:r>
              <a:rPr lang="en-GB" b="1" dirty="0"/>
              <a:t>Check</a:t>
            </a:r>
          </a:p>
          <a:p>
            <a:pPr marL="918900" lvl="1" indent="-342900"/>
            <a:r>
              <a:rPr lang="en-GB" dirty="0"/>
              <a:t>Does my answer make sense? Have I the right number of significant figures?</a:t>
            </a:r>
          </a:p>
        </p:txBody>
      </p:sp>
      <p:sp>
        <p:nvSpPr>
          <p:cNvPr id="4" name="Rectangle 3">
            <a:extLst>
              <a:ext uri="{FF2B5EF4-FFF2-40B4-BE49-F238E27FC236}">
                <a16:creationId xmlns:a16="http://schemas.microsoft.com/office/drawing/2014/main" id="{D04E658E-8D43-A08C-F96F-BAD5F8172432}"/>
              </a:ext>
            </a:extLst>
          </p:cNvPr>
          <p:cNvSpPr/>
          <p:nvPr/>
        </p:nvSpPr>
        <p:spPr>
          <a:xfrm>
            <a:off x="7278624" y="1808163"/>
            <a:ext cx="4578413" cy="242246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12E197F-78F5-8D5E-3953-9097838D48F7}"/>
              </a:ext>
            </a:extLst>
          </p:cNvPr>
          <p:cNvSpPr txBox="1"/>
          <p:nvPr/>
        </p:nvSpPr>
        <p:spPr>
          <a:xfrm>
            <a:off x="7473696" y="2017035"/>
            <a:ext cx="4210101" cy="2031325"/>
          </a:xfrm>
          <a:prstGeom prst="rect">
            <a:avLst/>
          </a:prstGeom>
          <a:noFill/>
        </p:spPr>
        <p:txBody>
          <a:bodyPr wrap="square" rtlCol="0">
            <a:spAutoFit/>
          </a:bodyPr>
          <a:lstStyle/>
          <a:p>
            <a:r>
              <a:rPr lang="en-GB" dirty="0"/>
              <a:t>The problems you’ll face will not involve particularly complicated maths!</a:t>
            </a:r>
          </a:p>
          <a:p>
            <a:endParaRPr lang="en-GB" dirty="0"/>
          </a:p>
          <a:p>
            <a:r>
              <a:rPr lang="en-GB" dirty="0"/>
              <a:t>BUT – calculations may have many steps and require you to synthesise a lot of information (some of which may not be relevant)!</a:t>
            </a:r>
          </a:p>
        </p:txBody>
      </p:sp>
    </p:spTree>
    <p:extLst>
      <p:ext uri="{BB962C8B-B14F-4D97-AF65-F5344CB8AC3E}">
        <p14:creationId xmlns:p14="http://schemas.microsoft.com/office/powerpoint/2010/main" val="2989463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0804-BF1A-6B40-C5E6-AEFDAA5692DF}"/>
              </a:ext>
            </a:extLst>
          </p:cNvPr>
          <p:cNvSpPr>
            <a:spLocks noGrp="1"/>
          </p:cNvSpPr>
          <p:nvPr>
            <p:ph type="title"/>
          </p:nvPr>
        </p:nvSpPr>
        <p:spPr/>
        <p:txBody>
          <a:bodyPr/>
          <a:lstStyle/>
          <a:p>
            <a:r>
              <a:rPr lang="en-GB" dirty="0"/>
              <a:t>Precision, accuracy and significant figures</a:t>
            </a:r>
          </a:p>
        </p:txBody>
      </p:sp>
      <p:sp>
        <p:nvSpPr>
          <p:cNvPr id="3" name="Table Placeholder 2">
            <a:extLst>
              <a:ext uri="{FF2B5EF4-FFF2-40B4-BE49-F238E27FC236}">
                <a16:creationId xmlns:a16="http://schemas.microsoft.com/office/drawing/2014/main" id="{94C42777-DA8C-3FB2-9E94-DF318A418A87}"/>
              </a:ext>
            </a:extLst>
          </p:cNvPr>
          <p:cNvSpPr>
            <a:spLocks noGrp="1"/>
          </p:cNvSpPr>
          <p:nvPr>
            <p:ph type="tbl" sz="quarter" idx="10"/>
          </p:nvPr>
        </p:nvSpPr>
        <p:spPr>
          <a:xfrm>
            <a:off x="334963" y="1385888"/>
            <a:ext cx="5176837" cy="5103812"/>
          </a:xfrm>
        </p:spPr>
        <p:txBody>
          <a:bodyPr/>
          <a:lstStyle/>
          <a:p>
            <a:r>
              <a:rPr lang="en-GB" b="1" dirty="0"/>
              <a:t>Accuracy </a:t>
            </a:r>
            <a:r>
              <a:rPr lang="en-GB" dirty="0"/>
              <a:t>= how close to the true value</a:t>
            </a:r>
          </a:p>
          <a:p>
            <a:r>
              <a:rPr lang="en-GB" b="1" dirty="0"/>
              <a:t>Precision </a:t>
            </a:r>
            <a:r>
              <a:rPr lang="en-GB" dirty="0"/>
              <a:t>= how reproducible/consistent you are</a:t>
            </a:r>
          </a:p>
          <a:p>
            <a:pPr marL="285750" indent="-285750">
              <a:buFont typeface="Arial" panose="020B0604020202020204" pitchFamily="34" charset="0"/>
              <a:buChar char="•"/>
            </a:pPr>
            <a:r>
              <a:rPr lang="en-GB" dirty="0"/>
              <a:t>You can be precise but inaccurate!</a:t>
            </a:r>
          </a:p>
          <a:p>
            <a:endParaRPr lang="en-GB" dirty="0"/>
          </a:p>
          <a:p>
            <a:r>
              <a:rPr lang="en-GB" b="1" dirty="0"/>
              <a:t>Significant figures reflect precision.</a:t>
            </a:r>
            <a:r>
              <a:rPr lang="en-GB" dirty="0"/>
              <a:t> </a:t>
            </a:r>
          </a:p>
          <a:p>
            <a:pPr marL="285750" indent="-285750">
              <a:buFont typeface="Arial" panose="020B0604020202020204" pitchFamily="34" charset="0"/>
              <a:buChar char="•"/>
            </a:pPr>
            <a:r>
              <a:rPr lang="en-GB" dirty="0"/>
              <a:t>2.1 g suggests ±0.1 g uncertainty</a:t>
            </a:r>
          </a:p>
          <a:p>
            <a:pPr marL="285750" indent="-285750">
              <a:buFont typeface="Arial" panose="020B0604020202020204" pitchFamily="34" charset="0"/>
              <a:buChar char="•"/>
            </a:pPr>
            <a:r>
              <a:rPr lang="en-GB" dirty="0"/>
              <a:t>2.10 g suggests ±0.01 g uncertainty</a:t>
            </a:r>
          </a:p>
          <a:p>
            <a:endParaRPr lang="en-GB" dirty="0"/>
          </a:p>
          <a:p>
            <a:r>
              <a:rPr lang="en-GB" dirty="0"/>
              <a:t>Your answer can’t be more precise than your data!</a:t>
            </a:r>
          </a:p>
          <a:p>
            <a:pPr marL="285750" indent="-285750">
              <a:buFont typeface="Arial" panose="020B0604020202020204" pitchFamily="34" charset="0"/>
              <a:buChar char="•"/>
            </a:pPr>
            <a:r>
              <a:rPr lang="en-GB" dirty="0"/>
              <a:t>If you measure 2.1 g, don't report 0.152174 mol</a:t>
            </a:r>
          </a:p>
          <a:p>
            <a:pPr marL="285750" indent="-285750">
              <a:buFont typeface="Arial" panose="020B0604020202020204" pitchFamily="34" charset="0"/>
              <a:buChar char="•"/>
            </a:pPr>
            <a:r>
              <a:rPr lang="en-GB" dirty="0"/>
              <a:t>Use the least precise measurement to guide your final answer</a:t>
            </a:r>
          </a:p>
        </p:txBody>
      </p:sp>
      <p:pic>
        <p:nvPicPr>
          <p:cNvPr id="13314" name="Picture 2" descr="precision and accuracy graphic">
            <a:extLst>
              <a:ext uri="{FF2B5EF4-FFF2-40B4-BE49-F238E27FC236}">
                <a16:creationId xmlns:a16="http://schemas.microsoft.com/office/drawing/2014/main" id="{69A8CD7E-29D3-9711-391B-7A1C7B9F8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60" t="1863" r="6479" b="745"/>
          <a:stretch>
            <a:fillRect/>
          </a:stretch>
        </p:blipFill>
        <p:spPr bwMode="auto">
          <a:xfrm>
            <a:off x="5755088" y="1808162"/>
            <a:ext cx="6228949" cy="443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913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73DEB-6A73-2DEE-9A4C-16A529AC1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67968-0BD2-B7E1-C5AB-C8F1C953AC72}"/>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AAE85EE1-2CA3-D061-6E4A-595AFE859C94}"/>
              </a:ext>
            </a:extLst>
          </p:cNvPr>
          <p:cNvSpPr>
            <a:spLocks noGrp="1"/>
          </p:cNvSpPr>
          <p:nvPr>
            <p:ph type="tbl" sz="quarter" idx="10"/>
          </p:nvPr>
        </p:nvSpPr>
        <p:spPr/>
        <p:txBody>
          <a:bodyPr/>
          <a:lstStyle/>
          <a:p>
            <a:r>
              <a:rPr lang="en-US" dirty="0"/>
              <a:t>Calculate the amount of aspirin (in mol) in a tablet containing 300 mg aspirin.</a:t>
            </a:r>
          </a:p>
          <a:p>
            <a:pPr marL="342900" indent="-342900">
              <a:buAutoNum type="arabicPeriod"/>
            </a:pPr>
            <a:endParaRPr lang="en-GB" b="1" dirty="0"/>
          </a:p>
          <a:p>
            <a:r>
              <a:rPr lang="en-GB" b="1" dirty="0"/>
              <a:t>1. Read &amp; Identify</a:t>
            </a:r>
          </a:p>
          <a:p>
            <a:pPr marL="918900" lvl="1" indent="-342900"/>
            <a:r>
              <a:rPr lang="en-GB" dirty="0"/>
              <a:t>What’s being asked? </a:t>
            </a:r>
            <a:r>
              <a:rPr lang="en-GB" i="1" dirty="0"/>
              <a:t>Number of moles</a:t>
            </a:r>
          </a:p>
          <a:p>
            <a:pPr marL="918900" lvl="1" indent="-342900"/>
            <a:r>
              <a:rPr lang="en-GB" dirty="0"/>
              <a:t>What data is given? </a:t>
            </a:r>
            <a:r>
              <a:rPr lang="en-GB" i="1" dirty="0"/>
              <a:t>Mass of aspirin, structure of aspirin</a:t>
            </a:r>
          </a:p>
          <a:p>
            <a:r>
              <a:rPr lang="en-GB" b="1" dirty="0"/>
              <a:t>2. Estimate</a:t>
            </a:r>
          </a:p>
          <a:p>
            <a:pPr marL="918900" lvl="1" indent="-342900"/>
            <a:r>
              <a:rPr lang="en-GB" dirty="0"/>
              <a:t>What would a reasonable answer look like? </a:t>
            </a:r>
            <a:r>
              <a:rPr lang="en-GB" i="1" dirty="0"/>
              <a:t>There’s roughly 0.1 g, and looking at the size of the structure, the molecular weight is probably around a hundred units – so expect something like 0.1 / 100 = 0.001 mol.</a:t>
            </a:r>
          </a:p>
          <a:p>
            <a:r>
              <a:rPr lang="en-GB" b="1" dirty="0"/>
              <a:t>3. Plan</a:t>
            </a:r>
          </a:p>
          <a:p>
            <a:pPr marL="918900" lvl="1" indent="-342900"/>
            <a:r>
              <a:rPr lang="en-GB" dirty="0"/>
              <a:t>What approach or equation(s) do I need? </a:t>
            </a:r>
          </a:p>
          <a:p>
            <a:pPr marL="342900" indent="-342900"/>
            <a:endParaRPr lang="en-GB" dirty="0"/>
          </a:p>
        </p:txBody>
      </p:sp>
      <p:graphicFrame>
        <p:nvGraphicFramePr>
          <p:cNvPr id="4" name="Object 8">
            <a:extLst>
              <a:ext uri="{FF2B5EF4-FFF2-40B4-BE49-F238E27FC236}">
                <a16:creationId xmlns:a16="http://schemas.microsoft.com/office/drawing/2014/main" id="{A1504A85-A99A-DB8F-E1A7-841C43B3D39F}"/>
              </a:ext>
            </a:extLst>
          </p:cNvPr>
          <p:cNvGraphicFramePr>
            <a:graphicFrameLocks noChangeAspect="1"/>
          </p:cNvGraphicFramePr>
          <p:nvPr>
            <p:extLst>
              <p:ext uri="{D42A27DB-BD31-4B8C-83A1-F6EECF244321}">
                <p14:modId xmlns:p14="http://schemas.microsoft.com/office/powerpoint/2010/main" val="2261154971"/>
              </p:ext>
            </p:extLst>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A1504A85-A99A-DB8F-E1A7-841C43B3D3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2656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F64C3-C2F9-8AEA-2C38-8D4AAE898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9DB48-8B8D-5220-517E-A8F2C699E8DA}"/>
              </a:ext>
            </a:extLst>
          </p:cNvPr>
          <p:cNvSpPr>
            <a:spLocks noGrp="1"/>
          </p:cNvSpPr>
          <p:nvPr>
            <p:ph type="title"/>
          </p:nvPr>
        </p:nvSpPr>
        <p:spPr/>
        <p:txBody>
          <a:bodyPr/>
          <a:lstStyle/>
          <a:p>
            <a:r>
              <a:rPr lang="en-GB" dirty="0"/>
              <a:t>How do you create a plan?</a:t>
            </a:r>
          </a:p>
        </p:txBody>
      </p:sp>
      <p:sp>
        <p:nvSpPr>
          <p:cNvPr id="26" name="Table Placeholder 25">
            <a:extLst>
              <a:ext uri="{FF2B5EF4-FFF2-40B4-BE49-F238E27FC236}">
                <a16:creationId xmlns:a16="http://schemas.microsoft.com/office/drawing/2014/main" id="{B79FABAF-027C-9E20-19F0-3F8D1BE4F9AC}"/>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Start at the </a:t>
            </a:r>
            <a:r>
              <a:rPr lang="en-GB" b="1" dirty="0">
                <a:solidFill>
                  <a:srgbClr val="FF0000"/>
                </a:solidFill>
              </a:rPr>
              <a:t>beginning </a:t>
            </a:r>
            <a:r>
              <a:rPr lang="en-GB" dirty="0"/>
              <a:t>– what information have you been given?</a:t>
            </a:r>
          </a:p>
          <a:p>
            <a:pPr marL="861750" lvl="1" indent="-285750">
              <a:buFont typeface="Arial" panose="020B0604020202020204" pitchFamily="34" charset="0"/>
              <a:buChar char="•"/>
            </a:pPr>
            <a:r>
              <a:rPr lang="en-GB" dirty="0"/>
              <a:t>Convert all quantities to standard units at the beginning of your calculation (e.g. mg to g)</a:t>
            </a:r>
          </a:p>
          <a:p>
            <a:pPr marL="285750" indent="-285750">
              <a:buFont typeface="Arial" panose="020B0604020202020204" pitchFamily="34" charset="0"/>
              <a:buChar char="•"/>
            </a:pPr>
            <a:r>
              <a:rPr lang="en-GB" dirty="0"/>
              <a:t>Start at the </a:t>
            </a:r>
            <a:r>
              <a:rPr lang="en-GB" b="1" dirty="0">
                <a:solidFill>
                  <a:schemeClr val="accent2"/>
                </a:solidFill>
              </a:rPr>
              <a:t>end </a:t>
            </a:r>
            <a:r>
              <a:rPr lang="en-GB" dirty="0"/>
              <a:t>– where do you want to get to?</a:t>
            </a:r>
          </a:p>
          <a:p>
            <a:pPr marL="861750" lvl="1" indent="-285750">
              <a:buFont typeface="Arial" panose="020B0604020202020204" pitchFamily="34" charset="0"/>
              <a:buChar char="•"/>
            </a:pPr>
            <a:r>
              <a:rPr lang="en-GB" dirty="0"/>
              <a:t>Convert any answers from standard units into the units requested (e.g. mol to mmol)</a:t>
            </a:r>
          </a:p>
          <a:p>
            <a:pPr marL="285750" indent="-285750">
              <a:buFont typeface="Arial" panose="020B0604020202020204" pitchFamily="34" charset="0"/>
              <a:buChar char="•"/>
            </a:pPr>
            <a:r>
              <a:rPr lang="en-GB" dirty="0"/>
              <a:t>Think about the </a:t>
            </a:r>
            <a:r>
              <a:rPr lang="en-GB" b="1" dirty="0">
                <a:solidFill>
                  <a:schemeClr val="accent6">
                    <a:lumMod val="50000"/>
                    <a:lumOff val="50000"/>
                  </a:schemeClr>
                </a:solidFill>
              </a:rPr>
              <a:t>process in between </a:t>
            </a:r>
            <a:r>
              <a:rPr lang="en-GB" dirty="0"/>
              <a:t>– apply your chemistry knowledge to work forwards/backwards</a:t>
            </a:r>
          </a:p>
        </p:txBody>
      </p:sp>
      <p:pic>
        <p:nvPicPr>
          <p:cNvPr id="27" name="Picture 26">
            <a:extLst>
              <a:ext uri="{FF2B5EF4-FFF2-40B4-BE49-F238E27FC236}">
                <a16:creationId xmlns:a16="http://schemas.microsoft.com/office/drawing/2014/main" id="{78F0DCB8-78B7-9366-793F-E21B1E10FC2B}"/>
              </a:ext>
            </a:extLst>
          </p:cNvPr>
          <p:cNvPicPr>
            <a:picLocks noChangeAspect="1"/>
          </p:cNvPicPr>
          <p:nvPr/>
        </p:nvPicPr>
        <p:blipFill>
          <a:blip r:embed="rId3"/>
          <a:stretch>
            <a:fillRect/>
          </a:stretch>
        </p:blipFill>
        <p:spPr>
          <a:xfrm>
            <a:off x="1813560" y="4054348"/>
            <a:ext cx="8564880" cy="2569464"/>
          </a:xfrm>
          <a:prstGeom prst="rect">
            <a:avLst/>
          </a:prstGeom>
        </p:spPr>
      </p:pic>
    </p:spTree>
    <p:extLst>
      <p:ext uri="{BB962C8B-B14F-4D97-AF65-F5344CB8AC3E}">
        <p14:creationId xmlns:p14="http://schemas.microsoft.com/office/powerpoint/2010/main" val="5712838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7C60-15C9-2009-2C37-B777B0B6B2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E77D09-726F-A0C0-6808-CB142C1DE277}"/>
              </a:ext>
            </a:extLst>
          </p:cNvPr>
          <p:cNvPicPr>
            <a:picLocks noChangeAspect="1"/>
          </p:cNvPicPr>
          <p:nvPr/>
        </p:nvPicPr>
        <p:blipFill>
          <a:blip r:embed="rId3"/>
          <a:stretch>
            <a:fillRect/>
          </a:stretch>
        </p:blipFill>
        <p:spPr>
          <a:xfrm>
            <a:off x="1347525" y="3429000"/>
            <a:ext cx="9496950" cy="2849085"/>
          </a:xfrm>
          <a:prstGeom prst="rect">
            <a:avLst/>
          </a:prstGeom>
        </p:spPr>
      </p:pic>
      <p:sp>
        <p:nvSpPr>
          <p:cNvPr id="2" name="Title 1">
            <a:extLst>
              <a:ext uri="{FF2B5EF4-FFF2-40B4-BE49-F238E27FC236}">
                <a16:creationId xmlns:a16="http://schemas.microsoft.com/office/drawing/2014/main" id="{CE7F7AF6-3945-BCB2-27B3-59F655C35F33}"/>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4246B544-336E-EA75-4659-7FD2EDBB8C65}"/>
              </a:ext>
            </a:extLst>
          </p:cNvPr>
          <p:cNvSpPr>
            <a:spLocks noGrp="1"/>
          </p:cNvSpPr>
          <p:nvPr>
            <p:ph type="tbl" sz="quarter" idx="10"/>
          </p:nvPr>
        </p:nvSpPr>
        <p:spPr/>
        <p:txBody>
          <a:bodyPr/>
          <a:lstStyle/>
          <a:p>
            <a:r>
              <a:rPr lang="en-US" dirty="0"/>
              <a:t>Calculate the amount of aspirin (in mol) in a tablet containing 300 mg aspirin.</a:t>
            </a:r>
          </a:p>
          <a:p>
            <a:endParaRPr lang="en-GB" b="1" dirty="0"/>
          </a:p>
          <a:p>
            <a:r>
              <a:rPr lang="en-GB" b="1" dirty="0"/>
              <a:t>4. Execute</a:t>
            </a:r>
          </a:p>
          <a:p>
            <a:pPr marL="918900" lvl="1" indent="-342900"/>
            <a:r>
              <a:rPr lang="en-GB" dirty="0"/>
              <a:t>Show the calculation </a:t>
            </a:r>
            <a:r>
              <a:rPr lang="en-GB" b="1" dirty="0"/>
              <a:t>with units</a:t>
            </a:r>
            <a:r>
              <a:rPr lang="en-GB" dirty="0"/>
              <a:t> </a:t>
            </a:r>
          </a:p>
        </p:txBody>
      </p:sp>
      <p:graphicFrame>
        <p:nvGraphicFramePr>
          <p:cNvPr id="4" name="Object 8">
            <a:extLst>
              <a:ext uri="{FF2B5EF4-FFF2-40B4-BE49-F238E27FC236}">
                <a16:creationId xmlns:a16="http://schemas.microsoft.com/office/drawing/2014/main" id="{C3A8954F-393F-4862-88DD-471DC7205FEE}"/>
              </a:ext>
            </a:extLst>
          </p:cNvPr>
          <p:cNvGraphicFramePr>
            <a:graphicFrameLocks noChangeAspect="1"/>
          </p:cNvGraphicFramePr>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4" imgW="1070991" imgH="729615" progId="ChemDraw.Document.6.0">
                  <p:embed/>
                </p:oleObj>
              </mc:Choice>
              <mc:Fallback>
                <p:oleObj name="CS ChemDraw Drawing" r:id="rId4" imgW="1070991" imgH="729615" progId="ChemDraw.Document.6.0">
                  <p:embed/>
                  <p:pic>
                    <p:nvPicPr>
                      <p:cNvPr id="4" name="Object 8">
                        <a:extLst>
                          <a:ext uri="{FF2B5EF4-FFF2-40B4-BE49-F238E27FC236}">
                            <a16:creationId xmlns:a16="http://schemas.microsoft.com/office/drawing/2014/main" id="{C3A8954F-393F-4862-88DD-471DC7205F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8377D2CA-6462-C707-1D6E-C4F6982E9F1E}"/>
              </a:ext>
            </a:extLst>
          </p:cNvPr>
          <p:cNvSpPr txBox="1"/>
          <p:nvPr/>
        </p:nvSpPr>
        <p:spPr>
          <a:xfrm>
            <a:off x="8891650" y="5610493"/>
            <a:ext cx="1843644" cy="369332"/>
          </a:xfrm>
          <a:prstGeom prst="rect">
            <a:avLst/>
          </a:prstGeom>
          <a:noFill/>
        </p:spPr>
        <p:txBody>
          <a:bodyPr wrap="square">
            <a:spAutoFit/>
          </a:bodyPr>
          <a:lstStyle/>
          <a:p>
            <a:pPr algn="ctr"/>
            <a:r>
              <a:rPr lang="en-GB" dirty="0"/>
              <a:t>1.665 x 10</a:t>
            </a:r>
            <a:r>
              <a:rPr lang="en-GB" baseline="30000" dirty="0"/>
              <a:t>-3</a:t>
            </a:r>
            <a:r>
              <a:rPr lang="en-GB" dirty="0"/>
              <a:t> mol</a:t>
            </a:r>
          </a:p>
        </p:txBody>
      </p:sp>
      <p:sp>
        <p:nvSpPr>
          <p:cNvPr id="7" name="TextBox 6">
            <a:extLst>
              <a:ext uri="{FF2B5EF4-FFF2-40B4-BE49-F238E27FC236}">
                <a16:creationId xmlns:a16="http://schemas.microsoft.com/office/drawing/2014/main" id="{3FB5B7FE-4674-4513-FBEE-7B5FF053B401}"/>
              </a:ext>
            </a:extLst>
          </p:cNvPr>
          <p:cNvSpPr txBox="1"/>
          <p:nvPr/>
        </p:nvSpPr>
        <p:spPr>
          <a:xfrm>
            <a:off x="3830531" y="4503595"/>
            <a:ext cx="1843644" cy="369332"/>
          </a:xfrm>
          <a:prstGeom prst="rect">
            <a:avLst/>
          </a:prstGeom>
          <a:noFill/>
        </p:spPr>
        <p:txBody>
          <a:bodyPr wrap="square">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8" name="TextBox 7">
            <a:extLst>
              <a:ext uri="{FF2B5EF4-FFF2-40B4-BE49-F238E27FC236}">
                <a16:creationId xmlns:a16="http://schemas.microsoft.com/office/drawing/2014/main" id="{5D09BCAA-1A8C-348E-A0D0-46E0A0B59346}"/>
              </a:ext>
            </a:extLst>
          </p:cNvPr>
          <p:cNvSpPr txBox="1"/>
          <p:nvPr/>
        </p:nvSpPr>
        <p:spPr>
          <a:xfrm>
            <a:off x="6517826" y="4685688"/>
            <a:ext cx="1843644" cy="369332"/>
          </a:xfrm>
          <a:prstGeom prst="rect">
            <a:avLst/>
          </a:prstGeom>
          <a:noFill/>
        </p:spPr>
        <p:txBody>
          <a:bodyPr wrap="square">
            <a:spAutoFit/>
          </a:bodyPr>
          <a:lstStyle/>
          <a:p>
            <a:pPr algn="ctr"/>
            <a:r>
              <a:rPr lang="en-GB" dirty="0"/>
              <a:t>180.157 g/mol</a:t>
            </a:r>
          </a:p>
        </p:txBody>
      </p:sp>
      <p:sp>
        <p:nvSpPr>
          <p:cNvPr id="9" name="TextBox 8">
            <a:extLst>
              <a:ext uri="{FF2B5EF4-FFF2-40B4-BE49-F238E27FC236}">
                <a16:creationId xmlns:a16="http://schemas.microsoft.com/office/drawing/2014/main" id="{0F3C22E2-2C92-794C-1FA3-6FA3594ACA5D}"/>
              </a:ext>
            </a:extLst>
          </p:cNvPr>
          <p:cNvSpPr txBox="1"/>
          <p:nvPr/>
        </p:nvSpPr>
        <p:spPr>
          <a:xfrm>
            <a:off x="3768538" y="6192910"/>
            <a:ext cx="1843644" cy="369332"/>
          </a:xfrm>
          <a:prstGeom prst="rect">
            <a:avLst/>
          </a:prstGeom>
          <a:noFill/>
        </p:spPr>
        <p:txBody>
          <a:bodyPr wrap="square">
            <a:spAutoFit/>
          </a:bodyPr>
          <a:lstStyle/>
          <a:p>
            <a:pPr algn="ctr"/>
            <a:r>
              <a:rPr lang="en-GB" dirty="0"/>
              <a:t>300 mg</a:t>
            </a:r>
          </a:p>
        </p:txBody>
      </p:sp>
      <p:sp>
        <p:nvSpPr>
          <p:cNvPr id="10" name="TextBox 9">
            <a:extLst>
              <a:ext uri="{FF2B5EF4-FFF2-40B4-BE49-F238E27FC236}">
                <a16:creationId xmlns:a16="http://schemas.microsoft.com/office/drawing/2014/main" id="{5B37610E-82CC-F702-B5BE-A208852F9658}"/>
              </a:ext>
            </a:extLst>
          </p:cNvPr>
          <p:cNvSpPr txBox="1"/>
          <p:nvPr/>
        </p:nvSpPr>
        <p:spPr>
          <a:xfrm>
            <a:off x="6496240" y="6177412"/>
            <a:ext cx="1843644" cy="369332"/>
          </a:xfrm>
          <a:prstGeom prst="rect">
            <a:avLst/>
          </a:prstGeom>
          <a:noFill/>
        </p:spPr>
        <p:txBody>
          <a:bodyPr wrap="square">
            <a:spAutoFit/>
          </a:bodyPr>
          <a:lstStyle/>
          <a:p>
            <a:pPr algn="ctr"/>
            <a:r>
              <a:rPr lang="en-GB" dirty="0"/>
              <a:t>0.3 g</a:t>
            </a:r>
          </a:p>
        </p:txBody>
      </p:sp>
      <p:sp>
        <p:nvSpPr>
          <p:cNvPr id="11" name="TextBox 10">
            <a:extLst>
              <a:ext uri="{FF2B5EF4-FFF2-40B4-BE49-F238E27FC236}">
                <a16:creationId xmlns:a16="http://schemas.microsoft.com/office/drawing/2014/main" id="{3D88A9AE-B962-82BC-9F8A-216AC935C143}"/>
              </a:ext>
            </a:extLst>
          </p:cNvPr>
          <p:cNvSpPr txBox="1"/>
          <p:nvPr/>
        </p:nvSpPr>
        <p:spPr>
          <a:xfrm>
            <a:off x="6496240" y="2545061"/>
            <a:ext cx="1843644" cy="923330"/>
          </a:xfrm>
          <a:prstGeom prst="rect">
            <a:avLst/>
          </a:prstGeom>
          <a:noFill/>
        </p:spPr>
        <p:txBody>
          <a:bodyPr wrap="square">
            <a:spAutoFit/>
          </a:bodyPr>
          <a:lstStyle/>
          <a:p>
            <a:pPr algn="ctr"/>
            <a:r>
              <a:rPr lang="en-GB" dirty="0"/>
              <a:t>(12.0107 x 9) + (1.00794 x 8) + (15.9994 x 4) </a:t>
            </a:r>
          </a:p>
        </p:txBody>
      </p:sp>
    </p:spTree>
    <p:extLst>
      <p:ext uri="{BB962C8B-B14F-4D97-AF65-F5344CB8AC3E}">
        <p14:creationId xmlns:p14="http://schemas.microsoft.com/office/powerpoint/2010/main" val="1588644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34A3B-3676-FA09-1863-28703D9BA11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71F496D-08C9-D8B8-C16A-C5CC64DB3E5A}"/>
              </a:ext>
            </a:extLst>
          </p:cNvPr>
          <p:cNvPicPr>
            <a:picLocks noChangeAspect="1"/>
          </p:cNvPicPr>
          <p:nvPr/>
        </p:nvPicPr>
        <p:blipFill>
          <a:blip r:embed="rId2"/>
          <a:stretch>
            <a:fillRect/>
          </a:stretch>
        </p:blipFill>
        <p:spPr>
          <a:xfrm>
            <a:off x="1347525" y="3429000"/>
            <a:ext cx="9496950" cy="2849085"/>
          </a:xfrm>
          <a:prstGeom prst="rect">
            <a:avLst/>
          </a:prstGeom>
        </p:spPr>
      </p:pic>
      <p:sp>
        <p:nvSpPr>
          <p:cNvPr id="2" name="Title 1">
            <a:extLst>
              <a:ext uri="{FF2B5EF4-FFF2-40B4-BE49-F238E27FC236}">
                <a16:creationId xmlns:a16="http://schemas.microsoft.com/office/drawing/2014/main" id="{7B0BE7FE-4453-0BF2-AA4B-E0C77DA98AF7}"/>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507DB010-6132-51C6-9408-E394B95F6A41}"/>
              </a:ext>
            </a:extLst>
          </p:cNvPr>
          <p:cNvSpPr>
            <a:spLocks noGrp="1"/>
          </p:cNvSpPr>
          <p:nvPr>
            <p:ph type="tbl" sz="quarter" idx="10"/>
          </p:nvPr>
        </p:nvSpPr>
        <p:spPr/>
        <p:txBody>
          <a:bodyPr/>
          <a:lstStyle/>
          <a:p>
            <a:r>
              <a:rPr lang="en-US" dirty="0"/>
              <a:t>Calculate the amount of aspirin (in mol) in a tablet containing 300 mg aspirin.</a:t>
            </a:r>
          </a:p>
          <a:p>
            <a:endParaRPr lang="en-GB" b="1" dirty="0"/>
          </a:p>
          <a:p>
            <a:r>
              <a:rPr lang="en-GB" b="1" dirty="0"/>
              <a:t>5. Check</a:t>
            </a:r>
          </a:p>
          <a:p>
            <a:pPr marL="918900" lvl="1" indent="-342900"/>
            <a:r>
              <a:rPr lang="en-GB" dirty="0"/>
              <a:t>Does my answer make sense? Have I the right number of significant figures?</a:t>
            </a:r>
          </a:p>
        </p:txBody>
      </p:sp>
      <p:graphicFrame>
        <p:nvGraphicFramePr>
          <p:cNvPr id="4" name="Object 8">
            <a:extLst>
              <a:ext uri="{FF2B5EF4-FFF2-40B4-BE49-F238E27FC236}">
                <a16:creationId xmlns:a16="http://schemas.microsoft.com/office/drawing/2014/main" id="{7E2017B8-F225-1562-A917-FD3D04838B65}"/>
              </a:ext>
            </a:extLst>
          </p:cNvPr>
          <p:cNvGraphicFramePr>
            <a:graphicFrameLocks noChangeAspect="1"/>
          </p:cNvGraphicFramePr>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3" imgW="1070991" imgH="729615" progId="ChemDraw.Document.6.0">
                  <p:embed/>
                </p:oleObj>
              </mc:Choice>
              <mc:Fallback>
                <p:oleObj name="CS ChemDraw Drawing" r:id="rId3" imgW="1070991" imgH="729615" progId="ChemDraw.Document.6.0">
                  <p:embed/>
                  <p:pic>
                    <p:nvPicPr>
                      <p:cNvPr id="4" name="Object 8">
                        <a:extLst>
                          <a:ext uri="{FF2B5EF4-FFF2-40B4-BE49-F238E27FC236}">
                            <a16:creationId xmlns:a16="http://schemas.microsoft.com/office/drawing/2014/main" id="{7E2017B8-F225-1562-A917-FD3D04838B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A356B236-379D-6606-F948-54C60557EB02}"/>
              </a:ext>
            </a:extLst>
          </p:cNvPr>
          <p:cNvSpPr txBox="1"/>
          <p:nvPr/>
        </p:nvSpPr>
        <p:spPr>
          <a:xfrm>
            <a:off x="8891650" y="5610493"/>
            <a:ext cx="1843644" cy="369332"/>
          </a:xfrm>
          <a:prstGeom prst="rect">
            <a:avLst/>
          </a:prstGeom>
          <a:noFill/>
        </p:spPr>
        <p:txBody>
          <a:bodyPr wrap="square">
            <a:spAutoFit/>
          </a:bodyPr>
          <a:lstStyle/>
          <a:p>
            <a:pPr algn="ctr"/>
            <a:r>
              <a:rPr lang="en-GB" dirty="0"/>
              <a:t>1.67 x 10</a:t>
            </a:r>
            <a:r>
              <a:rPr lang="en-GB" baseline="30000" dirty="0"/>
              <a:t>-3</a:t>
            </a:r>
            <a:r>
              <a:rPr lang="en-GB" dirty="0"/>
              <a:t> mol</a:t>
            </a:r>
          </a:p>
        </p:txBody>
      </p:sp>
      <p:sp>
        <p:nvSpPr>
          <p:cNvPr id="6" name="TextBox 5">
            <a:extLst>
              <a:ext uri="{FF2B5EF4-FFF2-40B4-BE49-F238E27FC236}">
                <a16:creationId xmlns:a16="http://schemas.microsoft.com/office/drawing/2014/main" id="{09C53C72-8B0C-58FC-F697-9FEF54B8D455}"/>
              </a:ext>
            </a:extLst>
          </p:cNvPr>
          <p:cNvSpPr txBox="1"/>
          <p:nvPr/>
        </p:nvSpPr>
        <p:spPr>
          <a:xfrm>
            <a:off x="3830531" y="4503595"/>
            <a:ext cx="1843644" cy="369332"/>
          </a:xfrm>
          <a:prstGeom prst="rect">
            <a:avLst/>
          </a:prstGeom>
          <a:noFill/>
        </p:spPr>
        <p:txBody>
          <a:bodyPr wrap="square">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9" name="TextBox 8">
            <a:extLst>
              <a:ext uri="{FF2B5EF4-FFF2-40B4-BE49-F238E27FC236}">
                <a16:creationId xmlns:a16="http://schemas.microsoft.com/office/drawing/2014/main" id="{60F53FC1-8684-E07B-CA01-A4AE9DCB248B}"/>
              </a:ext>
            </a:extLst>
          </p:cNvPr>
          <p:cNvSpPr txBox="1"/>
          <p:nvPr/>
        </p:nvSpPr>
        <p:spPr>
          <a:xfrm>
            <a:off x="6517826" y="4685688"/>
            <a:ext cx="1843644" cy="369332"/>
          </a:xfrm>
          <a:prstGeom prst="rect">
            <a:avLst/>
          </a:prstGeom>
          <a:noFill/>
        </p:spPr>
        <p:txBody>
          <a:bodyPr wrap="square">
            <a:spAutoFit/>
          </a:bodyPr>
          <a:lstStyle/>
          <a:p>
            <a:pPr algn="ctr"/>
            <a:r>
              <a:rPr lang="en-GB" dirty="0"/>
              <a:t>180.157 g/mol</a:t>
            </a:r>
          </a:p>
        </p:txBody>
      </p:sp>
      <p:sp>
        <p:nvSpPr>
          <p:cNvPr id="10" name="TextBox 9">
            <a:extLst>
              <a:ext uri="{FF2B5EF4-FFF2-40B4-BE49-F238E27FC236}">
                <a16:creationId xmlns:a16="http://schemas.microsoft.com/office/drawing/2014/main" id="{4589338E-FC50-8DB6-8B1C-9E27FC3AD395}"/>
              </a:ext>
            </a:extLst>
          </p:cNvPr>
          <p:cNvSpPr txBox="1"/>
          <p:nvPr/>
        </p:nvSpPr>
        <p:spPr>
          <a:xfrm>
            <a:off x="3768538" y="6192910"/>
            <a:ext cx="1843644" cy="369332"/>
          </a:xfrm>
          <a:prstGeom prst="rect">
            <a:avLst/>
          </a:prstGeom>
          <a:noFill/>
        </p:spPr>
        <p:txBody>
          <a:bodyPr wrap="square">
            <a:spAutoFit/>
          </a:bodyPr>
          <a:lstStyle/>
          <a:p>
            <a:pPr algn="ctr"/>
            <a:r>
              <a:rPr lang="en-GB" dirty="0"/>
              <a:t>300 mg</a:t>
            </a:r>
          </a:p>
        </p:txBody>
      </p:sp>
      <p:sp>
        <p:nvSpPr>
          <p:cNvPr id="11" name="TextBox 10">
            <a:extLst>
              <a:ext uri="{FF2B5EF4-FFF2-40B4-BE49-F238E27FC236}">
                <a16:creationId xmlns:a16="http://schemas.microsoft.com/office/drawing/2014/main" id="{F8D45BCF-A55F-8A0B-625D-5A6C1626C592}"/>
              </a:ext>
            </a:extLst>
          </p:cNvPr>
          <p:cNvSpPr txBox="1"/>
          <p:nvPr/>
        </p:nvSpPr>
        <p:spPr>
          <a:xfrm>
            <a:off x="6496240" y="6177412"/>
            <a:ext cx="1843644" cy="369332"/>
          </a:xfrm>
          <a:prstGeom prst="rect">
            <a:avLst/>
          </a:prstGeom>
          <a:noFill/>
        </p:spPr>
        <p:txBody>
          <a:bodyPr wrap="square">
            <a:spAutoFit/>
          </a:bodyPr>
          <a:lstStyle/>
          <a:p>
            <a:pPr algn="ctr"/>
            <a:r>
              <a:rPr lang="en-GB" dirty="0"/>
              <a:t>0.3 g</a:t>
            </a:r>
          </a:p>
        </p:txBody>
      </p:sp>
    </p:spTree>
    <p:extLst>
      <p:ext uri="{BB962C8B-B14F-4D97-AF65-F5344CB8AC3E}">
        <p14:creationId xmlns:p14="http://schemas.microsoft.com/office/powerpoint/2010/main" val="3307868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14B1B-328E-518A-DF5B-2C5E10621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F688D-5CB0-B75A-26AD-62BC0060EDE4}"/>
              </a:ext>
            </a:extLst>
          </p:cNvPr>
          <p:cNvSpPr>
            <a:spLocks noGrp="1"/>
          </p:cNvSpPr>
          <p:nvPr>
            <p:ph type="title"/>
          </p:nvPr>
        </p:nvSpPr>
        <p:spPr/>
        <p:txBody>
          <a:bodyPr/>
          <a:lstStyle/>
          <a:p>
            <a:r>
              <a:rPr lang="en-GB" dirty="0"/>
              <a:t>Example: water</a:t>
            </a:r>
          </a:p>
        </p:txBody>
      </p:sp>
      <p:sp>
        <p:nvSpPr>
          <p:cNvPr id="3" name="Table Placeholder 2">
            <a:extLst>
              <a:ext uri="{FF2B5EF4-FFF2-40B4-BE49-F238E27FC236}">
                <a16:creationId xmlns:a16="http://schemas.microsoft.com/office/drawing/2014/main" id="{C4542E75-B456-BD3C-01AA-8682B5D7B2C0}"/>
              </a:ext>
            </a:extLst>
          </p:cNvPr>
          <p:cNvSpPr>
            <a:spLocks noGrp="1"/>
          </p:cNvSpPr>
          <p:nvPr>
            <p:ph type="tbl" sz="quarter" idx="10"/>
          </p:nvPr>
        </p:nvSpPr>
        <p:spPr/>
        <p:txBody>
          <a:bodyPr/>
          <a:lstStyle/>
          <a:p>
            <a:r>
              <a:rPr lang="en-US" dirty="0"/>
              <a:t>Calculate the amount of water (in mol) in 20 </a:t>
            </a:r>
            <a:r>
              <a:rPr lang="en-US" dirty="0" err="1"/>
              <a:t>mL.</a:t>
            </a:r>
            <a:endParaRPr lang="en-US" dirty="0"/>
          </a:p>
          <a:p>
            <a:pPr marL="342900" indent="-342900">
              <a:buAutoNum type="arabicPeriod"/>
            </a:pPr>
            <a:endParaRPr lang="en-GB" b="1" dirty="0"/>
          </a:p>
          <a:p>
            <a:r>
              <a:rPr lang="en-GB" b="1" dirty="0"/>
              <a:t>1. Read &amp; Identify</a:t>
            </a:r>
          </a:p>
          <a:p>
            <a:pPr marL="918900" lvl="1" indent="-342900"/>
            <a:r>
              <a:rPr lang="en-GB" dirty="0"/>
              <a:t>What’s being asked? </a:t>
            </a:r>
            <a:r>
              <a:rPr lang="en-GB" i="1" dirty="0"/>
              <a:t>Number of moles</a:t>
            </a:r>
          </a:p>
          <a:p>
            <a:pPr marL="918900" lvl="1" indent="-342900"/>
            <a:r>
              <a:rPr lang="en-GB" dirty="0"/>
              <a:t>What data is given? </a:t>
            </a:r>
            <a:r>
              <a:rPr lang="en-GB" i="1" dirty="0"/>
              <a:t>Volume</a:t>
            </a:r>
          </a:p>
          <a:p>
            <a:pPr marL="918900" lvl="1" indent="-342900"/>
            <a:r>
              <a:rPr lang="en-GB" dirty="0"/>
              <a:t>Knowledge: </a:t>
            </a:r>
            <a:r>
              <a:rPr lang="en-GB" i="1" dirty="0"/>
              <a:t>Density of water</a:t>
            </a:r>
            <a:endParaRPr lang="en-GB" dirty="0"/>
          </a:p>
          <a:p>
            <a:r>
              <a:rPr lang="en-GB" b="1" dirty="0"/>
              <a:t>2. Estimate</a:t>
            </a:r>
          </a:p>
          <a:p>
            <a:pPr marL="918900" lvl="1" indent="-342900"/>
            <a:r>
              <a:rPr lang="en-GB" dirty="0"/>
              <a:t>Water has a density of 1 g/mL, so 20 mL of water has a mass of 20 g.</a:t>
            </a:r>
          </a:p>
          <a:p>
            <a:pPr marL="918900" lvl="1" indent="-342900"/>
            <a:r>
              <a:rPr lang="en-GB" dirty="0"/>
              <a:t>H</a:t>
            </a:r>
            <a:r>
              <a:rPr lang="en-GB" baseline="-25000" dirty="0"/>
              <a:t>2</a:t>
            </a:r>
            <a:r>
              <a:rPr lang="en-GB" dirty="0"/>
              <a:t>O has a molar mass of 18 g/mol, so there must be just over 1 mole present in 20 </a:t>
            </a:r>
            <a:r>
              <a:rPr lang="en-GB" dirty="0" err="1"/>
              <a:t>mL.</a:t>
            </a:r>
            <a:endParaRPr lang="en-GB" i="1" dirty="0"/>
          </a:p>
          <a:p>
            <a:r>
              <a:rPr lang="en-GB" b="1" dirty="0"/>
              <a:t>3. Plan</a:t>
            </a:r>
          </a:p>
          <a:p>
            <a:pPr marL="918900" lvl="1" indent="-342900"/>
            <a:r>
              <a:rPr lang="en-GB" dirty="0"/>
              <a:t>What approach or equation(s) do I need? </a:t>
            </a:r>
          </a:p>
          <a:p>
            <a:pPr marL="342900" indent="-342900"/>
            <a:endParaRPr lang="en-GB" dirty="0"/>
          </a:p>
        </p:txBody>
      </p:sp>
    </p:spTree>
    <p:extLst>
      <p:ext uri="{BB962C8B-B14F-4D97-AF65-F5344CB8AC3E}">
        <p14:creationId xmlns:p14="http://schemas.microsoft.com/office/powerpoint/2010/main" val="2707681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9F354-A590-CE83-137B-EA57B374B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A3A6-E5CA-67C7-60DD-E7B083CA45D6}"/>
              </a:ext>
            </a:extLst>
          </p:cNvPr>
          <p:cNvSpPr>
            <a:spLocks noGrp="1"/>
          </p:cNvSpPr>
          <p:nvPr>
            <p:ph type="title"/>
          </p:nvPr>
        </p:nvSpPr>
        <p:spPr/>
        <p:txBody>
          <a:bodyPr/>
          <a:lstStyle/>
          <a:p>
            <a:r>
              <a:rPr lang="en-GB" dirty="0"/>
              <a:t>Example: water</a:t>
            </a:r>
          </a:p>
        </p:txBody>
      </p:sp>
      <p:sp>
        <p:nvSpPr>
          <p:cNvPr id="3" name="Table Placeholder 2">
            <a:extLst>
              <a:ext uri="{FF2B5EF4-FFF2-40B4-BE49-F238E27FC236}">
                <a16:creationId xmlns:a16="http://schemas.microsoft.com/office/drawing/2014/main" id="{597C9186-A794-F000-FA4C-CBFEA26E9D70}"/>
              </a:ext>
            </a:extLst>
          </p:cNvPr>
          <p:cNvSpPr>
            <a:spLocks noGrp="1"/>
          </p:cNvSpPr>
          <p:nvPr>
            <p:ph type="tbl" sz="quarter" idx="10"/>
          </p:nvPr>
        </p:nvSpPr>
        <p:spPr/>
        <p:txBody>
          <a:bodyPr/>
          <a:lstStyle/>
          <a:p>
            <a:r>
              <a:rPr lang="en-US" dirty="0"/>
              <a:t>Calculate the amount of water (in mol) in 20 </a:t>
            </a:r>
            <a:r>
              <a:rPr lang="en-US" dirty="0" err="1"/>
              <a:t>mL.</a:t>
            </a:r>
            <a:endParaRPr lang="en-US" dirty="0"/>
          </a:p>
          <a:p>
            <a:endParaRPr lang="en-GB" b="1" dirty="0"/>
          </a:p>
          <a:p>
            <a:r>
              <a:rPr lang="en-GB" b="1" dirty="0"/>
              <a:t>3. Plan</a:t>
            </a:r>
          </a:p>
          <a:p>
            <a:r>
              <a:rPr lang="en-GB" b="1" dirty="0"/>
              <a:t>4. Execute</a:t>
            </a:r>
          </a:p>
          <a:p>
            <a:r>
              <a:rPr lang="en-GB" b="1" dirty="0"/>
              <a:t>5. Check</a:t>
            </a:r>
            <a:endParaRPr lang="en-GB" dirty="0"/>
          </a:p>
        </p:txBody>
      </p:sp>
      <p:pic>
        <p:nvPicPr>
          <p:cNvPr id="8" name="Picture 7">
            <a:extLst>
              <a:ext uri="{FF2B5EF4-FFF2-40B4-BE49-F238E27FC236}">
                <a16:creationId xmlns:a16="http://schemas.microsoft.com/office/drawing/2014/main" id="{6190FC9F-81A1-319F-71F0-1982FFDD9B5C}"/>
              </a:ext>
            </a:extLst>
          </p:cNvPr>
          <p:cNvPicPr>
            <a:picLocks noChangeAspect="1"/>
          </p:cNvPicPr>
          <p:nvPr/>
        </p:nvPicPr>
        <p:blipFill>
          <a:blip r:embed="rId2"/>
          <a:stretch>
            <a:fillRect/>
          </a:stretch>
        </p:blipFill>
        <p:spPr>
          <a:xfrm>
            <a:off x="3441975" y="1959623"/>
            <a:ext cx="7297462" cy="4269015"/>
          </a:xfrm>
          <a:prstGeom prst="rect">
            <a:avLst/>
          </a:prstGeom>
        </p:spPr>
      </p:pic>
      <p:sp>
        <p:nvSpPr>
          <p:cNvPr id="4" name="TextBox 3">
            <a:extLst>
              <a:ext uri="{FF2B5EF4-FFF2-40B4-BE49-F238E27FC236}">
                <a16:creationId xmlns:a16="http://schemas.microsoft.com/office/drawing/2014/main" id="{A92B84A2-41C1-30A8-4EC7-26CA4769C4B1}"/>
              </a:ext>
            </a:extLst>
          </p:cNvPr>
          <p:cNvSpPr txBox="1"/>
          <p:nvPr/>
        </p:nvSpPr>
        <p:spPr>
          <a:xfrm>
            <a:off x="4458532" y="2983272"/>
            <a:ext cx="615873" cy="369332"/>
          </a:xfrm>
          <a:prstGeom prst="rect">
            <a:avLst/>
          </a:prstGeom>
          <a:noFill/>
        </p:spPr>
        <p:txBody>
          <a:bodyPr wrap="none" rtlCol="0">
            <a:spAutoFit/>
          </a:bodyPr>
          <a:lstStyle/>
          <a:p>
            <a:pPr algn="ctr"/>
            <a:r>
              <a:rPr lang="en-GB" dirty="0"/>
              <a:t>H</a:t>
            </a:r>
            <a:r>
              <a:rPr lang="en-GB" baseline="-25000" dirty="0"/>
              <a:t>2</a:t>
            </a:r>
            <a:r>
              <a:rPr lang="en-GB" dirty="0"/>
              <a:t>O</a:t>
            </a:r>
          </a:p>
        </p:txBody>
      </p:sp>
      <p:sp>
        <p:nvSpPr>
          <p:cNvPr id="5" name="TextBox 4">
            <a:extLst>
              <a:ext uri="{FF2B5EF4-FFF2-40B4-BE49-F238E27FC236}">
                <a16:creationId xmlns:a16="http://schemas.microsoft.com/office/drawing/2014/main" id="{C384C480-5C15-14DD-9EA7-AA866819C2BE}"/>
              </a:ext>
            </a:extLst>
          </p:cNvPr>
          <p:cNvSpPr txBox="1"/>
          <p:nvPr/>
        </p:nvSpPr>
        <p:spPr>
          <a:xfrm>
            <a:off x="6848299" y="3208355"/>
            <a:ext cx="1069525" cy="369332"/>
          </a:xfrm>
          <a:prstGeom prst="rect">
            <a:avLst/>
          </a:prstGeom>
          <a:noFill/>
        </p:spPr>
        <p:txBody>
          <a:bodyPr wrap="none" rtlCol="0">
            <a:spAutoFit/>
          </a:bodyPr>
          <a:lstStyle/>
          <a:p>
            <a:pPr algn="ctr"/>
            <a:r>
              <a:rPr lang="en-GB" dirty="0"/>
              <a:t>18 g/mol</a:t>
            </a:r>
          </a:p>
        </p:txBody>
      </p:sp>
      <p:sp>
        <p:nvSpPr>
          <p:cNvPr id="6" name="TextBox 5">
            <a:extLst>
              <a:ext uri="{FF2B5EF4-FFF2-40B4-BE49-F238E27FC236}">
                <a16:creationId xmlns:a16="http://schemas.microsoft.com/office/drawing/2014/main" id="{A31D861D-405E-CD2B-D83D-EB3691D937C7}"/>
              </a:ext>
            </a:extLst>
          </p:cNvPr>
          <p:cNvSpPr txBox="1"/>
          <p:nvPr/>
        </p:nvSpPr>
        <p:spPr>
          <a:xfrm>
            <a:off x="4339469" y="4643260"/>
            <a:ext cx="825867" cy="369332"/>
          </a:xfrm>
          <a:prstGeom prst="rect">
            <a:avLst/>
          </a:prstGeom>
          <a:noFill/>
        </p:spPr>
        <p:txBody>
          <a:bodyPr wrap="none" rtlCol="0">
            <a:spAutoFit/>
          </a:bodyPr>
          <a:lstStyle/>
          <a:p>
            <a:pPr algn="ctr"/>
            <a:r>
              <a:rPr lang="en-GB" dirty="0"/>
              <a:t>20 mL</a:t>
            </a:r>
          </a:p>
        </p:txBody>
      </p:sp>
      <p:sp>
        <p:nvSpPr>
          <p:cNvPr id="7" name="TextBox 6">
            <a:extLst>
              <a:ext uri="{FF2B5EF4-FFF2-40B4-BE49-F238E27FC236}">
                <a16:creationId xmlns:a16="http://schemas.microsoft.com/office/drawing/2014/main" id="{E98DCB08-753A-1A67-FE40-95D0C2E9FE26}"/>
              </a:ext>
            </a:extLst>
          </p:cNvPr>
          <p:cNvSpPr txBox="1"/>
          <p:nvPr/>
        </p:nvSpPr>
        <p:spPr>
          <a:xfrm>
            <a:off x="4335546" y="6120368"/>
            <a:ext cx="889987" cy="369332"/>
          </a:xfrm>
          <a:prstGeom prst="rect">
            <a:avLst/>
          </a:prstGeom>
          <a:noFill/>
        </p:spPr>
        <p:txBody>
          <a:bodyPr wrap="none" rtlCol="0">
            <a:spAutoFit/>
          </a:bodyPr>
          <a:lstStyle/>
          <a:p>
            <a:pPr algn="ctr"/>
            <a:r>
              <a:rPr lang="en-GB" dirty="0"/>
              <a:t>1 g/mL</a:t>
            </a:r>
          </a:p>
        </p:txBody>
      </p:sp>
      <p:sp>
        <p:nvSpPr>
          <p:cNvPr id="9" name="TextBox 8">
            <a:extLst>
              <a:ext uri="{FF2B5EF4-FFF2-40B4-BE49-F238E27FC236}">
                <a16:creationId xmlns:a16="http://schemas.microsoft.com/office/drawing/2014/main" id="{C1B6491F-B07D-89DC-2869-645CE185BFC5}"/>
              </a:ext>
            </a:extLst>
          </p:cNvPr>
          <p:cNvSpPr txBox="1"/>
          <p:nvPr/>
        </p:nvSpPr>
        <p:spPr>
          <a:xfrm>
            <a:off x="6938789" y="5585796"/>
            <a:ext cx="832279" cy="646331"/>
          </a:xfrm>
          <a:prstGeom prst="rect">
            <a:avLst/>
          </a:prstGeom>
          <a:noFill/>
        </p:spPr>
        <p:txBody>
          <a:bodyPr wrap="none" rtlCol="0">
            <a:spAutoFit/>
          </a:bodyPr>
          <a:lstStyle/>
          <a:p>
            <a:pPr algn="ctr"/>
            <a:r>
              <a:rPr lang="en-GB" dirty="0"/>
              <a:t>20 x 1</a:t>
            </a:r>
          </a:p>
          <a:p>
            <a:pPr algn="ctr"/>
            <a:r>
              <a:rPr lang="en-GB" dirty="0"/>
              <a:t>= 20 g</a:t>
            </a:r>
          </a:p>
        </p:txBody>
      </p:sp>
      <p:sp>
        <p:nvSpPr>
          <p:cNvPr id="10" name="TextBox 9">
            <a:extLst>
              <a:ext uri="{FF2B5EF4-FFF2-40B4-BE49-F238E27FC236}">
                <a16:creationId xmlns:a16="http://schemas.microsoft.com/office/drawing/2014/main" id="{3204BF8C-F879-B248-F075-4AD251CF3805}"/>
              </a:ext>
            </a:extLst>
          </p:cNvPr>
          <p:cNvSpPr txBox="1"/>
          <p:nvPr/>
        </p:nvSpPr>
        <p:spPr>
          <a:xfrm>
            <a:off x="9148985" y="4685464"/>
            <a:ext cx="1251176" cy="646331"/>
          </a:xfrm>
          <a:prstGeom prst="rect">
            <a:avLst/>
          </a:prstGeom>
          <a:noFill/>
        </p:spPr>
        <p:txBody>
          <a:bodyPr wrap="none" rtlCol="0">
            <a:spAutoFit/>
          </a:bodyPr>
          <a:lstStyle/>
          <a:p>
            <a:pPr algn="ctr"/>
            <a:r>
              <a:rPr lang="en-GB" dirty="0"/>
              <a:t>20 / 18</a:t>
            </a:r>
          </a:p>
          <a:p>
            <a:pPr algn="ctr"/>
            <a:r>
              <a:rPr lang="en-GB" dirty="0"/>
              <a:t>= 1.11 mol</a:t>
            </a:r>
          </a:p>
        </p:txBody>
      </p:sp>
    </p:spTree>
    <p:extLst>
      <p:ext uri="{BB962C8B-B14F-4D97-AF65-F5344CB8AC3E}">
        <p14:creationId xmlns:p14="http://schemas.microsoft.com/office/powerpoint/2010/main" val="39535040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CEB0-6FBC-C3F9-05A4-A4076CB0670B}"/>
              </a:ext>
            </a:extLst>
          </p:cNvPr>
          <p:cNvSpPr>
            <a:spLocks noGrp="1"/>
          </p:cNvSpPr>
          <p:nvPr>
            <p:ph type="title"/>
          </p:nvPr>
        </p:nvSpPr>
        <p:spPr/>
        <p:txBody>
          <a:bodyPr/>
          <a:lstStyle/>
          <a:p>
            <a:r>
              <a:rPr lang="en-GB" dirty="0"/>
              <a:t>Concentration of solutions</a:t>
            </a:r>
          </a:p>
        </p:txBody>
      </p:sp>
      <p:sp>
        <p:nvSpPr>
          <p:cNvPr id="3" name="Table Placeholder 2">
            <a:extLst>
              <a:ext uri="{FF2B5EF4-FFF2-40B4-BE49-F238E27FC236}">
                <a16:creationId xmlns:a16="http://schemas.microsoft.com/office/drawing/2014/main" id="{6AA6CA92-7623-6799-9983-9B9969CB534C}"/>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Concentration measures the </a:t>
            </a:r>
            <a:r>
              <a:rPr lang="en-US" b="1" dirty="0"/>
              <a:t>quantity of substance per unit volume (</a:t>
            </a:r>
            <a:r>
              <a:rPr lang="en-US" dirty="0"/>
              <a:t>or mass).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Quantity can be specified in different ways – as an </a:t>
            </a:r>
            <a:r>
              <a:rPr lang="en-US" b="1" dirty="0"/>
              <a:t>amount</a:t>
            </a:r>
            <a:r>
              <a:rPr lang="en-US" dirty="0"/>
              <a:t> (moles), </a:t>
            </a:r>
            <a:r>
              <a:rPr lang="en-US" b="1" dirty="0"/>
              <a:t>mass</a:t>
            </a:r>
            <a:r>
              <a:rPr lang="en-US" dirty="0"/>
              <a:t>, or </a:t>
            </a:r>
            <a:r>
              <a:rPr lang="en-US" b="1" dirty="0"/>
              <a:t>volume</a:t>
            </a:r>
            <a:r>
              <a:rPr lang="en-US" dirty="0"/>
              <a:t>. This gives different measures/units of concentration.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typical units for concentration are: g L</a:t>
            </a:r>
            <a:r>
              <a:rPr lang="en-US" baseline="30000" dirty="0"/>
              <a:t>-1</a:t>
            </a:r>
            <a:r>
              <a:rPr lang="en-US" dirty="0"/>
              <a:t>, g dm</a:t>
            </a:r>
            <a:r>
              <a:rPr lang="en-US" baseline="30000" dirty="0"/>
              <a:t>-3</a:t>
            </a:r>
            <a:r>
              <a:rPr lang="en-US" dirty="0"/>
              <a:t>, mg mL</a:t>
            </a:r>
            <a:r>
              <a:rPr lang="en-US" baseline="30000" dirty="0"/>
              <a:t>-1</a:t>
            </a:r>
            <a:r>
              <a:rPr lang="en-US" dirty="0"/>
              <a:t>, mg cm</a:t>
            </a:r>
            <a:r>
              <a:rPr lang="en-US" baseline="30000" dirty="0"/>
              <a:t>-3</a:t>
            </a:r>
            <a:r>
              <a:rPr lang="en-US" dirty="0"/>
              <a:t>, mol dm</a:t>
            </a:r>
            <a:r>
              <a:rPr lang="en-US" baseline="30000" dirty="0"/>
              <a:t>-3</a:t>
            </a:r>
            <a:r>
              <a:rPr lang="en-US" dirty="0"/>
              <a:t>, nmol cm</a:t>
            </a:r>
            <a:r>
              <a:rPr lang="en-US" baseline="30000" dirty="0"/>
              <a:t>-3</a:t>
            </a:r>
            <a:r>
              <a:rPr lang="en-US" dirty="0"/>
              <a:t>, % </a:t>
            </a:r>
            <a:r>
              <a:rPr lang="en-US" i="1" dirty="0"/>
              <a:t>m/v, etc.</a:t>
            </a:r>
          </a:p>
          <a:p>
            <a:pPr algn="just"/>
            <a:endParaRPr lang="en-US" i="1" dirty="0"/>
          </a:p>
          <a:p>
            <a:pPr marL="285750" indent="-285750" algn="just">
              <a:buFont typeface="Arial" panose="020B0604020202020204" pitchFamily="34" charset="0"/>
              <a:buChar char="•"/>
            </a:pPr>
            <a:r>
              <a:rPr lang="en-US" dirty="0"/>
              <a:t>A note on volumes:</a:t>
            </a:r>
          </a:p>
          <a:p>
            <a:pPr marL="861750" lvl="1" indent="-285750" algn="just">
              <a:buFont typeface="Arial" panose="020B0604020202020204" pitchFamily="34" charset="0"/>
              <a:buChar char="•"/>
            </a:pPr>
            <a:r>
              <a:rPr lang="en-US" dirty="0"/>
              <a:t>1 cm</a:t>
            </a:r>
            <a:r>
              <a:rPr lang="en-US" baseline="30000" dirty="0"/>
              <a:t>3</a:t>
            </a:r>
            <a:r>
              <a:rPr lang="en-US" dirty="0"/>
              <a:t> </a:t>
            </a:r>
            <a:r>
              <a:rPr lang="en-US" dirty="0">
                <a:sym typeface="Symbol"/>
              </a:rPr>
              <a:t> 1 mL</a:t>
            </a:r>
          </a:p>
          <a:p>
            <a:pPr marL="861750" lvl="1" indent="-285750" algn="just">
              <a:buFont typeface="Arial" panose="020B0604020202020204" pitchFamily="34" charset="0"/>
              <a:buChar char="•"/>
            </a:pPr>
            <a:r>
              <a:rPr lang="en-US" dirty="0">
                <a:sym typeface="Symbol"/>
              </a:rPr>
              <a:t>1000 cm</a:t>
            </a:r>
            <a:r>
              <a:rPr lang="en-US" baseline="30000" dirty="0">
                <a:sym typeface="Symbol"/>
              </a:rPr>
              <a:t>3</a:t>
            </a:r>
            <a:r>
              <a:rPr lang="en-US" dirty="0">
                <a:sym typeface="Symbol"/>
              </a:rPr>
              <a:t>  1 dm</a:t>
            </a:r>
            <a:r>
              <a:rPr lang="en-US" baseline="30000" dirty="0">
                <a:sym typeface="Symbol"/>
              </a:rPr>
              <a:t>3</a:t>
            </a:r>
            <a:r>
              <a:rPr lang="en-US" dirty="0">
                <a:sym typeface="Symbol"/>
              </a:rPr>
              <a:t>  1 L</a:t>
            </a:r>
            <a:endParaRPr lang="en-US" dirty="0"/>
          </a:p>
          <a:p>
            <a:pPr marL="285750" indent="-285750">
              <a:buFont typeface="Arial" panose="020B0604020202020204" pitchFamily="34" charset="0"/>
              <a:buChar char="•"/>
            </a:pPr>
            <a:endParaRPr lang="en-US" dirty="0"/>
          </a:p>
          <a:p>
            <a:endParaRPr lang="en-GB" dirty="0"/>
          </a:p>
        </p:txBody>
      </p:sp>
    </p:spTree>
    <p:extLst>
      <p:ext uri="{BB962C8B-B14F-4D97-AF65-F5344CB8AC3E}">
        <p14:creationId xmlns:p14="http://schemas.microsoft.com/office/powerpoint/2010/main" val="8015029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763F-958C-1E72-2E57-5B5DC7C94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9E81A-B89B-7A7F-DE0A-1F3E8FFB2DC1}"/>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F227D7C9-472A-5C49-73A7-49D991CE276F}"/>
              </a:ext>
            </a:extLst>
          </p:cNvPr>
          <p:cNvSpPr>
            <a:spLocks noGrp="1"/>
          </p:cNvSpPr>
          <p:nvPr>
            <p:ph type="tbl" sz="quarter" idx="10"/>
          </p:nvPr>
        </p:nvSpPr>
        <p:spPr/>
        <p:txBody>
          <a:bodyPr/>
          <a:lstStyle/>
          <a:p>
            <a:r>
              <a:rPr lang="en-GB" dirty="0"/>
              <a:t>102.3 mg of lead nitrate (Pb(NO</a:t>
            </a:r>
            <a:r>
              <a:rPr lang="en-GB" baseline="-25000" dirty="0"/>
              <a:t>3</a:t>
            </a:r>
            <a:r>
              <a:rPr lang="en-GB" dirty="0"/>
              <a:t>)</a:t>
            </a:r>
            <a:r>
              <a:rPr lang="en-GB" baseline="-25000" dirty="0"/>
              <a:t>2</a:t>
            </a:r>
            <a:r>
              <a:rPr lang="en-GB" dirty="0"/>
              <a:t>) was dissolved in dilute nitric acid and made up to 250.0 mL with water. What is the concentration (g L</a:t>
            </a:r>
            <a:r>
              <a:rPr lang="en-GB" baseline="30000" dirty="0"/>
              <a:t>-1</a:t>
            </a:r>
            <a:r>
              <a:rPr lang="en-GB" dirty="0"/>
              <a:t>) of the lead nitrate solution?</a:t>
            </a:r>
          </a:p>
          <a:p>
            <a:endParaRPr lang="en-GB" dirty="0"/>
          </a:p>
          <a:p>
            <a:pPr marL="342900" indent="-342900">
              <a:buFont typeface="+mj-lt"/>
              <a:buAutoNum type="arabicPeriod"/>
            </a:pPr>
            <a:r>
              <a:rPr lang="en-GB" b="1" dirty="0"/>
              <a:t>Read and identify:</a:t>
            </a:r>
          </a:p>
          <a:p>
            <a:pPr marL="918900" lvl="1" indent="-342900"/>
            <a:r>
              <a:rPr lang="en-GB" dirty="0"/>
              <a:t>What’s being asked? </a:t>
            </a:r>
            <a:r>
              <a:rPr lang="en-GB" i="1" dirty="0"/>
              <a:t>Concentration of lead nitrate in g/L</a:t>
            </a:r>
          </a:p>
          <a:p>
            <a:pPr marL="918900" lvl="1" indent="-342900"/>
            <a:r>
              <a:rPr lang="en-GB" dirty="0"/>
              <a:t>What information do we have? </a:t>
            </a:r>
            <a:r>
              <a:rPr lang="en-GB" i="1" dirty="0"/>
              <a:t>Mass of lead nitrate, volume of final solution, molecular formula</a:t>
            </a:r>
          </a:p>
          <a:p>
            <a:pPr marL="342900" indent="-342900">
              <a:buFont typeface="+mj-lt"/>
              <a:buAutoNum type="arabicPeriod"/>
            </a:pPr>
            <a:r>
              <a:rPr lang="en-GB" b="1" dirty="0"/>
              <a:t>Estimate:</a:t>
            </a:r>
          </a:p>
          <a:p>
            <a:pPr marL="918900" lvl="1" indent="-342900"/>
            <a:r>
              <a:rPr lang="en-GB" dirty="0"/>
              <a:t>We have about 100 mg in a quarter of a litre. So we’ll have about 400 mg in one litre. Therefore the concentration should be close to 0.4 g/L.</a:t>
            </a:r>
          </a:p>
        </p:txBody>
      </p:sp>
    </p:spTree>
    <p:extLst>
      <p:ext uri="{BB962C8B-B14F-4D97-AF65-F5344CB8AC3E}">
        <p14:creationId xmlns:p14="http://schemas.microsoft.com/office/powerpoint/2010/main" val="3913842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AD89-3559-B584-21A5-A948D5001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760D7-D1F9-9F4F-822A-095CD86E6816}"/>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5352CBE4-63BF-5F3D-94B3-4F432DFAA1E9}"/>
              </a:ext>
            </a:extLst>
          </p:cNvPr>
          <p:cNvSpPr>
            <a:spLocks noGrp="1"/>
          </p:cNvSpPr>
          <p:nvPr>
            <p:ph type="tbl" sz="quarter" idx="10"/>
          </p:nvPr>
        </p:nvSpPr>
        <p:spPr/>
        <p:txBody>
          <a:bodyPr/>
          <a:lstStyle/>
          <a:p>
            <a:r>
              <a:rPr lang="en-GB" dirty="0"/>
              <a:t>102.3 mg of lead nitrate (Pb(NO</a:t>
            </a:r>
            <a:r>
              <a:rPr lang="en-GB" baseline="-25000" dirty="0"/>
              <a:t>3</a:t>
            </a:r>
            <a:r>
              <a:rPr lang="en-GB" dirty="0"/>
              <a:t>)</a:t>
            </a:r>
            <a:r>
              <a:rPr lang="en-GB" baseline="-25000" dirty="0"/>
              <a:t>2</a:t>
            </a:r>
            <a:r>
              <a:rPr lang="en-GB" dirty="0"/>
              <a:t>) was dissolved in dilute nitric acid and made up to 250.0 mL with water. What is the concentration (g L</a:t>
            </a:r>
            <a:r>
              <a:rPr lang="en-GB" baseline="30000" dirty="0"/>
              <a:t>-1</a:t>
            </a:r>
            <a:r>
              <a:rPr lang="en-GB" dirty="0"/>
              <a:t>) of the lead nitrate solution?</a:t>
            </a:r>
          </a:p>
          <a:p>
            <a:endParaRPr lang="en-GB" dirty="0"/>
          </a:p>
          <a:p>
            <a:r>
              <a:rPr lang="en-GB" b="1" dirty="0"/>
              <a:t>3. Plan</a:t>
            </a:r>
          </a:p>
          <a:p>
            <a:r>
              <a:rPr lang="en-GB" b="1" dirty="0"/>
              <a:t>4. Execute</a:t>
            </a:r>
          </a:p>
          <a:p>
            <a:r>
              <a:rPr lang="en-GB" b="1" dirty="0"/>
              <a:t>5. Check</a:t>
            </a:r>
            <a:endParaRPr lang="en-GB" dirty="0"/>
          </a:p>
        </p:txBody>
      </p:sp>
      <p:pic>
        <p:nvPicPr>
          <p:cNvPr id="5" name="Picture 4">
            <a:extLst>
              <a:ext uri="{FF2B5EF4-FFF2-40B4-BE49-F238E27FC236}">
                <a16:creationId xmlns:a16="http://schemas.microsoft.com/office/drawing/2014/main" id="{D67892D8-2636-95A2-1D25-87970E288287}"/>
              </a:ext>
            </a:extLst>
          </p:cNvPr>
          <p:cNvPicPr>
            <a:picLocks noChangeAspect="1"/>
          </p:cNvPicPr>
          <p:nvPr/>
        </p:nvPicPr>
        <p:blipFill>
          <a:blip r:embed="rId3"/>
          <a:stretch>
            <a:fillRect/>
          </a:stretch>
        </p:blipFill>
        <p:spPr>
          <a:xfrm>
            <a:off x="2814122" y="3056731"/>
            <a:ext cx="6350000" cy="2184400"/>
          </a:xfrm>
          <a:prstGeom prst="rect">
            <a:avLst/>
          </a:prstGeom>
        </p:spPr>
      </p:pic>
      <p:sp>
        <p:nvSpPr>
          <p:cNvPr id="4" name="TextBox 3">
            <a:extLst>
              <a:ext uri="{FF2B5EF4-FFF2-40B4-BE49-F238E27FC236}">
                <a16:creationId xmlns:a16="http://schemas.microsoft.com/office/drawing/2014/main" id="{F05DED62-F67C-0494-BC50-30EF1042C3F6}"/>
              </a:ext>
            </a:extLst>
          </p:cNvPr>
          <p:cNvSpPr txBox="1"/>
          <p:nvPr/>
        </p:nvSpPr>
        <p:spPr>
          <a:xfrm>
            <a:off x="3084150" y="3821803"/>
            <a:ext cx="1146468" cy="369332"/>
          </a:xfrm>
          <a:prstGeom prst="rect">
            <a:avLst/>
          </a:prstGeom>
          <a:noFill/>
        </p:spPr>
        <p:txBody>
          <a:bodyPr wrap="none" rtlCol="0">
            <a:spAutoFit/>
          </a:bodyPr>
          <a:lstStyle/>
          <a:p>
            <a:pPr algn="ctr"/>
            <a:r>
              <a:rPr lang="en-GB" dirty="0"/>
              <a:t>102.3 mg</a:t>
            </a:r>
          </a:p>
        </p:txBody>
      </p:sp>
      <p:sp>
        <p:nvSpPr>
          <p:cNvPr id="6" name="TextBox 5">
            <a:extLst>
              <a:ext uri="{FF2B5EF4-FFF2-40B4-BE49-F238E27FC236}">
                <a16:creationId xmlns:a16="http://schemas.microsoft.com/office/drawing/2014/main" id="{D6572F1E-2BA4-C233-BE28-412DC46E8BAA}"/>
              </a:ext>
            </a:extLst>
          </p:cNvPr>
          <p:cNvSpPr txBox="1"/>
          <p:nvPr/>
        </p:nvSpPr>
        <p:spPr>
          <a:xfrm>
            <a:off x="5170095" y="3821803"/>
            <a:ext cx="1082349" cy="369332"/>
          </a:xfrm>
          <a:prstGeom prst="rect">
            <a:avLst/>
          </a:prstGeom>
          <a:noFill/>
        </p:spPr>
        <p:txBody>
          <a:bodyPr wrap="none" rtlCol="0">
            <a:spAutoFit/>
          </a:bodyPr>
          <a:lstStyle/>
          <a:p>
            <a:pPr algn="ctr"/>
            <a:r>
              <a:rPr lang="en-GB" dirty="0"/>
              <a:t>0.1023 g</a:t>
            </a:r>
          </a:p>
        </p:txBody>
      </p:sp>
      <p:sp>
        <p:nvSpPr>
          <p:cNvPr id="7" name="TextBox 6">
            <a:extLst>
              <a:ext uri="{FF2B5EF4-FFF2-40B4-BE49-F238E27FC236}">
                <a16:creationId xmlns:a16="http://schemas.microsoft.com/office/drawing/2014/main" id="{7C928641-F655-01C1-E794-0E20A14A7613}"/>
              </a:ext>
            </a:extLst>
          </p:cNvPr>
          <p:cNvSpPr txBox="1"/>
          <p:nvPr/>
        </p:nvSpPr>
        <p:spPr>
          <a:xfrm>
            <a:off x="3084154" y="5158234"/>
            <a:ext cx="1146469" cy="369332"/>
          </a:xfrm>
          <a:prstGeom prst="rect">
            <a:avLst/>
          </a:prstGeom>
          <a:noFill/>
        </p:spPr>
        <p:txBody>
          <a:bodyPr wrap="none" rtlCol="0">
            <a:spAutoFit/>
          </a:bodyPr>
          <a:lstStyle/>
          <a:p>
            <a:pPr algn="ctr"/>
            <a:r>
              <a:rPr lang="en-GB" dirty="0"/>
              <a:t>250.0 mL</a:t>
            </a:r>
          </a:p>
        </p:txBody>
      </p:sp>
      <p:sp>
        <p:nvSpPr>
          <p:cNvPr id="8" name="TextBox 7">
            <a:extLst>
              <a:ext uri="{FF2B5EF4-FFF2-40B4-BE49-F238E27FC236}">
                <a16:creationId xmlns:a16="http://schemas.microsoft.com/office/drawing/2014/main" id="{C27E6DE0-3B82-EA57-E618-5EB062448DC8}"/>
              </a:ext>
            </a:extLst>
          </p:cNvPr>
          <p:cNvSpPr txBox="1"/>
          <p:nvPr/>
        </p:nvSpPr>
        <p:spPr>
          <a:xfrm>
            <a:off x="5170096" y="5158234"/>
            <a:ext cx="1082349" cy="369332"/>
          </a:xfrm>
          <a:prstGeom prst="rect">
            <a:avLst/>
          </a:prstGeom>
          <a:noFill/>
        </p:spPr>
        <p:txBody>
          <a:bodyPr wrap="none" rtlCol="0">
            <a:spAutoFit/>
          </a:bodyPr>
          <a:lstStyle/>
          <a:p>
            <a:pPr algn="ctr"/>
            <a:r>
              <a:rPr lang="en-GB" dirty="0"/>
              <a:t>0.2500 L</a:t>
            </a:r>
          </a:p>
        </p:txBody>
      </p:sp>
      <p:sp>
        <p:nvSpPr>
          <p:cNvPr id="9" name="TextBox 8">
            <a:extLst>
              <a:ext uri="{FF2B5EF4-FFF2-40B4-BE49-F238E27FC236}">
                <a16:creationId xmlns:a16="http://schemas.microsoft.com/office/drawing/2014/main" id="{4E39675C-BA41-6882-1FAE-8D4929BFA66C}"/>
              </a:ext>
            </a:extLst>
          </p:cNvPr>
          <p:cNvSpPr txBox="1"/>
          <p:nvPr/>
        </p:nvSpPr>
        <p:spPr>
          <a:xfrm>
            <a:off x="7294983" y="4708068"/>
            <a:ext cx="1531188" cy="646331"/>
          </a:xfrm>
          <a:prstGeom prst="rect">
            <a:avLst/>
          </a:prstGeom>
          <a:noFill/>
        </p:spPr>
        <p:txBody>
          <a:bodyPr wrap="none" rtlCol="0">
            <a:spAutoFit/>
          </a:bodyPr>
          <a:lstStyle/>
          <a:p>
            <a:pPr algn="ctr"/>
            <a:r>
              <a:rPr lang="en-GB" dirty="0"/>
              <a:t>0.1023 / 0.25</a:t>
            </a:r>
          </a:p>
          <a:p>
            <a:pPr algn="ctr"/>
            <a:r>
              <a:rPr lang="en-GB" dirty="0"/>
              <a:t>= 0.4092 g/L</a:t>
            </a:r>
          </a:p>
        </p:txBody>
      </p:sp>
    </p:spTree>
    <p:extLst>
      <p:ext uri="{BB962C8B-B14F-4D97-AF65-F5344CB8AC3E}">
        <p14:creationId xmlns:p14="http://schemas.microsoft.com/office/powerpoint/2010/main" val="3777365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CEB0-6FBC-C3F9-05A4-A4076CB0670B}"/>
              </a:ext>
            </a:extLst>
          </p:cNvPr>
          <p:cNvSpPr>
            <a:spLocks noGrp="1"/>
          </p:cNvSpPr>
          <p:nvPr>
            <p:ph type="title"/>
          </p:nvPr>
        </p:nvSpPr>
        <p:spPr/>
        <p:txBody>
          <a:bodyPr/>
          <a:lstStyle/>
          <a:p>
            <a:r>
              <a:rPr lang="en-GB" dirty="0"/>
              <a:t>Molar concentrations and molarity</a:t>
            </a:r>
          </a:p>
        </p:txBody>
      </p:sp>
      <p:sp>
        <p:nvSpPr>
          <p:cNvPr id="3" name="Table Placeholder 2">
            <a:extLst>
              <a:ext uri="{FF2B5EF4-FFF2-40B4-BE49-F238E27FC236}">
                <a16:creationId xmlns:a16="http://schemas.microsoft.com/office/drawing/2014/main" id="{6AA6CA92-7623-6799-9983-9B9969CB534C}"/>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When the quantity of a substance is measured in moles, the concentration is called</a:t>
            </a:r>
            <a:br>
              <a:rPr lang="en-US" dirty="0"/>
            </a:br>
            <a:r>
              <a:rPr lang="en-US" dirty="0"/>
              <a:t>the </a:t>
            </a:r>
            <a:r>
              <a:rPr lang="en-US" b="1" dirty="0"/>
              <a:t>amount concentration</a:t>
            </a:r>
            <a:r>
              <a:rPr lang="en-US" dirty="0"/>
              <a:t>, or </a:t>
            </a:r>
            <a:r>
              <a:rPr lang="en-US" b="1" dirty="0"/>
              <a:t>molar concentration</a:t>
            </a:r>
            <a:r>
              <a:rPr lang="en-US" dirty="0"/>
              <a:t>, or </a:t>
            </a:r>
            <a:r>
              <a:rPr lang="en-US" b="1" dirty="0"/>
              <a:t>molarity</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Nomenclature:</a:t>
            </a:r>
          </a:p>
          <a:p>
            <a:pPr marL="861750" lvl="1" indent="-285750">
              <a:buFont typeface="Arial" panose="020B0604020202020204" pitchFamily="34" charset="0"/>
              <a:buChar char="•"/>
            </a:pPr>
            <a:r>
              <a:rPr lang="en-US" dirty="0"/>
              <a:t>There are two common ways to denote molar concentrations</a:t>
            </a:r>
          </a:p>
          <a:p>
            <a:pPr marL="861750" lvl="1" indent="-285750">
              <a:buFont typeface="Arial" panose="020B0604020202020204" pitchFamily="34" charset="0"/>
              <a:buChar char="•"/>
            </a:pPr>
            <a:r>
              <a:rPr lang="en-US" dirty="0"/>
              <a:t>A </a:t>
            </a:r>
            <a:r>
              <a:rPr lang="en-US" b="1" dirty="0"/>
              <a:t>lower case italic </a:t>
            </a:r>
            <a:r>
              <a:rPr lang="en-US" b="1" i="1" dirty="0"/>
              <a:t>c</a:t>
            </a:r>
            <a:r>
              <a:rPr lang="en-US" b="1" dirty="0"/>
              <a:t> </a:t>
            </a:r>
            <a:r>
              <a:rPr lang="en-US" dirty="0"/>
              <a:t>is the standard symbol for the molar concentration.</a:t>
            </a:r>
          </a:p>
          <a:p>
            <a:pPr marL="861750" lvl="1" indent="-285750">
              <a:buFont typeface="Arial" panose="020B0604020202020204" pitchFamily="34" charset="0"/>
              <a:buChar char="•"/>
            </a:pPr>
            <a:r>
              <a:rPr lang="en-US" dirty="0"/>
              <a:t>The substance or entity may be specified as a subscript or in brackets, e.g. </a:t>
            </a:r>
            <a:r>
              <a:rPr lang="en-US" i="1" dirty="0" err="1"/>
              <a:t>c</a:t>
            </a:r>
            <a:r>
              <a:rPr lang="en-US" baseline="-25000" dirty="0" err="1"/>
              <a:t>B</a:t>
            </a:r>
            <a:r>
              <a:rPr lang="en-US" dirty="0"/>
              <a:t>, </a:t>
            </a:r>
            <a:r>
              <a:rPr lang="en-US" i="1" dirty="0"/>
              <a:t>c</a:t>
            </a:r>
            <a:r>
              <a:rPr lang="en-US" dirty="0"/>
              <a:t>(B), </a:t>
            </a:r>
            <a:r>
              <a:rPr lang="en-US" dirty="0" err="1"/>
              <a:t>c</a:t>
            </a:r>
            <a:r>
              <a:rPr lang="en-US" baseline="-25000" dirty="0" err="1"/>
              <a:t>NaOH</a:t>
            </a:r>
            <a:r>
              <a:rPr lang="en-US" dirty="0"/>
              <a:t>, etc.</a:t>
            </a:r>
          </a:p>
          <a:p>
            <a:pPr marL="861750" lvl="1" indent="-285750">
              <a:buFont typeface="Arial" panose="020B0604020202020204" pitchFamily="34" charset="0"/>
              <a:buChar char="•"/>
            </a:pPr>
            <a:r>
              <a:rPr lang="en-US" b="1" dirty="0"/>
              <a:t>Square brackets</a:t>
            </a:r>
            <a:r>
              <a:rPr lang="en-US" dirty="0"/>
              <a:t> can also used for the molar concentrations of specified species, e.g. [B], [OH</a:t>
            </a:r>
            <a:r>
              <a:rPr lang="en-US" baseline="30000" dirty="0"/>
              <a:t>-</a:t>
            </a:r>
            <a:r>
              <a:rPr lang="en-US" dirty="0"/>
              <a:t>], etc.</a:t>
            </a:r>
            <a:endParaRPr lang="en-GB" dirty="0"/>
          </a:p>
        </p:txBody>
      </p:sp>
      <p:sp>
        <p:nvSpPr>
          <p:cNvPr id="4" name="Rectangle 3">
            <a:extLst>
              <a:ext uri="{FF2B5EF4-FFF2-40B4-BE49-F238E27FC236}">
                <a16:creationId xmlns:a16="http://schemas.microsoft.com/office/drawing/2014/main" id="{D14C0001-0279-005D-267A-37496B86083F}"/>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30B08C-8497-E96D-0BFB-7F33555F5C16}"/>
                  </a:ext>
                </a:extLst>
              </p:cNvPr>
              <p:cNvSpPr txBox="1"/>
              <p:nvPr/>
            </p:nvSpPr>
            <p:spPr>
              <a:xfrm>
                <a:off x="1365812" y="2612739"/>
                <a:ext cx="630173" cy="474425"/>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𝑐</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𝑛</m:t>
                          </m:r>
                        </m:num>
                        <m:den>
                          <m:r>
                            <a:rPr lang="en-GB" b="0" i="1" smtClean="0">
                              <a:latin typeface="Cambria Math" panose="02040503050406030204" pitchFamily="18" charset="0"/>
                            </a:rPr>
                            <m:t>𝑉</m:t>
                          </m:r>
                        </m:den>
                      </m:f>
                    </m:oMath>
                  </m:oMathPara>
                </a14:m>
                <a:endParaRPr lang="en-GB" dirty="0"/>
              </a:p>
            </p:txBody>
          </p:sp>
        </mc:Choice>
        <mc:Fallback xmlns="">
          <p:sp>
            <p:nvSpPr>
              <p:cNvPr id="5" name="TextBox 4">
                <a:extLst>
                  <a:ext uri="{FF2B5EF4-FFF2-40B4-BE49-F238E27FC236}">
                    <a16:creationId xmlns:a16="http://schemas.microsoft.com/office/drawing/2014/main" id="{6F30B08C-8497-E96D-0BFB-7F33555F5C16}"/>
                  </a:ext>
                </a:extLst>
              </p:cNvPr>
              <p:cNvSpPr txBox="1">
                <a:spLocks noRot="1" noChangeAspect="1" noMove="1" noResize="1" noEditPoints="1" noAdjustHandles="1" noChangeArrowheads="1" noChangeShapeType="1" noTextEdit="1"/>
              </p:cNvSpPr>
              <p:nvPr/>
            </p:nvSpPr>
            <p:spPr>
              <a:xfrm>
                <a:off x="1365812" y="2612739"/>
                <a:ext cx="630173" cy="474425"/>
              </a:xfrm>
              <a:prstGeom prst="rect">
                <a:avLst/>
              </a:prstGeom>
              <a:blipFill>
                <a:blip r:embed="rId2"/>
                <a:stretch>
                  <a:fillRect l="-4000" r="-6000" b="-184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373BC2-DE52-1891-0A45-A684F60D709A}"/>
                  </a:ext>
                </a:extLst>
              </p:cNvPr>
              <p:cNvSpPr txBox="1"/>
              <p:nvPr/>
            </p:nvSpPr>
            <p:spPr>
              <a:xfrm>
                <a:off x="10111848" y="2656008"/>
                <a:ext cx="953338" cy="577850"/>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𝑐</m:t>
                          </m:r>
                        </m:e>
                      </m:d>
                      <m:r>
                        <a:rPr lang="en-GB" b="0" i="1" smtClean="0">
                          <a:latin typeface="Cambria Math" panose="02040503050406030204" pitchFamily="18" charset="0"/>
                        </a:rPr>
                        <m:t>=</m:t>
                      </m:r>
                      <m:f>
                        <m:fPr>
                          <m:ctrlPr>
                            <a:rPr lang="el-GR"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num>
                        <m:den>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𝑉</m:t>
                              </m:r>
                            </m:e>
                          </m:d>
                        </m:den>
                      </m:f>
                    </m:oMath>
                  </m:oMathPara>
                </a14:m>
                <a:endParaRPr lang="en-GB" dirty="0"/>
              </a:p>
            </p:txBody>
          </p:sp>
        </mc:Choice>
        <mc:Fallback xmlns="">
          <p:sp>
            <p:nvSpPr>
              <p:cNvPr id="6" name="TextBox 5">
                <a:extLst>
                  <a:ext uri="{FF2B5EF4-FFF2-40B4-BE49-F238E27FC236}">
                    <a16:creationId xmlns:a16="http://schemas.microsoft.com/office/drawing/2014/main" id="{60373BC2-DE52-1891-0A45-A684F60D709A}"/>
                  </a:ext>
                </a:extLst>
              </p:cNvPr>
              <p:cNvSpPr txBox="1">
                <a:spLocks noRot="1" noChangeAspect="1" noMove="1" noResize="1" noEditPoints="1" noAdjustHandles="1" noChangeArrowheads="1" noChangeShapeType="1" noTextEdit="1"/>
              </p:cNvSpPr>
              <p:nvPr/>
            </p:nvSpPr>
            <p:spPr>
              <a:xfrm>
                <a:off x="10111848" y="2656008"/>
                <a:ext cx="953338" cy="577850"/>
              </a:xfrm>
              <a:prstGeom prst="rect">
                <a:avLst/>
              </a:prstGeom>
              <a:blipFill>
                <a:blip r:embed="rId3"/>
                <a:stretch>
                  <a:fillRect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AE298A5-6ECD-BDE8-AC12-43A4594E0EB5}"/>
                  </a:ext>
                </a:extLst>
              </p:cNvPr>
              <p:cNvSpPr txBox="1"/>
              <p:nvPr/>
            </p:nvSpPr>
            <p:spPr>
              <a:xfrm>
                <a:off x="10111848" y="3502094"/>
                <a:ext cx="1118896" cy="524182"/>
              </a:xfrm>
              <a:prstGeom prst="rect">
                <a:avLst/>
              </a:prstGeom>
              <a:noFill/>
            </p:spPr>
            <p:txBody>
              <a:bodyPr wrap="none" lIns="0" tIns="0" rIns="0" bIns="0" rtlCol="0">
                <a:spAutoFit/>
              </a:bodyPr>
              <a:lstStyle/>
              <a:p>
                <a:pPr/>
                <a14:m>
                  <m:oMathPara xmlns:m="http://schemas.openxmlformats.org/officeDocument/2006/math">
                    <m:oMath>
                      <m:f>
                        <m:fPr>
                          <m:ctrlPr>
                            <a:rPr lang="en-GB" i="0">
                              <a:latin typeface="Cambria Math" panose="02040503050406030204" pitchFamily="18" charset="0"/>
                            </a:rPr>
                          </m:ctrlPr>
                        </m:fPr>
                        <m:num>
                          <m:r>
                            <m:rPr>
                              <m:nor/>
                            </m:rPr>
                            <a:rPr lang="en-GB" i="0">
                              <a:latin typeface="Cambria Math" panose="02040503050406030204" pitchFamily="18" charset="0"/>
                            </a:rPr>
                            <m:t>mol</m:t>
                          </m:r>
                        </m:num>
                        <m:den>
                          <m:r>
                            <m:rPr>
                              <m:nor/>
                            </m:rPr>
                            <a:rPr lang="en-GB" i="0">
                              <a:latin typeface="Cambria Math" panose="02040503050406030204" pitchFamily="18" charset="0"/>
                            </a:rPr>
                            <m:t>L</m:t>
                          </m:r>
                        </m:den>
                      </m:f>
                      <m:r>
                        <a:rPr lang="en-GB" b="0" i="1" smtClean="0">
                          <a:latin typeface="Cambria Math" panose="02040503050406030204" pitchFamily="18" charset="0"/>
                        </a:rPr>
                        <m:t>=</m:t>
                      </m:r>
                      <m:f>
                        <m:fPr>
                          <m:ctrlPr>
                            <a:rPr lang="en-GB" b="0" i="0" smtClean="0">
                              <a:latin typeface="Cambria Math" panose="02040503050406030204" pitchFamily="18" charset="0"/>
                            </a:rPr>
                          </m:ctrlPr>
                        </m:fPr>
                        <m:num>
                          <m:r>
                            <m:rPr>
                              <m:nor/>
                            </m:rPr>
                            <a:rPr lang="en-GB" b="0" i="0" smtClean="0">
                              <a:latin typeface="Cambria Math" panose="02040503050406030204" pitchFamily="18" charset="0"/>
                            </a:rPr>
                            <m:t>mol</m:t>
                          </m:r>
                        </m:num>
                        <m:den>
                          <m:r>
                            <m:rPr>
                              <m:nor/>
                            </m:rPr>
                            <a:rPr lang="en-GB" i="0">
                              <a:latin typeface="Cambria Math" panose="02040503050406030204" pitchFamily="18" charset="0"/>
                            </a:rPr>
                            <m:t>L</m:t>
                          </m:r>
                        </m:den>
                      </m:f>
                    </m:oMath>
                  </m:oMathPara>
                </a14:m>
                <a:endParaRPr lang="en-GB" dirty="0"/>
              </a:p>
            </p:txBody>
          </p:sp>
        </mc:Choice>
        <mc:Fallback xmlns="">
          <p:sp>
            <p:nvSpPr>
              <p:cNvPr id="7" name="TextBox 6">
                <a:extLst>
                  <a:ext uri="{FF2B5EF4-FFF2-40B4-BE49-F238E27FC236}">
                    <a16:creationId xmlns:a16="http://schemas.microsoft.com/office/drawing/2014/main" id="{9AE298A5-6ECD-BDE8-AC12-43A4594E0EB5}"/>
                  </a:ext>
                </a:extLst>
              </p:cNvPr>
              <p:cNvSpPr txBox="1">
                <a:spLocks noRot="1" noChangeAspect="1" noMove="1" noResize="1" noEditPoints="1" noAdjustHandles="1" noChangeArrowheads="1" noChangeShapeType="1" noTextEdit="1"/>
              </p:cNvSpPr>
              <p:nvPr/>
            </p:nvSpPr>
            <p:spPr>
              <a:xfrm>
                <a:off x="10111848" y="3502094"/>
                <a:ext cx="1118896" cy="524182"/>
              </a:xfrm>
              <a:prstGeom prst="rect">
                <a:avLst/>
              </a:prstGeom>
              <a:blipFill>
                <a:blip r:embed="rId4"/>
                <a:stretch>
                  <a:fillRect l="-4494" t="-2381" r="-4494" b="-16667"/>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76365496-832E-DAB7-DB03-FA80FA48D1FE}"/>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894869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BC56-41A7-DFE4-847F-4CA702F9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B7801-26CF-EB37-8F96-F4F7BF604C5C}"/>
              </a:ext>
            </a:extLst>
          </p:cNvPr>
          <p:cNvSpPr>
            <a:spLocks noGrp="1"/>
          </p:cNvSpPr>
          <p:nvPr>
            <p:ph type="title"/>
          </p:nvPr>
        </p:nvSpPr>
        <p:spPr/>
        <p:txBody>
          <a:bodyPr/>
          <a:lstStyle/>
          <a:p>
            <a:r>
              <a:rPr lang="en-GB" dirty="0"/>
              <a:t>Molar concentrations and molarity</a:t>
            </a:r>
          </a:p>
        </p:txBody>
      </p:sp>
      <p:sp>
        <p:nvSpPr>
          <p:cNvPr id="3" name="Table Placeholder 2">
            <a:extLst>
              <a:ext uri="{FF2B5EF4-FFF2-40B4-BE49-F238E27FC236}">
                <a16:creationId xmlns:a16="http://schemas.microsoft.com/office/drawing/2014/main" id="{21466F58-82C4-84A4-5016-34F50F87024F}"/>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A solution of 1 mol L</a:t>
            </a:r>
            <a:r>
              <a:rPr lang="en-US" baseline="30000" dirty="0"/>
              <a:t>-1</a:t>
            </a:r>
            <a:r>
              <a:rPr lang="en-US" dirty="0"/>
              <a:t> (or mol dm</a:t>
            </a:r>
            <a:r>
              <a:rPr lang="en-US" baseline="30000" dirty="0"/>
              <a:t>-3</a:t>
            </a:r>
            <a:r>
              <a:rPr lang="en-US" dirty="0"/>
              <a:t>) is commonly called a 1 </a:t>
            </a:r>
            <a:r>
              <a:rPr lang="en-US" b="1" dirty="0"/>
              <a:t>molar</a:t>
            </a:r>
            <a:r>
              <a:rPr lang="en-US" dirty="0"/>
              <a:t> solution,</a:t>
            </a:r>
            <a:br>
              <a:rPr lang="en-US" dirty="0"/>
            </a:br>
            <a:r>
              <a:rPr lang="en-US" dirty="0"/>
              <a:t>denoted 1 M solution. Thus </a:t>
            </a:r>
            <a:r>
              <a:rPr lang="en-US" b="1" dirty="0"/>
              <a:t>M</a:t>
            </a:r>
            <a:r>
              <a:rPr lang="en-US" dirty="0"/>
              <a:t> is treated as a symbol for </a:t>
            </a:r>
            <a:r>
              <a:rPr lang="en-US" b="1" dirty="0"/>
              <a:t>mol L</a:t>
            </a:r>
            <a:r>
              <a:rPr lang="en-US" b="1" baseline="30000" dirty="0"/>
              <a:t>-1</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you’re dealing with smaller concentrations, you might also use units like:</a:t>
            </a:r>
          </a:p>
          <a:p>
            <a:pPr marL="861750" lvl="1" indent="-285750">
              <a:buFont typeface="Arial" panose="020B0604020202020204" pitchFamily="34" charset="0"/>
              <a:buChar char="•"/>
            </a:pPr>
            <a:r>
              <a:rPr lang="en-US" dirty="0"/>
              <a:t>mM</a:t>
            </a:r>
            <a:r>
              <a:rPr lang="en-GB" dirty="0"/>
              <a:t> – </a:t>
            </a:r>
            <a:r>
              <a:rPr lang="en-GB" b="1" dirty="0"/>
              <a:t>milli</a:t>
            </a:r>
            <a:r>
              <a:rPr lang="en-GB" dirty="0"/>
              <a:t>molar (10</a:t>
            </a:r>
            <a:r>
              <a:rPr lang="en-GB" baseline="30000" dirty="0"/>
              <a:t>-3</a:t>
            </a:r>
            <a:r>
              <a:rPr lang="en-GB" dirty="0"/>
              <a:t> M)</a:t>
            </a:r>
          </a:p>
          <a:p>
            <a:pPr marL="861750" lvl="1" indent="-285750">
              <a:buFont typeface="Arial" panose="020B0604020202020204" pitchFamily="34" charset="0"/>
              <a:buChar char="•"/>
            </a:pPr>
            <a:r>
              <a:rPr lang="el-GR" dirty="0"/>
              <a:t>μ</a:t>
            </a:r>
            <a:r>
              <a:rPr lang="en-US" dirty="0"/>
              <a:t>M</a:t>
            </a:r>
            <a:r>
              <a:rPr lang="en-GB" dirty="0"/>
              <a:t> – </a:t>
            </a:r>
            <a:r>
              <a:rPr lang="en-GB" b="1" dirty="0"/>
              <a:t>micro</a:t>
            </a:r>
            <a:r>
              <a:rPr lang="en-GB" dirty="0"/>
              <a:t>molar (10</a:t>
            </a:r>
            <a:r>
              <a:rPr lang="en-GB" baseline="30000" dirty="0"/>
              <a:t>-6</a:t>
            </a:r>
            <a:r>
              <a:rPr lang="en-GB" dirty="0"/>
              <a:t> M)</a:t>
            </a:r>
          </a:p>
          <a:p>
            <a:pPr marL="861750" lvl="1" indent="-285750">
              <a:buFont typeface="Arial" panose="020B0604020202020204" pitchFamily="34" charset="0"/>
              <a:buChar char="•"/>
            </a:pPr>
            <a:r>
              <a:rPr lang="en-US" dirty="0" err="1"/>
              <a:t>nM</a:t>
            </a:r>
            <a:r>
              <a:rPr lang="en-GB" dirty="0"/>
              <a:t> – </a:t>
            </a:r>
            <a:r>
              <a:rPr lang="en-GB" b="1" dirty="0"/>
              <a:t>nano</a:t>
            </a:r>
            <a:r>
              <a:rPr lang="en-GB" dirty="0"/>
              <a:t>molar (10</a:t>
            </a:r>
            <a:r>
              <a:rPr lang="en-GB" baseline="30000" dirty="0"/>
              <a:t>-9</a:t>
            </a:r>
            <a:r>
              <a:rPr lang="en-GB" dirty="0"/>
              <a:t> M)</a:t>
            </a:r>
            <a:endParaRPr lang="en-US" dirty="0"/>
          </a:p>
          <a:p>
            <a:pPr marL="8617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More rarely, you might also come across extremely small concentrations:</a:t>
            </a:r>
          </a:p>
          <a:p>
            <a:pPr marL="861750" lvl="1" indent="-285750">
              <a:buFont typeface="Arial" panose="020B0604020202020204" pitchFamily="34" charset="0"/>
              <a:buChar char="•"/>
            </a:pPr>
            <a:r>
              <a:rPr lang="en-GB" dirty="0"/>
              <a:t>p</a:t>
            </a:r>
            <a:r>
              <a:rPr lang="en-US" dirty="0"/>
              <a:t>M</a:t>
            </a:r>
            <a:r>
              <a:rPr lang="en-GB" dirty="0"/>
              <a:t> – </a:t>
            </a:r>
            <a:r>
              <a:rPr lang="en-GB" b="1" dirty="0"/>
              <a:t>pico</a:t>
            </a:r>
            <a:r>
              <a:rPr lang="en-GB" dirty="0"/>
              <a:t>molar (10</a:t>
            </a:r>
            <a:r>
              <a:rPr lang="en-GB" baseline="30000" dirty="0"/>
              <a:t>-12</a:t>
            </a:r>
            <a:r>
              <a:rPr lang="en-GB" dirty="0"/>
              <a:t> M)</a:t>
            </a:r>
          </a:p>
          <a:p>
            <a:pPr marL="861750" lvl="1" indent="-285750">
              <a:buFont typeface="Arial" panose="020B0604020202020204" pitchFamily="34" charset="0"/>
              <a:buChar char="•"/>
            </a:pPr>
            <a:r>
              <a:rPr lang="en-US" dirty="0" err="1"/>
              <a:t>fM</a:t>
            </a:r>
            <a:r>
              <a:rPr lang="en-GB" dirty="0"/>
              <a:t> – </a:t>
            </a:r>
            <a:r>
              <a:rPr lang="en-GB" b="1" dirty="0"/>
              <a:t>femto</a:t>
            </a:r>
            <a:r>
              <a:rPr lang="en-GB" dirty="0"/>
              <a:t>molar (10</a:t>
            </a:r>
            <a:r>
              <a:rPr lang="en-GB" baseline="30000" dirty="0"/>
              <a:t>-15</a:t>
            </a:r>
            <a:r>
              <a:rPr lang="en-GB" dirty="0"/>
              <a:t> M)</a:t>
            </a:r>
            <a:endParaRPr lang="en-US" dirty="0"/>
          </a:p>
        </p:txBody>
      </p:sp>
    </p:spTree>
    <p:extLst>
      <p:ext uri="{BB962C8B-B14F-4D97-AF65-F5344CB8AC3E}">
        <p14:creationId xmlns:p14="http://schemas.microsoft.com/office/powerpoint/2010/main" val="34566423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E163-DE8F-A01F-CFFF-46F10A8F3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27C59-05DB-25E3-BC8F-82F01B56EF83}"/>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8BD8011B-56EE-7B14-F7A1-8EF41E3F01E6}"/>
              </a:ext>
            </a:extLst>
          </p:cNvPr>
          <p:cNvSpPr>
            <a:spLocks noGrp="1"/>
          </p:cNvSpPr>
          <p:nvPr>
            <p:ph type="tbl" sz="quarter" idx="10"/>
          </p:nvPr>
        </p:nvSpPr>
        <p:spPr/>
        <p:txBody>
          <a:bodyPr/>
          <a:lstStyle/>
          <a:p>
            <a:r>
              <a:rPr lang="en-GB" dirty="0"/>
              <a:t>1.7753 g of a pure (&gt; 99.99% m/m) sample of potassium iodate (KIO</a:t>
            </a:r>
            <a:r>
              <a:rPr lang="en-GB" baseline="-25000" dirty="0"/>
              <a:t>3</a:t>
            </a:r>
            <a:r>
              <a:rPr lang="en-GB" dirty="0"/>
              <a:t>) was dissolved in water and made up to 500.0 mL with water. Calculate the molarity of the solution.</a:t>
            </a:r>
          </a:p>
          <a:p>
            <a:endParaRPr lang="en-GB" dirty="0"/>
          </a:p>
          <a:p>
            <a:pPr marL="342900" indent="-342900">
              <a:buFont typeface="+mj-lt"/>
              <a:buAutoNum type="arabicPeriod"/>
            </a:pPr>
            <a:r>
              <a:rPr lang="en-GB" b="1" dirty="0"/>
              <a:t>Read and Identify</a:t>
            </a:r>
          </a:p>
          <a:p>
            <a:pPr marL="918900" lvl="1" indent="-342900"/>
            <a:r>
              <a:rPr lang="en-GB" dirty="0"/>
              <a:t>What’s being asked? </a:t>
            </a:r>
            <a:r>
              <a:rPr lang="en-GB" i="1" dirty="0"/>
              <a:t>Molarity (molar concentration) of potassium iodate in final solution</a:t>
            </a:r>
            <a:endParaRPr lang="en-GB" dirty="0"/>
          </a:p>
          <a:p>
            <a:pPr marL="918900" lvl="1" indent="-342900"/>
            <a:r>
              <a:rPr lang="en-GB" dirty="0"/>
              <a:t>What information are we given? </a:t>
            </a:r>
            <a:r>
              <a:rPr lang="en-GB" i="1" dirty="0"/>
              <a:t>Mass, purity, chemical formula, volume of final solution</a:t>
            </a:r>
          </a:p>
          <a:p>
            <a:pPr marL="918900" lvl="1" indent="-342900"/>
            <a:r>
              <a:rPr lang="en-GB" dirty="0"/>
              <a:t>The purity is extremely high – we don’t need to worry about the effect of impurities</a:t>
            </a:r>
            <a:endParaRPr lang="en-GB" i="1" dirty="0"/>
          </a:p>
          <a:p>
            <a:pPr marL="342900" indent="-342900">
              <a:buFont typeface="+mj-lt"/>
              <a:buAutoNum type="arabicPeriod"/>
            </a:pPr>
            <a:r>
              <a:rPr lang="en-GB" b="1" dirty="0"/>
              <a:t>Estimate</a:t>
            </a:r>
          </a:p>
          <a:p>
            <a:pPr marL="918900" lvl="1" indent="-342900"/>
            <a:r>
              <a:rPr lang="en-GB" dirty="0"/>
              <a:t>Potassium iodate is a simple formula but the atoms are quite heavy – the molar mass might be round about 100 or 200 g/mol.</a:t>
            </a:r>
          </a:p>
          <a:p>
            <a:pPr marL="918900" lvl="1" indent="-342900"/>
            <a:r>
              <a:rPr lang="en-GB" dirty="0"/>
              <a:t>If we have roughly 1.5 g in half a litre, we’ll have 3 g per litre. 3 / 100 = 0.03 M, so we should expect the concentration to be in the tens of millimolar</a:t>
            </a:r>
          </a:p>
        </p:txBody>
      </p:sp>
    </p:spTree>
    <p:extLst>
      <p:ext uri="{BB962C8B-B14F-4D97-AF65-F5344CB8AC3E}">
        <p14:creationId xmlns:p14="http://schemas.microsoft.com/office/powerpoint/2010/main" val="2888734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D473B-7F1F-EDC3-AFC2-1680C680D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8A241-7580-352B-DDE0-AE1F03693536}"/>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BB5D437B-E612-C576-50D0-4EFE4E3E198A}"/>
              </a:ext>
            </a:extLst>
          </p:cNvPr>
          <p:cNvSpPr>
            <a:spLocks noGrp="1"/>
          </p:cNvSpPr>
          <p:nvPr>
            <p:ph type="tbl" sz="quarter" idx="10"/>
          </p:nvPr>
        </p:nvSpPr>
        <p:spPr/>
        <p:txBody>
          <a:bodyPr/>
          <a:lstStyle/>
          <a:p>
            <a:r>
              <a:rPr lang="en-GB" dirty="0"/>
              <a:t>1.7753 g of a pure (&gt; 99.99% m/m) sample of potassium iodate (KIO</a:t>
            </a:r>
            <a:r>
              <a:rPr lang="en-GB" baseline="-25000" dirty="0"/>
              <a:t>3</a:t>
            </a:r>
            <a:r>
              <a:rPr lang="en-GB" dirty="0"/>
              <a:t>) was dissolved in water and made up to 500.0 mL with water. Calculate the molarity of the solution.</a:t>
            </a:r>
          </a:p>
          <a:p>
            <a:endParaRPr lang="en-GB" dirty="0"/>
          </a:p>
          <a:p>
            <a:r>
              <a:rPr lang="en-GB" b="1" dirty="0"/>
              <a:t>3. Plan</a:t>
            </a:r>
          </a:p>
          <a:p>
            <a:r>
              <a:rPr lang="en-GB" b="1" dirty="0"/>
              <a:t>4. Execute</a:t>
            </a:r>
          </a:p>
          <a:p>
            <a:r>
              <a:rPr lang="en-GB" b="1" dirty="0"/>
              <a:t>5. Check</a:t>
            </a:r>
            <a:endParaRPr lang="en-GB" dirty="0"/>
          </a:p>
        </p:txBody>
      </p:sp>
      <p:pic>
        <p:nvPicPr>
          <p:cNvPr id="6" name="Picture 5">
            <a:extLst>
              <a:ext uri="{FF2B5EF4-FFF2-40B4-BE49-F238E27FC236}">
                <a16:creationId xmlns:a16="http://schemas.microsoft.com/office/drawing/2014/main" id="{3730106E-9446-CCEC-5B1C-94515DF932F1}"/>
              </a:ext>
            </a:extLst>
          </p:cNvPr>
          <p:cNvPicPr>
            <a:picLocks noChangeAspect="1"/>
          </p:cNvPicPr>
          <p:nvPr/>
        </p:nvPicPr>
        <p:blipFill>
          <a:blip r:embed="rId2"/>
          <a:stretch>
            <a:fillRect/>
          </a:stretch>
        </p:blipFill>
        <p:spPr>
          <a:xfrm>
            <a:off x="1631697" y="2537988"/>
            <a:ext cx="10045926" cy="3377942"/>
          </a:xfrm>
          <a:prstGeom prst="rect">
            <a:avLst/>
          </a:prstGeom>
        </p:spPr>
      </p:pic>
      <p:sp>
        <p:nvSpPr>
          <p:cNvPr id="4" name="TextBox 3">
            <a:extLst>
              <a:ext uri="{FF2B5EF4-FFF2-40B4-BE49-F238E27FC236}">
                <a16:creationId xmlns:a16="http://schemas.microsoft.com/office/drawing/2014/main" id="{09DF61E7-7682-A084-07EB-57D3E6DD6D7B}"/>
              </a:ext>
            </a:extLst>
          </p:cNvPr>
          <p:cNvSpPr txBox="1"/>
          <p:nvPr/>
        </p:nvSpPr>
        <p:spPr>
          <a:xfrm>
            <a:off x="4327222" y="3272492"/>
            <a:ext cx="1082348" cy="369332"/>
          </a:xfrm>
          <a:prstGeom prst="rect">
            <a:avLst/>
          </a:prstGeom>
          <a:noFill/>
        </p:spPr>
        <p:txBody>
          <a:bodyPr wrap="none" rtlCol="0">
            <a:spAutoFit/>
          </a:bodyPr>
          <a:lstStyle/>
          <a:p>
            <a:pPr algn="ctr"/>
            <a:r>
              <a:rPr lang="en-GB" dirty="0"/>
              <a:t>1.7753 g</a:t>
            </a:r>
          </a:p>
        </p:txBody>
      </p:sp>
      <p:sp>
        <p:nvSpPr>
          <p:cNvPr id="5" name="TextBox 4">
            <a:extLst>
              <a:ext uri="{FF2B5EF4-FFF2-40B4-BE49-F238E27FC236}">
                <a16:creationId xmlns:a16="http://schemas.microsoft.com/office/drawing/2014/main" id="{FD2A140E-36BE-EBE4-8722-8552E4E6C216}"/>
              </a:ext>
            </a:extLst>
          </p:cNvPr>
          <p:cNvSpPr txBox="1"/>
          <p:nvPr/>
        </p:nvSpPr>
        <p:spPr>
          <a:xfrm>
            <a:off x="2298050" y="4510449"/>
            <a:ext cx="667169" cy="369332"/>
          </a:xfrm>
          <a:prstGeom prst="rect">
            <a:avLst/>
          </a:prstGeom>
          <a:noFill/>
        </p:spPr>
        <p:txBody>
          <a:bodyPr wrap="none" rtlCol="0">
            <a:spAutoFit/>
          </a:bodyPr>
          <a:lstStyle/>
          <a:p>
            <a:pPr algn="ctr"/>
            <a:r>
              <a:rPr lang="en-GB" dirty="0"/>
              <a:t>KIO</a:t>
            </a:r>
            <a:r>
              <a:rPr lang="en-GB" baseline="-25000" dirty="0"/>
              <a:t>3</a:t>
            </a:r>
          </a:p>
        </p:txBody>
      </p:sp>
      <p:sp>
        <p:nvSpPr>
          <p:cNvPr id="7" name="TextBox 6">
            <a:extLst>
              <a:ext uri="{FF2B5EF4-FFF2-40B4-BE49-F238E27FC236}">
                <a16:creationId xmlns:a16="http://schemas.microsoft.com/office/drawing/2014/main" id="{CC397F82-8A79-D1E3-1AF8-6C39BD3859EA}"/>
              </a:ext>
            </a:extLst>
          </p:cNvPr>
          <p:cNvSpPr txBox="1"/>
          <p:nvPr/>
        </p:nvSpPr>
        <p:spPr>
          <a:xfrm>
            <a:off x="4152858" y="4524517"/>
            <a:ext cx="1402948" cy="369332"/>
          </a:xfrm>
          <a:prstGeom prst="rect">
            <a:avLst/>
          </a:prstGeom>
          <a:noFill/>
        </p:spPr>
        <p:txBody>
          <a:bodyPr wrap="none" rtlCol="0">
            <a:spAutoFit/>
          </a:bodyPr>
          <a:lstStyle/>
          <a:p>
            <a:pPr algn="ctr"/>
            <a:r>
              <a:rPr lang="en-GB" dirty="0"/>
              <a:t>214.001 g/L</a:t>
            </a:r>
          </a:p>
        </p:txBody>
      </p:sp>
      <p:sp>
        <p:nvSpPr>
          <p:cNvPr id="8" name="TextBox 7">
            <a:extLst>
              <a:ext uri="{FF2B5EF4-FFF2-40B4-BE49-F238E27FC236}">
                <a16:creationId xmlns:a16="http://schemas.microsoft.com/office/drawing/2014/main" id="{3043E01F-926C-F3B0-4422-FC914BD75C6B}"/>
              </a:ext>
            </a:extLst>
          </p:cNvPr>
          <p:cNvSpPr txBox="1"/>
          <p:nvPr/>
        </p:nvSpPr>
        <p:spPr>
          <a:xfrm>
            <a:off x="6066673" y="4046216"/>
            <a:ext cx="2358339" cy="646331"/>
          </a:xfrm>
          <a:prstGeom prst="rect">
            <a:avLst/>
          </a:prstGeom>
          <a:noFill/>
        </p:spPr>
        <p:txBody>
          <a:bodyPr wrap="none" rtlCol="0">
            <a:spAutoFit/>
          </a:bodyPr>
          <a:lstStyle/>
          <a:p>
            <a:pPr algn="ctr"/>
            <a:r>
              <a:rPr lang="en-GB" dirty="0"/>
              <a:t>1.7753 / 214.001</a:t>
            </a:r>
          </a:p>
          <a:p>
            <a:pPr algn="ctr"/>
            <a:r>
              <a:rPr lang="en-GB" dirty="0"/>
              <a:t>= 8.29576 x 10</a:t>
            </a:r>
            <a:r>
              <a:rPr lang="en-GB" baseline="30000" dirty="0"/>
              <a:t>-3</a:t>
            </a:r>
            <a:r>
              <a:rPr lang="en-GB" dirty="0"/>
              <a:t> mol</a:t>
            </a:r>
          </a:p>
        </p:txBody>
      </p:sp>
      <p:sp>
        <p:nvSpPr>
          <p:cNvPr id="9" name="TextBox 8">
            <a:extLst>
              <a:ext uri="{FF2B5EF4-FFF2-40B4-BE49-F238E27FC236}">
                <a16:creationId xmlns:a16="http://schemas.microsoft.com/office/drawing/2014/main" id="{A7912DFF-9FD3-B1F8-9292-5CD41948A8DA}"/>
              </a:ext>
            </a:extLst>
          </p:cNvPr>
          <p:cNvSpPr txBox="1"/>
          <p:nvPr/>
        </p:nvSpPr>
        <p:spPr>
          <a:xfrm>
            <a:off x="6704668" y="5831443"/>
            <a:ext cx="1082349" cy="369332"/>
          </a:xfrm>
          <a:prstGeom prst="rect">
            <a:avLst/>
          </a:prstGeom>
          <a:noFill/>
        </p:spPr>
        <p:txBody>
          <a:bodyPr wrap="none" rtlCol="0">
            <a:spAutoFit/>
          </a:bodyPr>
          <a:lstStyle/>
          <a:p>
            <a:pPr algn="ctr"/>
            <a:r>
              <a:rPr lang="en-GB" dirty="0"/>
              <a:t>0.5000 L</a:t>
            </a:r>
          </a:p>
        </p:txBody>
      </p:sp>
      <p:sp>
        <p:nvSpPr>
          <p:cNvPr id="10" name="TextBox 9">
            <a:extLst>
              <a:ext uri="{FF2B5EF4-FFF2-40B4-BE49-F238E27FC236}">
                <a16:creationId xmlns:a16="http://schemas.microsoft.com/office/drawing/2014/main" id="{C4B2E756-8244-BC91-592B-CB81ADA49341}"/>
              </a:ext>
            </a:extLst>
          </p:cNvPr>
          <p:cNvSpPr txBox="1"/>
          <p:nvPr/>
        </p:nvSpPr>
        <p:spPr>
          <a:xfrm>
            <a:off x="4281102" y="5831443"/>
            <a:ext cx="1146469" cy="369332"/>
          </a:xfrm>
          <a:prstGeom prst="rect">
            <a:avLst/>
          </a:prstGeom>
          <a:noFill/>
        </p:spPr>
        <p:txBody>
          <a:bodyPr wrap="none" rtlCol="0">
            <a:spAutoFit/>
          </a:bodyPr>
          <a:lstStyle/>
          <a:p>
            <a:pPr algn="ctr"/>
            <a:r>
              <a:rPr lang="en-GB" dirty="0"/>
              <a:t>500.0 mL</a:t>
            </a:r>
          </a:p>
        </p:txBody>
      </p:sp>
      <p:sp>
        <p:nvSpPr>
          <p:cNvPr id="11" name="TextBox 10">
            <a:extLst>
              <a:ext uri="{FF2B5EF4-FFF2-40B4-BE49-F238E27FC236}">
                <a16:creationId xmlns:a16="http://schemas.microsoft.com/office/drawing/2014/main" id="{51B363B6-0845-DF43-8CA2-A82188F797CF}"/>
              </a:ext>
            </a:extLst>
          </p:cNvPr>
          <p:cNvSpPr txBox="1"/>
          <p:nvPr/>
        </p:nvSpPr>
        <p:spPr>
          <a:xfrm>
            <a:off x="9186610" y="4874840"/>
            <a:ext cx="2167581" cy="646331"/>
          </a:xfrm>
          <a:prstGeom prst="rect">
            <a:avLst/>
          </a:prstGeom>
          <a:noFill/>
        </p:spPr>
        <p:txBody>
          <a:bodyPr wrap="none" rtlCol="0">
            <a:spAutoFit/>
          </a:bodyPr>
          <a:lstStyle/>
          <a:p>
            <a:pPr algn="ctr"/>
            <a:r>
              <a:rPr lang="en-GB" dirty="0"/>
              <a:t>8.29576 x 10</a:t>
            </a:r>
            <a:r>
              <a:rPr lang="en-GB" baseline="30000" dirty="0"/>
              <a:t>-3</a:t>
            </a:r>
            <a:r>
              <a:rPr lang="en-GB" dirty="0"/>
              <a:t> / 0.5</a:t>
            </a:r>
          </a:p>
          <a:p>
            <a:pPr algn="ctr"/>
            <a:r>
              <a:rPr lang="en-GB" dirty="0"/>
              <a:t>= 0.01659 M</a:t>
            </a:r>
          </a:p>
        </p:txBody>
      </p:sp>
    </p:spTree>
    <p:extLst>
      <p:ext uri="{BB962C8B-B14F-4D97-AF65-F5344CB8AC3E}">
        <p14:creationId xmlns:p14="http://schemas.microsoft.com/office/powerpoint/2010/main" val="2887132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5005-936C-2EB0-5837-E0C7285B5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DA14A-A6D4-DE20-EDBA-BE940D0F7D00}"/>
              </a:ext>
            </a:extLst>
          </p:cNvPr>
          <p:cNvSpPr>
            <a:spLocks noGrp="1"/>
          </p:cNvSpPr>
          <p:nvPr>
            <p:ph type="title"/>
          </p:nvPr>
        </p:nvSpPr>
        <p:spPr/>
        <p:txBody>
          <a:bodyPr/>
          <a:lstStyle/>
          <a:p>
            <a:r>
              <a:rPr lang="en-GB" dirty="0"/>
              <a:t>Intensive and extensive quantities</a:t>
            </a:r>
          </a:p>
        </p:txBody>
      </p:sp>
      <p:sp>
        <p:nvSpPr>
          <p:cNvPr id="3" name="Table Placeholder 2">
            <a:extLst>
              <a:ext uri="{FF2B5EF4-FFF2-40B4-BE49-F238E27FC236}">
                <a16:creationId xmlns:a16="http://schemas.microsoft.com/office/drawing/2014/main" id="{888AA16B-CE57-03B5-AF56-954E7F4A43F5}"/>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amount of substance is an </a:t>
            </a:r>
            <a:r>
              <a:rPr lang="en-GB" b="1" dirty="0"/>
              <a:t>extensive</a:t>
            </a:r>
            <a:r>
              <a:rPr lang="en-GB" dirty="0"/>
              <a:t> quantity – doubling the sample doubles the amount of moles </a:t>
            </a:r>
          </a:p>
          <a:p>
            <a:pPr marL="285750" indent="-285750">
              <a:buFont typeface="Arial" panose="020B0604020202020204" pitchFamily="34" charset="0"/>
              <a:buChar char="•"/>
            </a:pPr>
            <a:r>
              <a:rPr lang="en-GB" dirty="0"/>
              <a:t>Concentrations are </a:t>
            </a:r>
            <a:r>
              <a:rPr lang="en-GB" b="1" dirty="0"/>
              <a:t>intensive</a:t>
            </a:r>
            <a:r>
              <a:rPr lang="en-GB" dirty="0"/>
              <a:t> quantities – they don't change if you have more solution of the same composition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Extensive</a:t>
            </a:r>
            <a:r>
              <a:rPr lang="en-GB" dirty="0"/>
              <a:t> quantities depend on how much material you have</a:t>
            </a:r>
          </a:p>
          <a:p>
            <a:pPr marL="861750" lvl="1" indent="-285750">
              <a:buFont typeface="Arial" panose="020B0604020202020204" pitchFamily="34" charset="0"/>
              <a:buChar char="•"/>
            </a:pPr>
            <a:r>
              <a:rPr lang="en-GB" dirty="0" err="1"/>
              <a:t>Exampes</a:t>
            </a:r>
            <a:r>
              <a:rPr lang="en-GB" dirty="0"/>
              <a:t>: mass, volume, amount of substance</a:t>
            </a:r>
          </a:p>
          <a:p>
            <a:pPr marL="285750" indent="-285750">
              <a:buFont typeface="Arial" panose="020B0604020202020204" pitchFamily="34" charset="0"/>
              <a:buChar char="•"/>
            </a:pPr>
            <a:r>
              <a:rPr lang="en-GB" b="1" dirty="0"/>
              <a:t>Intensive</a:t>
            </a:r>
            <a:r>
              <a:rPr lang="en-GB" dirty="0"/>
              <a:t> quantities are properties of the material itself, independent of sample size</a:t>
            </a:r>
          </a:p>
          <a:p>
            <a:pPr marL="861750" lvl="1" indent="-285750">
              <a:buFont typeface="Arial" panose="020B0604020202020204" pitchFamily="34" charset="0"/>
              <a:buChar char="•"/>
            </a:pPr>
            <a:r>
              <a:rPr lang="en-GB" dirty="0"/>
              <a:t>Examples: density, temperature, molarity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Extensive</a:t>
            </a:r>
            <a:r>
              <a:rPr lang="en-GB" dirty="0"/>
              <a:t> quantities add up when you combine samples – two 5 g samples give you 10 g total </a:t>
            </a:r>
          </a:p>
          <a:p>
            <a:pPr marL="285750" indent="-285750">
              <a:buFont typeface="Arial" panose="020B0604020202020204" pitchFamily="34" charset="0"/>
              <a:buChar char="•"/>
            </a:pPr>
            <a:r>
              <a:rPr lang="en-GB" b="1" dirty="0"/>
              <a:t>Intensive</a:t>
            </a:r>
            <a:r>
              <a:rPr lang="en-GB" dirty="0"/>
              <a:t> quantities don’t add up – combining two solutions at 20°C doesn't give you 40°C </a:t>
            </a:r>
          </a:p>
        </p:txBody>
      </p:sp>
    </p:spTree>
    <p:extLst>
      <p:ext uri="{BB962C8B-B14F-4D97-AF65-F5344CB8AC3E}">
        <p14:creationId xmlns:p14="http://schemas.microsoft.com/office/powerpoint/2010/main" val="383711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2824-01CE-46F6-2FDE-4A07A6604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F0FD6-E850-5670-59D9-54F1214E539B}"/>
              </a:ext>
            </a:extLst>
          </p:cNvPr>
          <p:cNvSpPr>
            <a:spLocks noGrp="1"/>
          </p:cNvSpPr>
          <p:nvPr>
            <p:ph type="title"/>
          </p:nvPr>
        </p:nvSpPr>
        <p:spPr/>
        <p:txBody>
          <a:bodyPr/>
          <a:lstStyle/>
          <a:p>
            <a:r>
              <a:rPr lang="en-GB" dirty="0"/>
              <a:t>Example: concentrations and amounts</a:t>
            </a:r>
          </a:p>
        </p:txBody>
      </p:sp>
      <p:sp>
        <p:nvSpPr>
          <p:cNvPr id="3" name="Table Placeholder 2">
            <a:extLst>
              <a:ext uri="{FF2B5EF4-FFF2-40B4-BE49-F238E27FC236}">
                <a16:creationId xmlns:a16="http://schemas.microsoft.com/office/drawing/2014/main" id="{1BAD946B-9628-2465-7274-FA00317CCD00}"/>
              </a:ext>
            </a:extLst>
          </p:cNvPr>
          <p:cNvSpPr>
            <a:spLocks noGrp="1"/>
          </p:cNvSpPr>
          <p:nvPr>
            <p:ph type="tbl" sz="quarter" idx="10"/>
          </p:nvPr>
        </p:nvSpPr>
        <p:spPr/>
        <p:txBody>
          <a:bodyPr/>
          <a:lstStyle/>
          <a:p>
            <a:r>
              <a:rPr lang="en-US" dirty="0"/>
              <a:t>Calculate the amount of sodium in 10 mL of a 0.1 M sodium sulphate (Na</a:t>
            </a:r>
            <a:r>
              <a:rPr lang="en-US" baseline="-25000" dirty="0"/>
              <a:t>2</a:t>
            </a:r>
            <a:r>
              <a:rPr lang="en-US" dirty="0"/>
              <a:t>SO</a:t>
            </a:r>
            <a:r>
              <a:rPr lang="en-US" baseline="-25000" dirty="0"/>
              <a:t>4</a:t>
            </a:r>
            <a:r>
              <a:rPr lang="en-US" dirty="0"/>
              <a:t>) solution.</a:t>
            </a:r>
          </a:p>
          <a:p>
            <a:endParaRPr lang="en-GB" b="1" dirty="0"/>
          </a:p>
          <a:p>
            <a:pPr marL="342900" indent="-342900">
              <a:buAutoNum type="arabicPeriod"/>
            </a:pPr>
            <a:r>
              <a:rPr lang="en-GB" b="1" dirty="0"/>
              <a:t>Read &amp; identify</a:t>
            </a:r>
          </a:p>
          <a:p>
            <a:pPr marL="918900" lvl="1" indent="-342900"/>
            <a:r>
              <a:rPr lang="en-GB" dirty="0"/>
              <a:t>What’s being asked? </a:t>
            </a:r>
            <a:r>
              <a:rPr lang="en-GB" i="1" dirty="0"/>
              <a:t>Number of moles of sodium – </a:t>
            </a:r>
            <a:r>
              <a:rPr lang="en-GB" b="1" i="1" dirty="0"/>
              <a:t>not </a:t>
            </a:r>
            <a:r>
              <a:rPr lang="en-GB" i="1" dirty="0"/>
              <a:t>sodium sulphate! There are two sodium ions for each formula unit!</a:t>
            </a:r>
          </a:p>
          <a:p>
            <a:pPr marL="918900" lvl="1" indent="-342900"/>
            <a:r>
              <a:rPr lang="en-GB" dirty="0"/>
              <a:t>What data is given? </a:t>
            </a:r>
            <a:r>
              <a:rPr lang="en-GB" i="1" dirty="0"/>
              <a:t>Chemical formula, volume and molar concentration</a:t>
            </a:r>
          </a:p>
          <a:p>
            <a:pPr marL="342900" indent="-342900">
              <a:buFont typeface="+mj-lt"/>
              <a:buAutoNum type="arabicPeriod"/>
            </a:pPr>
            <a:r>
              <a:rPr lang="en-GB" b="1" dirty="0"/>
              <a:t>Estimate</a:t>
            </a:r>
          </a:p>
          <a:p>
            <a:pPr marL="918900" lvl="1" indent="-342900"/>
            <a:r>
              <a:rPr lang="en-GB" dirty="0"/>
              <a:t>This is an easy one! A 0.1 M solution has 0.1 mol per litre, so in 0.01 litres (one hundredth the volume) we’ll have 0.001 mol sodium sulphate. Therefore we’ll have twice as many sodium ions, 2 mmol.</a:t>
            </a:r>
          </a:p>
        </p:txBody>
      </p:sp>
    </p:spTree>
    <p:extLst>
      <p:ext uri="{BB962C8B-B14F-4D97-AF65-F5344CB8AC3E}">
        <p14:creationId xmlns:p14="http://schemas.microsoft.com/office/powerpoint/2010/main" val="1584070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B9F9-446D-737C-B018-77B5466A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4FA00-7281-D4D3-281B-94A08B75DD4C}"/>
              </a:ext>
            </a:extLst>
          </p:cNvPr>
          <p:cNvSpPr>
            <a:spLocks noGrp="1"/>
          </p:cNvSpPr>
          <p:nvPr>
            <p:ph type="title"/>
          </p:nvPr>
        </p:nvSpPr>
        <p:spPr/>
        <p:txBody>
          <a:bodyPr/>
          <a:lstStyle/>
          <a:p>
            <a:r>
              <a:rPr lang="en-GB" dirty="0"/>
              <a:t>Example: concentrations and amounts</a:t>
            </a:r>
          </a:p>
        </p:txBody>
      </p:sp>
      <p:sp>
        <p:nvSpPr>
          <p:cNvPr id="3" name="Table Placeholder 2">
            <a:extLst>
              <a:ext uri="{FF2B5EF4-FFF2-40B4-BE49-F238E27FC236}">
                <a16:creationId xmlns:a16="http://schemas.microsoft.com/office/drawing/2014/main" id="{BE8533AF-12DC-9BE4-3384-1651FEE3455C}"/>
              </a:ext>
            </a:extLst>
          </p:cNvPr>
          <p:cNvSpPr>
            <a:spLocks noGrp="1"/>
          </p:cNvSpPr>
          <p:nvPr>
            <p:ph type="tbl" sz="quarter" idx="10"/>
          </p:nvPr>
        </p:nvSpPr>
        <p:spPr/>
        <p:txBody>
          <a:bodyPr/>
          <a:lstStyle/>
          <a:p>
            <a:r>
              <a:rPr lang="en-US" dirty="0"/>
              <a:t>Calculate the amount of sodium in 10 mL of a 0.1 M sodium sulphate (Na</a:t>
            </a:r>
            <a:r>
              <a:rPr lang="en-US" baseline="-25000" dirty="0"/>
              <a:t>2</a:t>
            </a:r>
            <a:r>
              <a:rPr lang="en-US" dirty="0"/>
              <a:t>SO</a:t>
            </a:r>
            <a:r>
              <a:rPr lang="en-US" baseline="-25000" dirty="0"/>
              <a:t>4</a:t>
            </a:r>
            <a:r>
              <a:rPr lang="en-US" dirty="0"/>
              <a:t>) solution.</a:t>
            </a:r>
          </a:p>
          <a:p>
            <a:endParaRPr lang="en-GB" b="1" dirty="0"/>
          </a:p>
          <a:p>
            <a:r>
              <a:rPr lang="en-GB" b="1" dirty="0"/>
              <a:t>3. Plan</a:t>
            </a:r>
          </a:p>
          <a:p>
            <a:r>
              <a:rPr lang="en-GB" b="1" dirty="0"/>
              <a:t>4. Execute</a:t>
            </a:r>
          </a:p>
          <a:p>
            <a:r>
              <a:rPr lang="en-GB" b="1" dirty="0"/>
              <a:t>5. Check</a:t>
            </a:r>
            <a:endParaRPr lang="en-GB" dirty="0"/>
          </a:p>
        </p:txBody>
      </p:sp>
      <p:pic>
        <p:nvPicPr>
          <p:cNvPr id="4" name="Picture 3">
            <a:extLst>
              <a:ext uri="{FF2B5EF4-FFF2-40B4-BE49-F238E27FC236}">
                <a16:creationId xmlns:a16="http://schemas.microsoft.com/office/drawing/2014/main" id="{857ECF16-3221-D63B-F57C-778F59B3B881}"/>
              </a:ext>
            </a:extLst>
          </p:cNvPr>
          <p:cNvPicPr>
            <a:picLocks noChangeAspect="1"/>
          </p:cNvPicPr>
          <p:nvPr/>
        </p:nvPicPr>
        <p:blipFill>
          <a:blip r:embed="rId2"/>
          <a:stretch>
            <a:fillRect/>
          </a:stretch>
        </p:blipFill>
        <p:spPr>
          <a:xfrm>
            <a:off x="2797174" y="2886455"/>
            <a:ext cx="8297545" cy="2323313"/>
          </a:xfrm>
          <a:prstGeom prst="rect">
            <a:avLst/>
          </a:prstGeom>
        </p:spPr>
      </p:pic>
      <p:sp>
        <p:nvSpPr>
          <p:cNvPr id="5" name="TextBox 4">
            <a:extLst>
              <a:ext uri="{FF2B5EF4-FFF2-40B4-BE49-F238E27FC236}">
                <a16:creationId xmlns:a16="http://schemas.microsoft.com/office/drawing/2014/main" id="{FAD32D9E-F326-B2E2-D824-20DEB9DC2C78}"/>
              </a:ext>
            </a:extLst>
          </p:cNvPr>
          <p:cNvSpPr txBox="1"/>
          <p:nvPr/>
        </p:nvSpPr>
        <p:spPr>
          <a:xfrm>
            <a:off x="3179298" y="3622507"/>
            <a:ext cx="825867" cy="369332"/>
          </a:xfrm>
          <a:prstGeom prst="rect">
            <a:avLst/>
          </a:prstGeom>
          <a:noFill/>
        </p:spPr>
        <p:txBody>
          <a:bodyPr wrap="none" rtlCol="0">
            <a:spAutoFit/>
          </a:bodyPr>
          <a:lstStyle/>
          <a:p>
            <a:pPr algn="ctr"/>
            <a:r>
              <a:rPr lang="en-GB" dirty="0"/>
              <a:t>10 mL</a:t>
            </a:r>
          </a:p>
        </p:txBody>
      </p:sp>
      <p:sp>
        <p:nvSpPr>
          <p:cNvPr id="6" name="TextBox 5">
            <a:extLst>
              <a:ext uri="{FF2B5EF4-FFF2-40B4-BE49-F238E27FC236}">
                <a16:creationId xmlns:a16="http://schemas.microsoft.com/office/drawing/2014/main" id="{1BB10534-7729-5A39-36AF-2FAF655C1D1F}"/>
              </a:ext>
            </a:extLst>
          </p:cNvPr>
          <p:cNvSpPr txBox="1"/>
          <p:nvPr/>
        </p:nvSpPr>
        <p:spPr>
          <a:xfrm>
            <a:off x="5458265" y="3622507"/>
            <a:ext cx="825867" cy="369332"/>
          </a:xfrm>
          <a:prstGeom prst="rect">
            <a:avLst/>
          </a:prstGeom>
          <a:noFill/>
        </p:spPr>
        <p:txBody>
          <a:bodyPr wrap="none" rtlCol="0">
            <a:spAutoFit/>
          </a:bodyPr>
          <a:lstStyle/>
          <a:p>
            <a:pPr algn="ctr"/>
            <a:r>
              <a:rPr lang="en-GB" dirty="0"/>
              <a:t>0.01 L</a:t>
            </a:r>
          </a:p>
        </p:txBody>
      </p:sp>
      <p:sp>
        <p:nvSpPr>
          <p:cNvPr id="7" name="TextBox 6">
            <a:extLst>
              <a:ext uri="{FF2B5EF4-FFF2-40B4-BE49-F238E27FC236}">
                <a16:creationId xmlns:a16="http://schemas.microsoft.com/office/drawing/2014/main" id="{8E026070-BE86-E947-C07F-8282B3962686}"/>
              </a:ext>
            </a:extLst>
          </p:cNvPr>
          <p:cNvSpPr txBox="1"/>
          <p:nvPr/>
        </p:nvSpPr>
        <p:spPr>
          <a:xfrm>
            <a:off x="5304378" y="5184021"/>
            <a:ext cx="1133645" cy="369332"/>
          </a:xfrm>
          <a:prstGeom prst="rect">
            <a:avLst/>
          </a:prstGeom>
          <a:noFill/>
        </p:spPr>
        <p:txBody>
          <a:bodyPr wrap="none" rtlCol="0">
            <a:spAutoFit/>
          </a:bodyPr>
          <a:lstStyle/>
          <a:p>
            <a:pPr algn="ctr"/>
            <a:r>
              <a:rPr lang="en-GB" dirty="0"/>
              <a:t>0.1 mol/L</a:t>
            </a:r>
          </a:p>
        </p:txBody>
      </p:sp>
      <p:sp>
        <p:nvSpPr>
          <p:cNvPr id="8" name="TextBox 7">
            <a:extLst>
              <a:ext uri="{FF2B5EF4-FFF2-40B4-BE49-F238E27FC236}">
                <a16:creationId xmlns:a16="http://schemas.microsoft.com/office/drawing/2014/main" id="{2A54D418-2DCA-1D5B-4690-0493BC15C803}"/>
              </a:ext>
            </a:extLst>
          </p:cNvPr>
          <p:cNvSpPr txBox="1"/>
          <p:nvPr/>
        </p:nvSpPr>
        <p:spPr>
          <a:xfrm>
            <a:off x="7536306" y="4621313"/>
            <a:ext cx="1396536" cy="646331"/>
          </a:xfrm>
          <a:prstGeom prst="rect">
            <a:avLst/>
          </a:prstGeom>
          <a:noFill/>
        </p:spPr>
        <p:txBody>
          <a:bodyPr wrap="none" rtlCol="0">
            <a:spAutoFit/>
          </a:bodyPr>
          <a:lstStyle/>
          <a:p>
            <a:pPr algn="ctr"/>
            <a:r>
              <a:rPr lang="en-GB" dirty="0"/>
              <a:t>0.01 x 0.1</a:t>
            </a:r>
          </a:p>
          <a:p>
            <a:pPr algn="ctr"/>
            <a:r>
              <a:rPr lang="en-GB" dirty="0"/>
              <a:t>= 0.001 mol</a:t>
            </a:r>
          </a:p>
        </p:txBody>
      </p:sp>
      <p:sp>
        <p:nvSpPr>
          <p:cNvPr id="9" name="TextBox 8">
            <a:extLst>
              <a:ext uri="{FF2B5EF4-FFF2-40B4-BE49-F238E27FC236}">
                <a16:creationId xmlns:a16="http://schemas.microsoft.com/office/drawing/2014/main" id="{5B60916B-D3A9-95C5-DBA6-00E0222480B2}"/>
              </a:ext>
            </a:extLst>
          </p:cNvPr>
          <p:cNvSpPr txBox="1"/>
          <p:nvPr/>
        </p:nvSpPr>
        <p:spPr>
          <a:xfrm>
            <a:off x="9590192" y="4480636"/>
            <a:ext cx="1396536" cy="646331"/>
          </a:xfrm>
          <a:prstGeom prst="rect">
            <a:avLst/>
          </a:prstGeom>
          <a:noFill/>
        </p:spPr>
        <p:txBody>
          <a:bodyPr wrap="none" rtlCol="0">
            <a:spAutoFit/>
          </a:bodyPr>
          <a:lstStyle/>
          <a:p>
            <a:pPr algn="ctr"/>
            <a:r>
              <a:rPr lang="en-GB" dirty="0"/>
              <a:t>0.001 x 2</a:t>
            </a:r>
          </a:p>
          <a:p>
            <a:pPr algn="ctr"/>
            <a:r>
              <a:rPr lang="en-GB" dirty="0"/>
              <a:t>= 0.002 mol</a:t>
            </a:r>
          </a:p>
        </p:txBody>
      </p:sp>
    </p:spTree>
    <p:extLst>
      <p:ext uri="{BB962C8B-B14F-4D97-AF65-F5344CB8AC3E}">
        <p14:creationId xmlns:p14="http://schemas.microsoft.com/office/powerpoint/2010/main" val="99407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70E8-AE7D-2B16-FC88-7156C783B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CAE56-2691-717B-F059-BECC8F3CDE15}"/>
              </a:ext>
            </a:extLst>
          </p:cNvPr>
          <p:cNvSpPr>
            <a:spLocks noGrp="1"/>
          </p:cNvSpPr>
          <p:nvPr>
            <p:ph type="title"/>
          </p:nvPr>
        </p:nvSpPr>
        <p:spPr/>
        <p:txBody>
          <a:bodyPr/>
          <a:lstStyle/>
          <a:p>
            <a:r>
              <a:rPr lang="en-GB" dirty="0"/>
              <a:t>Example: concentrations and mixtures</a:t>
            </a:r>
          </a:p>
        </p:txBody>
      </p:sp>
      <p:sp>
        <p:nvSpPr>
          <p:cNvPr id="3" name="Table Placeholder 2">
            <a:extLst>
              <a:ext uri="{FF2B5EF4-FFF2-40B4-BE49-F238E27FC236}">
                <a16:creationId xmlns:a16="http://schemas.microsoft.com/office/drawing/2014/main" id="{EEBD63A0-E6EF-6291-15D0-7A71829CA40E}"/>
              </a:ext>
            </a:extLst>
          </p:cNvPr>
          <p:cNvSpPr>
            <a:spLocks noGrp="1"/>
          </p:cNvSpPr>
          <p:nvPr>
            <p:ph type="tbl" sz="quarter" idx="10"/>
          </p:nvPr>
        </p:nvSpPr>
        <p:spPr/>
        <p:txBody>
          <a:bodyPr/>
          <a:lstStyle/>
          <a:p>
            <a:r>
              <a:rPr lang="en-US" dirty="0"/>
              <a:t>25 mL of a 0.30 M sodium chloride solution, plus 50 mL of a 0.15 M sodium chloride solution are mixed together. Calculate the total amount of sodium chloride and the concentration of the final solution.</a:t>
            </a:r>
          </a:p>
          <a:p>
            <a:endParaRPr lang="en-US" dirty="0"/>
          </a:p>
          <a:p>
            <a:pPr marL="342900" indent="-342900">
              <a:buAutoNum type="arabicPeriod"/>
            </a:pPr>
            <a:r>
              <a:rPr lang="en-GB" b="1" dirty="0"/>
              <a:t>Read &amp; identify</a:t>
            </a:r>
          </a:p>
          <a:p>
            <a:pPr marL="918900" lvl="1" indent="-342900"/>
            <a:r>
              <a:rPr lang="en-GB" dirty="0"/>
              <a:t>What’s being asked? </a:t>
            </a:r>
            <a:r>
              <a:rPr lang="en-GB" i="1" dirty="0"/>
              <a:t>Total amount of sodium chloride AND concentration of final mixture</a:t>
            </a:r>
          </a:p>
          <a:p>
            <a:pPr marL="918900" lvl="1" indent="-342900"/>
            <a:r>
              <a:rPr lang="en-GB" dirty="0"/>
              <a:t>What data is given? </a:t>
            </a:r>
            <a:r>
              <a:rPr lang="en-GB" i="1" dirty="0"/>
              <a:t>Volume and molar concentration of starting solutions</a:t>
            </a:r>
          </a:p>
          <a:p>
            <a:pPr marL="342900" indent="-342900">
              <a:buFont typeface="+mj-lt"/>
              <a:buAutoNum type="arabicPeriod"/>
            </a:pPr>
            <a:r>
              <a:rPr lang="en-GB" b="1" dirty="0"/>
              <a:t>Estimate</a:t>
            </a:r>
          </a:p>
          <a:p>
            <a:pPr marL="918900" lvl="1" indent="-342900"/>
            <a:r>
              <a:rPr lang="en-GB" dirty="0"/>
              <a:t>The final concentration must be somewhere between the two original solutions</a:t>
            </a:r>
          </a:p>
          <a:p>
            <a:pPr marL="918900" lvl="1" indent="-342900"/>
            <a:r>
              <a:rPr lang="en-GB" dirty="0"/>
              <a:t>There’s more of the second solution so the final concentration should be closer to that than the first</a:t>
            </a:r>
          </a:p>
          <a:p>
            <a:pPr marL="918900" lvl="1" indent="-342900"/>
            <a:r>
              <a:rPr lang="en-GB" dirty="0"/>
              <a:t>So we expect something between 0.15 and 0.225 M</a:t>
            </a:r>
          </a:p>
        </p:txBody>
      </p:sp>
    </p:spTree>
    <p:extLst>
      <p:ext uri="{BB962C8B-B14F-4D97-AF65-F5344CB8AC3E}">
        <p14:creationId xmlns:p14="http://schemas.microsoft.com/office/powerpoint/2010/main" val="36560813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5227-6F5C-9FB9-8C21-50D04626B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758CF-6DEC-25F5-5D3B-3D7ED2C00CF0}"/>
              </a:ext>
            </a:extLst>
          </p:cNvPr>
          <p:cNvSpPr>
            <a:spLocks noGrp="1"/>
          </p:cNvSpPr>
          <p:nvPr>
            <p:ph type="title"/>
          </p:nvPr>
        </p:nvSpPr>
        <p:spPr/>
        <p:txBody>
          <a:bodyPr/>
          <a:lstStyle/>
          <a:p>
            <a:r>
              <a:rPr lang="en-GB" dirty="0"/>
              <a:t>Example: concentrations and mixtures</a:t>
            </a:r>
          </a:p>
        </p:txBody>
      </p:sp>
      <p:sp>
        <p:nvSpPr>
          <p:cNvPr id="3" name="Table Placeholder 2">
            <a:extLst>
              <a:ext uri="{FF2B5EF4-FFF2-40B4-BE49-F238E27FC236}">
                <a16:creationId xmlns:a16="http://schemas.microsoft.com/office/drawing/2014/main" id="{9BD295AE-FCB4-D808-5965-8856D72C148B}"/>
              </a:ext>
            </a:extLst>
          </p:cNvPr>
          <p:cNvSpPr>
            <a:spLocks noGrp="1"/>
          </p:cNvSpPr>
          <p:nvPr>
            <p:ph type="tbl" sz="quarter" idx="10"/>
          </p:nvPr>
        </p:nvSpPr>
        <p:spPr/>
        <p:txBody>
          <a:bodyPr/>
          <a:lstStyle/>
          <a:p>
            <a:r>
              <a:rPr lang="en-US" dirty="0"/>
              <a:t>25 mL of a 0.30 M sodium chloride solution, plus 50 mL of a 0.15 M sodium chloride solution are mixed together. Calculate the total amount of sodium chloride and the concentration of the final solution.</a:t>
            </a:r>
          </a:p>
          <a:p>
            <a:endParaRPr lang="en-GB" b="1" dirty="0"/>
          </a:p>
          <a:p>
            <a:r>
              <a:rPr lang="en-GB" b="1" dirty="0"/>
              <a:t>3. Plan</a:t>
            </a:r>
          </a:p>
          <a:p>
            <a:r>
              <a:rPr lang="en-GB" b="1" dirty="0"/>
              <a:t>4. Execute</a:t>
            </a:r>
          </a:p>
          <a:p>
            <a:r>
              <a:rPr lang="en-GB" b="1" dirty="0"/>
              <a:t>5. Check</a:t>
            </a:r>
            <a:endParaRPr lang="en-GB" dirty="0"/>
          </a:p>
        </p:txBody>
      </p:sp>
      <p:pic>
        <p:nvPicPr>
          <p:cNvPr id="8" name="Picture 7">
            <a:extLst>
              <a:ext uri="{FF2B5EF4-FFF2-40B4-BE49-F238E27FC236}">
                <a16:creationId xmlns:a16="http://schemas.microsoft.com/office/drawing/2014/main" id="{061143A9-9CF1-8231-CC92-476DF68B6531}"/>
              </a:ext>
            </a:extLst>
          </p:cNvPr>
          <p:cNvPicPr>
            <a:picLocks noChangeAspect="1"/>
          </p:cNvPicPr>
          <p:nvPr/>
        </p:nvPicPr>
        <p:blipFill>
          <a:blip r:embed="rId3"/>
          <a:stretch>
            <a:fillRect/>
          </a:stretch>
        </p:blipFill>
        <p:spPr>
          <a:xfrm>
            <a:off x="2510893" y="2421320"/>
            <a:ext cx="8641983" cy="3942904"/>
          </a:xfrm>
          <a:prstGeom prst="rect">
            <a:avLst/>
          </a:prstGeom>
        </p:spPr>
      </p:pic>
      <p:sp>
        <p:nvSpPr>
          <p:cNvPr id="4" name="TextBox 3">
            <a:extLst>
              <a:ext uri="{FF2B5EF4-FFF2-40B4-BE49-F238E27FC236}">
                <a16:creationId xmlns:a16="http://schemas.microsoft.com/office/drawing/2014/main" id="{39D8F72E-C968-CF02-5784-543C5177377A}"/>
              </a:ext>
            </a:extLst>
          </p:cNvPr>
          <p:cNvSpPr txBox="1"/>
          <p:nvPr/>
        </p:nvSpPr>
        <p:spPr>
          <a:xfrm>
            <a:off x="2742731" y="3295122"/>
            <a:ext cx="825867" cy="369332"/>
          </a:xfrm>
          <a:prstGeom prst="rect">
            <a:avLst/>
          </a:prstGeom>
          <a:noFill/>
        </p:spPr>
        <p:txBody>
          <a:bodyPr wrap="none" rtlCol="0">
            <a:spAutoFit/>
          </a:bodyPr>
          <a:lstStyle/>
          <a:p>
            <a:r>
              <a:rPr lang="en-GB" dirty="0"/>
              <a:t>25 mL</a:t>
            </a:r>
          </a:p>
        </p:txBody>
      </p:sp>
      <p:sp>
        <p:nvSpPr>
          <p:cNvPr id="5" name="TextBox 4">
            <a:extLst>
              <a:ext uri="{FF2B5EF4-FFF2-40B4-BE49-F238E27FC236}">
                <a16:creationId xmlns:a16="http://schemas.microsoft.com/office/drawing/2014/main" id="{66927596-F799-F223-0B1E-613AF5481579}"/>
              </a:ext>
            </a:extLst>
          </p:cNvPr>
          <p:cNvSpPr txBox="1"/>
          <p:nvPr/>
        </p:nvSpPr>
        <p:spPr>
          <a:xfrm>
            <a:off x="4343286" y="3341770"/>
            <a:ext cx="954107" cy="369332"/>
          </a:xfrm>
          <a:prstGeom prst="rect">
            <a:avLst/>
          </a:prstGeom>
          <a:noFill/>
        </p:spPr>
        <p:txBody>
          <a:bodyPr wrap="none" rtlCol="0">
            <a:spAutoFit/>
          </a:bodyPr>
          <a:lstStyle/>
          <a:p>
            <a:pPr algn="ctr"/>
            <a:r>
              <a:rPr lang="en-GB" dirty="0"/>
              <a:t>0.025 L</a:t>
            </a:r>
          </a:p>
        </p:txBody>
      </p:sp>
      <p:sp>
        <p:nvSpPr>
          <p:cNvPr id="6" name="TextBox 5">
            <a:extLst>
              <a:ext uri="{FF2B5EF4-FFF2-40B4-BE49-F238E27FC236}">
                <a16:creationId xmlns:a16="http://schemas.microsoft.com/office/drawing/2014/main" id="{1EA38CFD-9A96-EAEA-C147-EEBCDD8E8BF5}"/>
              </a:ext>
            </a:extLst>
          </p:cNvPr>
          <p:cNvSpPr txBox="1"/>
          <p:nvPr/>
        </p:nvSpPr>
        <p:spPr>
          <a:xfrm>
            <a:off x="3155664" y="4116091"/>
            <a:ext cx="889987" cy="369332"/>
          </a:xfrm>
          <a:prstGeom prst="rect">
            <a:avLst/>
          </a:prstGeom>
          <a:noFill/>
        </p:spPr>
        <p:txBody>
          <a:bodyPr wrap="none" rtlCol="0">
            <a:spAutoFit/>
          </a:bodyPr>
          <a:lstStyle/>
          <a:p>
            <a:r>
              <a:rPr lang="en-GB" dirty="0"/>
              <a:t>0.30 M</a:t>
            </a:r>
          </a:p>
        </p:txBody>
      </p:sp>
      <p:sp>
        <p:nvSpPr>
          <p:cNvPr id="7" name="TextBox 6">
            <a:extLst>
              <a:ext uri="{FF2B5EF4-FFF2-40B4-BE49-F238E27FC236}">
                <a16:creationId xmlns:a16="http://schemas.microsoft.com/office/drawing/2014/main" id="{4C237A62-2F3F-AC36-AFCC-D1FD0D31F240}"/>
              </a:ext>
            </a:extLst>
          </p:cNvPr>
          <p:cNvSpPr txBox="1"/>
          <p:nvPr/>
        </p:nvSpPr>
        <p:spPr>
          <a:xfrm>
            <a:off x="2742731" y="5405276"/>
            <a:ext cx="825867" cy="369332"/>
          </a:xfrm>
          <a:prstGeom prst="rect">
            <a:avLst/>
          </a:prstGeom>
          <a:noFill/>
        </p:spPr>
        <p:txBody>
          <a:bodyPr wrap="none" rtlCol="0">
            <a:spAutoFit/>
          </a:bodyPr>
          <a:lstStyle/>
          <a:p>
            <a:r>
              <a:rPr lang="en-GB" dirty="0"/>
              <a:t>50 mL</a:t>
            </a:r>
          </a:p>
        </p:txBody>
      </p:sp>
      <p:sp>
        <p:nvSpPr>
          <p:cNvPr id="9" name="TextBox 8">
            <a:extLst>
              <a:ext uri="{FF2B5EF4-FFF2-40B4-BE49-F238E27FC236}">
                <a16:creationId xmlns:a16="http://schemas.microsoft.com/office/drawing/2014/main" id="{39312E94-0B8F-50CA-7996-34763EF317BA}"/>
              </a:ext>
            </a:extLst>
          </p:cNvPr>
          <p:cNvSpPr txBox="1"/>
          <p:nvPr/>
        </p:nvSpPr>
        <p:spPr>
          <a:xfrm>
            <a:off x="4407408" y="5428722"/>
            <a:ext cx="825867" cy="369332"/>
          </a:xfrm>
          <a:prstGeom prst="rect">
            <a:avLst/>
          </a:prstGeom>
          <a:noFill/>
        </p:spPr>
        <p:txBody>
          <a:bodyPr wrap="none" rtlCol="0">
            <a:spAutoFit/>
          </a:bodyPr>
          <a:lstStyle/>
          <a:p>
            <a:r>
              <a:rPr lang="en-GB" dirty="0"/>
              <a:t>0.05 L</a:t>
            </a:r>
          </a:p>
        </p:txBody>
      </p:sp>
      <p:sp>
        <p:nvSpPr>
          <p:cNvPr id="10" name="TextBox 9">
            <a:extLst>
              <a:ext uri="{FF2B5EF4-FFF2-40B4-BE49-F238E27FC236}">
                <a16:creationId xmlns:a16="http://schemas.microsoft.com/office/drawing/2014/main" id="{81273AF1-E9A1-F417-3B9B-580C3FCCEB3F}"/>
              </a:ext>
            </a:extLst>
          </p:cNvPr>
          <p:cNvSpPr txBox="1"/>
          <p:nvPr/>
        </p:nvSpPr>
        <p:spPr>
          <a:xfrm>
            <a:off x="4375347" y="6257341"/>
            <a:ext cx="889987" cy="369332"/>
          </a:xfrm>
          <a:prstGeom prst="rect">
            <a:avLst/>
          </a:prstGeom>
          <a:noFill/>
        </p:spPr>
        <p:txBody>
          <a:bodyPr wrap="none" rtlCol="0">
            <a:spAutoFit/>
          </a:bodyPr>
          <a:lstStyle/>
          <a:p>
            <a:r>
              <a:rPr lang="en-GB" dirty="0"/>
              <a:t>0.15 M</a:t>
            </a:r>
          </a:p>
        </p:txBody>
      </p:sp>
      <p:sp>
        <p:nvSpPr>
          <p:cNvPr id="11" name="TextBox 10">
            <a:extLst>
              <a:ext uri="{FF2B5EF4-FFF2-40B4-BE49-F238E27FC236}">
                <a16:creationId xmlns:a16="http://schemas.microsoft.com/office/drawing/2014/main" id="{A777ACBC-6503-5C21-FBD1-EA13A2EBFA84}"/>
              </a:ext>
            </a:extLst>
          </p:cNvPr>
          <p:cNvSpPr txBox="1"/>
          <p:nvPr/>
        </p:nvSpPr>
        <p:spPr>
          <a:xfrm>
            <a:off x="5986140" y="3201093"/>
            <a:ext cx="1326004" cy="369332"/>
          </a:xfrm>
          <a:prstGeom prst="rect">
            <a:avLst/>
          </a:prstGeom>
          <a:noFill/>
        </p:spPr>
        <p:txBody>
          <a:bodyPr wrap="none" rtlCol="0">
            <a:spAutoFit/>
          </a:bodyPr>
          <a:lstStyle/>
          <a:p>
            <a:pPr algn="ctr"/>
            <a:r>
              <a:rPr lang="en-GB" dirty="0"/>
              <a:t>0.0075 mol</a:t>
            </a:r>
          </a:p>
        </p:txBody>
      </p:sp>
      <p:sp>
        <p:nvSpPr>
          <p:cNvPr id="12" name="TextBox 11">
            <a:extLst>
              <a:ext uri="{FF2B5EF4-FFF2-40B4-BE49-F238E27FC236}">
                <a16:creationId xmlns:a16="http://schemas.microsoft.com/office/drawing/2014/main" id="{57A8E29C-6D58-A112-6D26-966951812A51}"/>
              </a:ext>
            </a:extLst>
          </p:cNvPr>
          <p:cNvSpPr txBox="1"/>
          <p:nvPr/>
        </p:nvSpPr>
        <p:spPr>
          <a:xfrm>
            <a:off x="5986140" y="5252632"/>
            <a:ext cx="1326004" cy="369332"/>
          </a:xfrm>
          <a:prstGeom prst="rect">
            <a:avLst/>
          </a:prstGeom>
          <a:noFill/>
        </p:spPr>
        <p:txBody>
          <a:bodyPr wrap="none" rtlCol="0">
            <a:spAutoFit/>
          </a:bodyPr>
          <a:lstStyle/>
          <a:p>
            <a:pPr algn="ctr"/>
            <a:r>
              <a:rPr lang="en-GB" dirty="0"/>
              <a:t>0.0075 mol</a:t>
            </a:r>
          </a:p>
        </p:txBody>
      </p:sp>
      <p:sp>
        <p:nvSpPr>
          <p:cNvPr id="13" name="TextBox 12">
            <a:extLst>
              <a:ext uri="{FF2B5EF4-FFF2-40B4-BE49-F238E27FC236}">
                <a16:creationId xmlns:a16="http://schemas.microsoft.com/office/drawing/2014/main" id="{1F817582-C91F-63D2-A476-3CFEBA39183F}"/>
              </a:ext>
            </a:extLst>
          </p:cNvPr>
          <p:cNvSpPr txBox="1"/>
          <p:nvPr/>
        </p:nvSpPr>
        <p:spPr>
          <a:xfrm>
            <a:off x="7785275" y="2380478"/>
            <a:ext cx="1197765" cy="369332"/>
          </a:xfrm>
          <a:prstGeom prst="rect">
            <a:avLst/>
          </a:prstGeom>
          <a:noFill/>
        </p:spPr>
        <p:txBody>
          <a:bodyPr wrap="none" rtlCol="0">
            <a:spAutoFit/>
          </a:bodyPr>
          <a:lstStyle/>
          <a:p>
            <a:pPr algn="ctr"/>
            <a:r>
              <a:rPr lang="en-GB" dirty="0"/>
              <a:t>0.015 mol</a:t>
            </a:r>
          </a:p>
        </p:txBody>
      </p:sp>
      <p:sp>
        <p:nvSpPr>
          <p:cNvPr id="14" name="TextBox 13">
            <a:extLst>
              <a:ext uri="{FF2B5EF4-FFF2-40B4-BE49-F238E27FC236}">
                <a16:creationId xmlns:a16="http://schemas.microsoft.com/office/drawing/2014/main" id="{BA1B63EB-6299-D84C-858A-01EF1F9A9729}"/>
              </a:ext>
            </a:extLst>
          </p:cNvPr>
          <p:cNvSpPr txBox="1"/>
          <p:nvPr/>
        </p:nvSpPr>
        <p:spPr>
          <a:xfrm>
            <a:off x="7795995" y="4502354"/>
            <a:ext cx="1152881" cy="646331"/>
          </a:xfrm>
          <a:prstGeom prst="rect">
            <a:avLst/>
          </a:prstGeom>
          <a:noFill/>
        </p:spPr>
        <p:txBody>
          <a:bodyPr wrap="none" rtlCol="0">
            <a:spAutoFit/>
          </a:bodyPr>
          <a:lstStyle/>
          <a:p>
            <a:pPr algn="ctr"/>
            <a:r>
              <a:rPr lang="en-GB" dirty="0"/>
              <a:t>75 mL</a:t>
            </a:r>
          </a:p>
          <a:p>
            <a:pPr algn="ctr"/>
            <a:r>
              <a:rPr lang="en-GB" dirty="0"/>
              <a:t>= 0.075 L</a:t>
            </a:r>
          </a:p>
        </p:txBody>
      </p:sp>
      <p:sp>
        <p:nvSpPr>
          <p:cNvPr id="15" name="TextBox 14">
            <a:extLst>
              <a:ext uri="{FF2B5EF4-FFF2-40B4-BE49-F238E27FC236}">
                <a16:creationId xmlns:a16="http://schemas.microsoft.com/office/drawing/2014/main" id="{8D8D97A4-8294-6910-E8CE-9E52640A259D}"/>
              </a:ext>
            </a:extLst>
          </p:cNvPr>
          <p:cNvSpPr txBox="1"/>
          <p:nvPr/>
        </p:nvSpPr>
        <p:spPr>
          <a:xfrm>
            <a:off x="9529429" y="3646569"/>
            <a:ext cx="1531188" cy="646331"/>
          </a:xfrm>
          <a:prstGeom prst="rect">
            <a:avLst/>
          </a:prstGeom>
          <a:noFill/>
        </p:spPr>
        <p:txBody>
          <a:bodyPr wrap="none" rtlCol="0">
            <a:spAutoFit/>
          </a:bodyPr>
          <a:lstStyle/>
          <a:p>
            <a:pPr algn="ctr"/>
            <a:r>
              <a:rPr lang="en-GB" dirty="0"/>
              <a:t>0.015 / 0.075</a:t>
            </a:r>
          </a:p>
          <a:p>
            <a:pPr algn="ctr"/>
            <a:r>
              <a:rPr lang="en-GB" dirty="0"/>
              <a:t>= 0.20 M</a:t>
            </a:r>
          </a:p>
        </p:txBody>
      </p:sp>
    </p:spTree>
    <p:extLst>
      <p:ext uri="{BB962C8B-B14F-4D97-AF65-F5344CB8AC3E}">
        <p14:creationId xmlns:p14="http://schemas.microsoft.com/office/powerpoint/2010/main" val="1921561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18ADD-3960-8C2B-67C4-44745FB2AFC6}"/>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02A27AD9-C1A8-FACE-378F-C8D973076925}"/>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mass in mass (% m/m) = number of grams per 100 g</a:t>
            </a:r>
          </a:p>
          <a:p>
            <a:pPr marL="285750" indent="-285750">
              <a:buFont typeface="Arial" panose="020B0604020202020204" pitchFamily="34" charset="0"/>
              <a:buChar char="•"/>
            </a:pPr>
            <a:r>
              <a:rPr lang="en-GB" dirty="0"/>
              <a:t>Unless indicated otherwise percentage compositions (including</a:t>
            </a:r>
            <a:br>
              <a:rPr lang="en-GB" dirty="0"/>
            </a:br>
            <a:r>
              <a:rPr lang="en-GB" dirty="0"/>
              <a:t>liquids and solutions) are always given on a mass in mass basis.</a:t>
            </a:r>
          </a:p>
          <a:p>
            <a:endParaRPr lang="en-GB" dirty="0"/>
          </a:p>
          <a:p>
            <a:r>
              <a:rPr lang="en-GB" b="1" dirty="0"/>
              <a:t>Percentage mass in volume (% m/v) = number of grams per 100 mL</a:t>
            </a:r>
          </a:p>
          <a:p>
            <a:pPr marL="285750" indent="-285750">
              <a:buFont typeface="Arial" panose="020B0604020202020204" pitchFamily="34" charset="0"/>
              <a:buChar char="•"/>
            </a:pPr>
            <a:r>
              <a:rPr lang="en-GB" dirty="0"/>
              <a:t>Widely used in pharmacy.</a:t>
            </a:r>
          </a:p>
          <a:p>
            <a:pPr marL="285750" indent="-285750">
              <a:buFont typeface="Arial" panose="020B0604020202020204" pitchFamily="34" charset="0"/>
              <a:buChar char="•"/>
            </a:pPr>
            <a:r>
              <a:rPr lang="en-GB" dirty="0"/>
              <a:t>Always assumed that the mass is in grams and the volume in </a:t>
            </a:r>
            <a:r>
              <a:rPr lang="en-GB" dirty="0" err="1"/>
              <a:t>mL.</a:t>
            </a:r>
            <a:endParaRPr lang="en-GB" dirty="0"/>
          </a:p>
          <a:p>
            <a:pPr marL="285750" indent="-285750">
              <a:buFont typeface="Arial" panose="020B0604020202020204" pitchFamily="34" charset="0"/>
              <a:buChar char="•"/>
            </a:pPr>
            <a:r>
              <a:rPr lang="en-GB" dirty="0"/>
              <a:t>The British Pharmacopoeia defines it as grams of solute per 100 mL of solution.</a:t>
            </a:r>
          </a:p>
          <a:p>
            <a:pPr marL="285750" indent="-285750">
              <a:buFont typeface="Arial" panose="020B0604020202020204" pitchFamily="34" charset="0"/>
              <a:buChar char="•"/>
            </a:pPr>
            <a:endParaRPr lang="en-GB" dirty="0"/>
          </a:p>
          <a:p>
            <a:endParaRPr lang="en-GB" dirty="0"/>
          </a:p>
          <a:p>
            <a:endParaRPr lang="en-GB" b="1" dirty="0"/>
          </a:p>
          <a:p>
            <a:endParaRPr lang="en-GB" b="1" dirty="0"/>
          </a:p>
          <a:p>
            <a:endParaRPr lang="en-GB" dirty="0"/>
          </a:p>
          <a:p>
            <a:endParaRPr lang="en-GB" dirty="0"/>
          </a:p>
        </p:txBody>
      </p:sp>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48AB4D46-1E79-C962-994D-EDA5E967BD52}"/>
                  </a:ext>
                </a:extLst>
              </p:cNvPr>
              <p:cNvSpPr txBox="1"/>
              <p:nvPr/>
            </p:nvSpPr>
            <p:spPr bwMode="auto">
              <a:xfrm>
                <a:off x="7753858" y="2870517"/>
                <a:ext cx="3840734" cy="714375"/>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m/m</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a:solidFill>
                                <a:srgbClr val="000000"/>
                              </a:solidFill>
                              <a:latin typeface="Cambria Math" panose="02040503050406030204" pitchFamily="18" charset="0"/>
                            </a:rPr>
                          </m:ctrlPr>
                        </m:fPr>
                        <m:num>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substance</m:t>
                          </m:r>
                        </m:num>
                        <m:den>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sample</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4" name="Object 10">
                <a:extLst>
                  <a:ext uri="{FF2B5EF4-FFF2-40B4-BE49-F238E27FC236}">
                    <a16:creationId xmlns:a16="http://schemas.microsoft.com/office/drawing/2014/main" id="{48AB4D46-1E79-C962-994D-EDA5E967BD52}"/>
                  </a:ext>
                </a:extLst>
              </p:cNvPr>
              <p:cNvSpPr txBox="1">
                <a:spLocks noRot="1" noChangeAspect="1" noMove="1" noResize="1" noEditPoints="1" noAdjustHandles="1" noChangeArrowheads="1" noChangeShapeType="1" noTextEdit="1"/>
              </p:cNvSpPr>
              <p:nvPr/>
            </p:nvSpPr>
            <p:spPr bwMode="auto">
              <a:xfrm>
                <a:off x="7753858" y="2870517"/>
                <a:ext cx="3840734" cy="714375"/>
              </a:xfrm>
              <a:prstGeom prst="rect">
                <a:avLst/>
              </a:prstGeom>
              <a:blipFill>
                <a:blip r:embed="rId2"/>
                <a:stretch>
                  <a:fillRect b="-17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Object 10">
                <a:extLst>
                  <a:ext uri="{FF2B5EF4-FFF2-40B4-BE49-F238E27FC236}">
                    <a16:creationId xmlns:a16="http://schemas.microsoft.com/office/drawing/2014/main" id="{158536B3-CBC7-907C-47B5-01B08E1FAEBA}"/>
                  </a:ext>
                </a:extLst>
              </p:cNvPr>
              <p:cNvSpPr txBox="1"/>
              <p:nvPr/>
            </p:nvSpPr>
            <p:spPr bwMode="auto">
              <a:xfrm>
                <a:off x="7753858" y="4603686"/>
                <a:ext cx="4438142" cy="868426"/>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m/v</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a:solidFill>
                                <a:srgbClr val="000000"/>
                              </a:solidFill>
                              <a:latin typeface="Cambria Math" panose="02040503050406030204" pitchFamily="18" charset="0"/>
                            </a:rPr>
                          </m:ctrlPr>
                        </m:fPr>
                        <m:num>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substance</m:t>
                          </m:r>
                          <m:r>
                            <m:rPr>
                              <m:nor/>
                            </m:rPr>
                            <a:rPr lang="en-GB" b="0" i="0" smtClean="0">
                              <a:solidFill>
                                <a:srgbClr val="000000"/>
                              </a:solidFill>
                              <a:latin typeface="Cambria Math" panose="02040503050406030204" pitchFamily="18" charset="0"/>
                            </a:rPr>
                            <m:t> (g)</m:t>
                          </m:r>
                        </m:num>
                        <m:den>
                          <m:r>
                            <m:rPr>
                              <m:nor/>
                            </m:rPr>
                            <a:rPr lang="en-GB" b="0" i="0" smtClean="0">
                              <a:solidFill>
                                <a:srgbClr val="000000"/>
                              </a:solidFill>
                              <a:latin typeface="Cambria Math" panose="02040503050406030204" pitchFamily="18" charset="0"/>
                            </a:rPr>
                            <m:t>volume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sample</m:t>
                          </m:r>
                          <m:r>
                            <m:rPr>
                              <m:nor/>
                            </m:rPr>
                            <a:rPr lang="en-GB" i="0" smtClean="0">
                              <a:solidFill>
                                <a:srgbClr val="000000"/>
                              </a:solidFill>
                              <a:latin typeface="Cambria Math" panose="02040503050406030204" pitchFamily="18" charset="0"/>
                            </a:rPr>
                            <m:t> (mL)</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5" name="Object 10">
                <a:extLst>
                  <a:ext uri="{FF2B5EF4-FFF2-40B4-BE49-F238E27FC236}">
                    <a16:creationId xmlns:a16="http://schemas.microsoft.com/office/drawing/2014/main" id="{158536B3-CBC7-907C-47B5-01B08E1FAEBA}"/>
                  </a:ext>
                </a:extLst>
              </p:cNvPr>
              <p:cNvSpPr txBox="1">
                <a:spLocks noRot="1" noChangeAspect="1" noMove="1" noResize="1" noEditPoints="1" noAdjustHandles="1" noChangeArrowheads="1" noChangeShapeType="1" noTextEdit="1"/>
              </p:cNvSpPr>
              <p:nvPr/>
            </p:nvSpPr>
            <p:spPr bwMode="auto">
              <a:xfrm>
                <a:off x="7753858" y="4603686"/>
                <a:ext cx="4438142" cy="868426"/>
              </a:xfrm>
              <a:prstGeom prst="rect">
                <a:avLst/>
              </a:prstGeom>
              <a:blipFill>
                <a:blip r:embed="rId3"/>
                <a:stretch>
                  <a:fillRect/>
                </a:stretch>
              </a:blipFill>
            </p:spPr>
            <p:txBody>
              <a:bodyPr/>
              <a:lstStyle/>
              <a:p>
                <a:r>
                  <a:rPr lang="en-GB">
                    <a:noFill/>
                  </a:rPr>
                  <a:t> </a:t>
                </a:r>
              </a:p>
            </p:txBody>
          </p:sp>
        </mc:Fallback>
      </mc:AlternateContent>
      <p:pic>
        <p:nvPicPr>
          <p:cNvPr id="6" name="Picture 5" descr="clotrimazole_1_cream_1219.jpg">
            <a:extLst>
              <a:ext uri="{FF2B5EF4-FFF2-40B4-BE49-F238E27FC236}">
                <a16:creationId xmlns:a16="http://schemas.microsoft.com/office/drawing/2014/main" id="{ABA489AF-90A5-7835-D1BF-2E5B4AF9F526}"/>
              </a:ext>
            </a:extLst>
          </p:cNvPr>
          <p:cNvPicPr>
            <a:picLocks noChangeAspect="1"/>
          </p:cNvPicPr>
          <p:nvPr/>
        </p:nvPicPr>
        <p:blipFill>
          <a:blip r:embed="rId4" cstate="print"/>
          <a:srcRect t="33260" b="33260"/>
          <a:stretch>
            <a:fillRect/>
          </a:stretch>
        </p:blipFill>
        <p:spPr>
          <a:xfrm>
            <a:off x="6669865" y="543058"/>
            <a:ext cx="2167986" cy="725842"/>
          </a:xfrm>
          <a:prstGeom prst="rect">
            <a:avLst/>
          </a:prstGeom>
        </p:spPr>
      </p:pic>
      <p:pic>
        <p:nvPicPr>
          <p:cNvPr id="7" name="Picture 6" descr="ibuprofen_suspension_for_children_100mg5ml_10469.jpg">
            <a:extLst>
              <a:ext uri="{FF2B5EF4-FFF2-40B4-BE49-F238E27FC236}">
                <a16:creationId xmlns:a16="http://schemas.microsoft.com/office/drawing/2014/main" id="{F5FA73E3-61DD-2D56-17AC-F12194690056}"/>
              </a:ext>
            </a:extLst>
          </p:cNvPr>
          <p:cNvPicPr>
            <a:picLocks noChangeAspect="1"/>
          </p:cNvPicPr>
          <p:nvPr/>
        </p:nvPicPr>
        <p:blipFill>
          <a:blip r:embed="rId5" cstate="print"/>
          <a:srcRect l="19654" r="21165"/>
          <a:stretch>
            <a:fillRect/>
          </a:stretch>
        </p:blipFill>
        <p:spPr>
          <a:xfrm>
            <a:off x="9071573" y="277925"/>
            <a:ext cx="765824" cy="1294032"/>
          </a:xfrm>
          <a:prstGeom prst="rect">
            <a:avLst/>
          </a:prstGeom>
        </p:spPr>
      </p:pic>
    </p:spTree>
    <p:extLst>
      <p:ext uri="{BB962C8B-B14F-4D97-AF65-F5344CB8AC3E}">
        <p14:creationId xmlns:p14="http://schemas.microsoft.com/office/powerpoint/2010/main" val="3266104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30115-63FF-A5AC-FDB0-18FD01909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176F6-DA3B-C04B-93EA-4CA560132EDD}"/>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AE8FC6EB-67B9-1543-7172-443F922B3652}"/>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volume in volume (% v/v) = mL per 100 mL</a:t>
            </a:r>
          </a:p>
          <a:p>
            <a:pPr marL="285750" indent="-285750">
              <a:buFont typeface="Arial" panose="020B0604020202020204" pitchFamily="34" charset="0"/>
              <a:buChar char="•"/>
            </a:pPr>
            <a:r>
              <a:rPr lang="en-GB" dirty="0"/>
              <a:t>Mixtures of liquids or gases are sometimes expressed</a:t>
            </a:r>
            <a:br>
              <a:rPr lang="en-GB" dirty="0"/>
            </a:br>
            <a:r>
              <a:rPr lang="en-GB" dirty="0"/>
              <a:t>on a percentage volume in volume basis.</a:t>
            </a:r>
          </a:p>
          <a:p>
            <a:pPr marL="285750" indent="-285750">
              <a:buFont typeface="Arial" panose="020B0604020202020204" pitchFamily="34" charset="0"/>
              <a:buChar char="•"/>
            </a:pPr>
            <a:endParaRPr lang="en-GB" dirty="0"/>
          </a:p>
          <a:p>
            <a:endParaRPr lang="en-GB" dirty="0"/>
          </a:p>
          <a:p>
            <a:endParaRPr lang="en-GB" dirty="0"/>
          </a:p>
          <a:p>
            <a:endParaRPr lang="en-GB" b="1" dirty="0"/>
          </a:p>
          <a:p>
            <a:endParaRPr lang="en-GB" b="1" dirty="0"/>
          </a:p>
          <a:p>
            <a:endParaRPr lang="en-GB" dirty="0"/>
          </a:p>
          <a:p>
            <a:endParaRPr lang="en-GB" dirty="0"/>
          </a:p>
        </p:txBody>
      </p:sp>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489B778F-6C10-AAE8-D381-DAAB431AFDF3}"/>
                  </a:ext>
                </a:extLst>
              </p:cNvPr>
              <p:cNvSpPr txBox="1"/>
              <p:nvPr/>
            </p:nvSpPr>
            <p:spPr bwMode="auto">
              <a:xfrm>
                <a:off x="7473441" y="2994787"/>
                <a:ext cx="4267455" cy="868426"/>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v/v</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smtClean="0">
                              <a:solidFill>
                                <a:srgbClr val="000000"/>
                              </a:solidFill>
                              <a:latin typeface="Cambria Math" panose="02040503050406030204" pitchFamily="18" charset="0"/>
                            </a:rPr>
                          </m:ctrlPr>
                        </m:fPr>
                        <m:num>
                          <m:r>
                            <m:rPr>
                              <m:nor/>
                            </m:rPr>
                            <a:rPr lang="en-GB" i="0" smtClean="0">
                              <a:solidFill>
                                <a:srgbClr val="000000"/>
                              </a:solidFill>
                              <a:latin typeface="Cambria Math" panose="02040503050406030204" pitchFamily="18" charset="0"/>
                            </a:rPr>
                            <m:t>v</m:t>
                          </m:r>
                          <m:r>
                            <m:rPr>
                              <m:nor/>
                            </m:rPr>
                            <a:rPr lang="en-GB" b="0" i="0" smtClean="0">
                              <a:solidFill>
                                <a:srgbClr val="000000"/>
                              </a:solidFill>
                              <a:latin typeface="Cambria Math" panose="02040503050406030204" pitchFamily="18" charset="0"/>
                            </a:rPr>
                            <m:t>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substance</m:t>
                          </m:r>
                        </m:num>
                        <m:den>
                          <m:r>
                            <m:rPr>
                              <m:nor/>
                            </m:rPr>
                            <a:rPr lang="en-GB" b="0" i="0" smtClean="0">
                              <a:solidFill>
                                <a:srgbClr val="000000"/>
                              </a:solidFill>
                              <a:latin typeface="Cambria Math" panose="02040503050406030204" pitchFamily="18" charset="0"/>
                            </a:rPr>
                            <m:t>volume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sample</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4" name="Object 10">
                <a:extLst>
                  <a:ext uri="{FF2B5EF4-FFF2-40B4-BE49-F238E27FC236}">
                    <a16:creationId xmlns:a16="http://schemas.microsoft.com/office/drawing/2014/main" id="{489B778F-6C10-AAE8-D381-DAAB431AFDF3}"/>
                  </a:ext>
                </a:extLst>
              </p:cNvPr>
              <p:cNvSpPr txBox="1">
                <a:spLocks noRot="1" noChangeAspect="1" noMove="1" noResize="1" noEditPoints="1" noAdjustHandles="1" noChangeArrowheads="1" noChangeShapeType="1" noTextEdit="1"/>
              </p:cNvSpPr>
              <p:nvPr/>
            </p:nvSpPr>
            <p:spPr bwMode="auto">
              <a:xfrm>
                <a:off x="7473441" y="2994787"/>
                <a:ext cx="4267455" cy="868426"/>
              </a:xfrm>
              <a:prstGeom prst="rect">
                <a:avLst/>
              </a:prstGeom>
              <a:blipFill>
                <a:blip r:embed="rId2"/>
                <a:stretch>
                  <a:fillRect/>
                </a:stretch>
              </a:blipFill>
            </p:spPr>
            <p:txBody>
              <a:bodyPr/>
              <a:lstStyle/>
              <a:p>
                <a:r>
                  <a:rPr lang="en-GB">
                    <a:noFill/>
                  </a:rPr>
                  <a:t> </a:t>
                </a:r>
              </a:p>
            </p:txBody>
          </p:sp>
        </mc:Fallback>
      </mc:AlternateContent>
      <p:pic>
        <p:nvPicPr>
          <p:cNvPr id="6" name="Picture 5" descr="hydrogen_peroxide_solution_9_30_vols_26055.jpg">
            <a:extLst>
              <a:ext uri="{FF2B5EF4-FFF2-40B4-BE49-F238E27FC236}">
                <a16:creationId xmlns:a16="http://schemas.microsoft.com/office/drawing/2014/main" id="{463522A9-EAC1-4EFF-3662-8BBA6221C98E}"/>
              </a:ext>
            </a:extLst>
          </p:cNvPr>
          <p:cNvPicPr>
            <a:picLocks noChangeAspect="1"/>
          </p:cNvPicPr>
          <p:nvPr/>
        </p:nvPicPr>
        <p:blipFill>
          <a:blip r:embed="rId3" cstate="print"/>
          <a:srcRect l="23997" r="25497"/>
          <a:stretch>
            <a:fillRect/>
          </a:stretch>
        </p:blipFill>
        <p:spPr>
          <a:xfrm>
            <a:off x="9204884" y="144034"/>
            <a:ext cx="1212291" cy="2400300"/>
          </a:xfrm>
          <a:prstGeom prst="rect">
            <a:avLst/>
          </a:prstGeom>
        </p:spPr>
      </p:pic>
    </p:spTree>
    <p:extLst>
      <p:ext uri="{BB962C8B-B14F-4D97-AF65-F5344CB8AC3E}">
        <p14:creationId xmlns:p14="http://schemas.microsoft.com/office/powerpoint/2010/main" val="2820804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7572C-2146-A80B-9383-A8BACD1B1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6F1F5-B040-791B-A814-BAB287DA8002}"/>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5EB3BAEA-3819-271A-0F3C-F0A2E24B5CD5}"/>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volume in volume (% v/v) = mL per 100 mL</a:t>
            </a:r>
          </a:p>
          <a:p>
            <a:pPr marL="285750" indent="-285750">
              <a:buFont typeface="Arial" panose="020B0604020202020204" pitchFamily="34" charset="0"/>
              <a:buChar char="•"/>
            </a:pPr>
            <a:r>
              <a:rPr lang="en-GB" dirty="0"/>
              <a:t>Mixtures of liquids or gases are sometimes expressed</a:t>
            </a:r>
            <a:br>
              <a:rPr lang="en-GB" dirty="0"/>
            </a:br>
            <a:r>
              <a:rPr lang="en-GB" dirty="0"/>
              <a:t>on a percentage volume in volume basis.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Beware:</a:t>
            </a:r>
            <a:r>
              <a:rPr lang="en-GB" dirty="0"/>
              <a:t> When liquids are mixed, the final volume is rarely equal to the sum of the individual volumes – it can expand or contract. This is because molecules of different liquids can pack together more or less efficiently than they do in their pure states.</a:t>
            </a:r>
          </a:p>
          <a:p>
            <a:pPr marL="285750" indent="-285750">
              <a:buFont typeface="Arial" panose="020B0604020202020204" pitchFamily="34" charset="0"/>
              <a:buChar char="•"/>
            </a:pPr>
            <a:r>
              <a:rPr lang="en-GB" dirty="0"/>
              <a:t>To prepare %v/v solutions accurately, take the specified volume of the solute and </a:t>
            </a:r>
            <a:r>
              <a:rPr lang="en-GB" b="1" dirty="0"/>
              <a:t>make it up </a:t>
            </a:r>
            <a:r>
              <a:rPr lang="en-GB" dirty="0"/>
              <a:t>to the required final volume with the solvent.</a:t>
            </a:r>
          </a:p>
          <a:p>
            <a:pPr marL="285750" indent="-285750">
              <a:buFont typeface="Arial" panose="020B0604020202020204" pitchFamily="34" charset="0"/>
              <a:buChar char="•"/>
            </a:pPr>
            <a:endParaRPr lang="en-GB" dirty="0"/>
          </a:p>
          <a:p>
            <a:endParaRPr lang="en-GB" dirty="0"/>
          </a:p>
          <a:p>
            <a:endParaRPr lang="en-GB" b="1" dirty="0"/>
          </a:p>
          <a:p>
            <a:endParaRPr lang="en-GB" b="1" dirty="0"/>
          </a:p>
          <a:p>
            <a:endParaRPr lang="en-GB" dirty="0"/>
          </a:p>
          <a:p>
            <a:endParaRPr lang="en-GB" dirty="0"/>
          </a:p>
        </p:txBody>
      </p:sp>
      <p:pic>
        <p:nvPicPr>
          <p:cNvPr id="1026" name="Picture 2">
            <a:extLst>
              <a:ext uri="{FF2B5EF4-FFF2-40B4-BE49-F238E27FC236}">
                <a16:creationId xmlns:a16="http://schemas.microsoft.com/office/drawing/2014/main" id="{8B16F554-1C36-F634-AC0A-51389A871B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0" t="5933" r="4286" b="4809"/>
          <a:stretch>
            <a:fillRect/>
          </a:stretch>
        </p:blipFill>
        <p:spPr bwMode="auto">
          <a:xfrm>
            <a:off x="264425" y="1204127"/>
            <a:ext cx="9010998" cy="3081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864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529C-39E4-D627-B7CB-D95ACA68F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D4DAB-B678-E409-4B72-9299AF378654}"/>
              </a:ext>
            </a:extLst>
          </p:cNvPr>
          <p:cNvSpPr>
            <a:spLocks noGrp="1"/>
          </p:cNvSpPr>
          <p:nvPr>
            <p:ph type="title"/>
          </p:nvPr>
        </p:nvSpPr>
        <p:spPr/>
        <p:txBody>
          <a:bodyPr/>
          <a:lstStyle/>
          <a:p>
            <a:r>
              <a:rPr lang="en-GB" dirty="0"/>
              <a:t>Preparing solutions by parts</a:t>
            </a:r>
          </a:p>
        </p:txBody>
      </p:sp>
      <p:sp>
        <p:nvSpPr>
          <p:cNvPr id="3" name="Table Placeholder 2">
            <a:extLst>
              <a:ext uri="{FF2B5EF4-FFF2-40B4-BE49-F238E27FC236}">
                <a16:creationId xmlns:a16="http://schemas.microsoft.com/office/drawing/2014/main" id="{1559D217-5749-8720-D057-B80538F9525E}"/>
              </a:ext>
            </a:extLst>
          </p:cNvPr>
          <p:cNvSpPr>
            <a:spLocks noGrp="1"/>
          </p:cNvSpPr>
          <p:nvPr>
            <p:ph type="tbl" sz="quarter" idx="10"/>
          </p:nvPr>
        </p:nvSpPr>
        <p:spPr/>
        <p:txBody>
          <a:bodyPr/>
          <a:lstStyle/>
          <a:p>
            <a:r>
              <a:rPr lang="en-GB" dirty="0"/>
              <a:t>A more accurate way to specify mixtures of liquids is by parts, giving a ratio of the original components:</a:t>
            </a:r>
          </a:p>
          <a:p>
            <a:endParaRPr lang="en-GB" dirty="0"/>
          </a:p>
          <a:p>
            <a:pPr marL="285750" indent="-285750">
              <a:buFont typeface="Arial" panose="020B0604020202020204" pitchFamily="34" charset="0"/>
              <a:buChar char="•"/>
            </a:pPr>
            <a:r>
              <a:rPr lang="en-GB" dirty="0"/>
              <a:t>Take care to avoid confusion between</a:t>
            </a:r>
            <a:br>
              <a:rPr lang="en-GB" dirty="0"/>
            </a:br>
            <a:r>
              <a:rPr lang="en-GB" b="1" dirty="0"/>
              <a:t>ratios of components </a:t>
            </a:r>
            <a:r>
              <a:rPr lang="en-GB" dirty="0"/>
              <a:t>(e.g. 1:4 parts)</a:t>
            </a:r>
            <a:br>
              <a:rPr lang="en-GB" dirty="0"/>
            </a:br>
            <a:r>
              <a:rPr lang="en-GB" dirty="0"/>
              <a:t>and </a:t>
            </a:r>
            <a:r>
              <a:rPr lang="en-GB" b="1" dirty="0"/>
              <a:t>ratios of composition </a:t>
            </a:r>
            <a:r>
              <a:rPr lang="en-GB" dirty="0"/>
              <a:t>(e.g. 1 part in 5)</a:t>
            </a:r>
          </a:p>
          <a:p>
            <a:endParaRPr lang="en-GB" dirty="0"/>
          </a:p>
          <a:p>
            <a:endParaRPr lang="en-GB" dirty="0"/>
          </a:p>
          <a:p>
            <a:endParaRPr lang="en-GB" dirty="0"/>
          </a:p>
          <a:p>
            <a:endParaRPr lang="en-GB" b="1" dirty="0"/>
          </a:p>
          <a:p>
            <a:endParaRPr lang="en-GB" b="1" dirty="0"/>
          </a:p>
          <a:p>
            <a:endParaRPr lang="en-GB" dirty="0"/>
          </a:p>
          <a:p>
            <a:endParaRPr lang="en-GB" dirty="0"/>
          </a:p>
        </p:txBody>
      </p:sp>
      <p:sp>
        <p:nvSpPr>
          <p:cNvPr id="5" name="Can 4">
            <a:extLst>
              <a:ext uri="{FF2B5EF4-FFF2-40B4-BE49-F238E27FC236}">
                <a16:creationId xmlns:a16="http://schemas.microsoft.com/office/drawing/2014/main" id="{7204F0CF-9E2A-0DCB-69F5-4024BE58AB9F}"/>
              </a:ext>
            </a:extLst>
          </p:cNvPr>
          <p:cNvSpPr/>
          <p:nvPr/>
        </p:nvSpPr>
        <p:spPr>
          <a:xfrm>
            <a:off x="5850977" y="4352887"/>
            <a:ext cx="936104" cy="558666"/>
          </a:xfrm>
          <a:prstGeom prst="can">
            <a:avLst>
              <a:gd name="adj" fmla="val 34548"/>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an 6">
            <a:extLst>
              <a:ext uri="{FF2B5EF4-FFF2-40B4-BE49-F238E27FC236}">
                <a16:creationId xmlns:a16="http://schemas.microsoft.com/office/drawing/2014/main" id="{A89982FC-4800-1373-A346-A02462AC48ED}"/>
              </a:ext>
            </a:extLst>
          </p:cNvPr>
          <p:cNvSpPr/>
          <p:nvPr/>
        </p:nvSpPr>
        <p:spPr>
          <a:xfrm>
            <a:off x="5850977" y="2696703"/>
            <a:ext cx="936104" cy="1855318"/>
          </a:xfrm>
          <a:prstGeom prst="can">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DE164877-B217-BD9F-DC05-6354FB95578A}"/>
              </a:ext>
            </a:extLst>
          </p:cNvPr>
          <p:cNvSpPr txBox="1"/>
          <p:nvPr/>
        </p:nvSpPr>
        <p:spPr>
          <a:xfrm>
            <a:off x="8713620" y="4279909"/>
            <a:ext cx="1864613" cy="369332"/>
          </a:xfrm>
          <a:prstGeom prst="rect">
            <a:avLst/>
          </a:prstGeom>
          <a:noFill/>
        </p:spPr>
        <p:txBody>
          <a:bodyPr wrap="none" rtlCol="0">
            <a:spAutoFit/>
          </a:bodyPr>
          <a:lstStyle/>
          <a:p>
            <a:r>
              <a:rPr lang="en-GB" dirty="0"/>
              <a:t>Approx. 20% v/v</a:t>
            </a:r>
          </a:p>
        </p:txBody>
      </p:sp>
      <p:sp>
        <p:nvSpPr>
          <p:cNvPr id="9" name="TextBox 8">
            <a:extLst>
              <a:ext uri="{FF2B5EF4-FFF2-40B4-BE49-F238E27FC236}">
                <a16:creationId xmlns:a16="http://schemas.microsoft.com/office/drawing/2014/main" id="{1C57858A-B4B0-BD6C-DAE6-2F1887A7F905}"/>
              </a:ext>
            </a:extLst>
          </p:cNvPr>
          <p:cNvSpPr txBox="1"/>
          <p:nvPr/>
        </p:nvSpPr>
        <p:spPr>
          <a:xfrm>
            <a:off x="7043977" y="3450027"/>
            <a:ext cx="889987" cy="369332"/>
          </a:xfrm>
          <a:prstGeom prst="rect">
            <a:avLst/>
          </a:prstGeom>
          <a:noFill/>
        </p:spPr>
        <p:txBody>
          <a:bodyPr wrap="none" rtlCol="0">
            <a:spAutoFit/>
          </a:bodyPr>
          <a:lstStyle/>
          <a:p>
            <a:r>
              <a:rPr lang="en-GB" dirty="0"/>
              <a:t>4 parts</a:t>
            </a:r>
          </a:p>
        </p:txBody>
      </p:sp>
      <p:sp>
        <p:nvSpPr>
          <p:cNvPr id="10" name="TextBox 9">
            <a:extLst>
              <a:ext uri="{FF2B5EF4-FFF2-40B4-BE49-F238E27FC236}">
                <a16:creationId xmlns:a16="http://schemas.microsoft.com/office/drawing/2014/main" id="{7DF7AFCB-7287-6970-BC90-51B77F9EB527}"/>
              </a:ext>
            </a:extLst>
          </p:cNvPr>
          <p:cNvSpPr txBox="1"/>
          <p:nvPr/>
        </p:nvSpPr>
        <p:spPr>
          <a:xfrm>
            <a:off x="7043977" y="4447554"/>
            <a:ext cx="774571" cy="369332"/>
          </a:xfrm>
          <a:prstGeom prst="rect">
            <a:avLst/>
          </a:prstGeom>
          <a:noFill/>
        </p:spPr>
        <p:txBody>
          <a:bodyPr wrap="none" rtlCol="0">
            <a:spAutoFit/>
          </a:bodyPr>
          <a:lstStyle/>
          <a:p>
            <a:r>
              <a:rPr lang="en-GB" dirty="0"/>
              <a:t>1 part</a:t>
            </a:r>
          </a:p>
        </p:txBody>
      </p:sp>
      <p:sp>
        <p:nvSpPr>
          <p:cNvPr id="11" name="TextBox 10">
            <a:extLst>
              <a:ext uri="{FF2B5EF4-FFF2-40B4-BE49-F238E27FC236}">
                <a16:creationId xmlns:a16="http://schemas.microsoft.com/office/drawing/2014/main" id="{20F89461-F9E5-E91E-59F4-69331D36903B}"/>
              </a:ext>
            </a:extLst>
          </p:cNvPr>
          <p:cNvSpPr txBox="1"/>
          <p:nvPr/>
        </p:nvSpPr>
        <p:spPr>
          <a:xfrm>
            <a:off x="8713620" y="3386737"/>
            <a:ext cx="2595582" cy="369332"/>
          </a:xfrm>
          <a:prstGeom prst="rect">
            <a:avLst/>
          </a:prstGeom>
          <a:noFill/>
        </p:spPr>
        <p:txBody>
          <a:bodyPr wrap="none" rtlCol="0">
            <a:spAutoFit/>
          </a:bodyPr>
          <a:lstStyle/>
          <a:p>
            <a:r>
              <a:rPr lang="en-GB" dirty="0"/>
              <a:t>1:4 ratio of components</a:t>
            </a:r>
          </a:p>
        </p:txBody>
      </p:sp>
      <p:sp>
        <p:nvSpPr>
          <p:cNvPr id="12" name="TextBox 11">
            <a:extLst>
              <a:ext uri="{FF2B5EF4-FFF2-40B4-BE49-F238E27FC236}">
                <a16:creationId xmlns:a16="http://schemas.microsoft.com/office/drawing/2014/main" id="{2797F7E6-A8FE-D304-FC68-84D7E51CE73F}"/>
              </a:ext>
            </a:extLst>
          </p:cNvPr>
          <p:cNvSpPr txBox="1"/>
          <p:nvPr/>
        </p:nvSpPr>
        <p:spPr>
          <a:xfrm>
            <a:off x="8713620" y="3833323"/>
            <a:ext cx="1236236" cy="369332"/>
          </a:xfrm>
          <a:prstGeom prst="rect">
            <a:avLst/>
          </a:prstGeom>
          <a:noFill/>
        </p:spPr>
        <p:txBody>
          <a:bodyPr wrap="none" rtlCol="0">
            <a:spAutoFit/>
          </a:bodyPr>
          <a:lstStyle/>
          <a:p>
            <a:r>
              <a:rPr lang="en-GB" dirty="0"/>
              <a:t>1 part in 5</a:t>
            </a:r>
          </a:p>
        </p:txBody>
      </p:sp>
      <p:sp>
        <p:nvSpPr>
          <p:cNvPr id="13" name="TextBox 12">
            <a:extLst>
              <a:ext uri="{FF2B5EF4-FFF2-40B4-BE49-F238E27FC236}">
                <a16:creationId xmlns:a16="http://schemas.microsoft.com/office/drawing/2014/main" id="{A4572812-C11D-6E53-AE6B-305617C3ECF1}"/>
              </a:ext>
            </a:extLst>
          </p:cNvPr>
          <p:cNvSpPr txBox="1"/>
          <p:nvPr/>
        </p:nvSpPr>
        <p:spPr>
          <a:xfrm>
            <a:off x="8713620" y="2935475"/>
            <a:ext cx="2864887" cy="369332"/>
          </a:xfrm>
          <a:prstGeom prst="rect">
            <a:avLst/>
          </a:prstGeom>
          <a:noFill/>
        </p:spPr>
        <p:txBody>
          <a:bodyPr wrap="none" rtlCol="0">
            <a:spAutoFit/>
          </a:bodyPr>
          <a:lstStyle/>
          <a:p>
            <a:r>
              <a:rPr lang="en-GB" b="1" dirty="0"/>
              <a:t>Equivalent descriptions:</a:t>
            </a:r>
          </a:p>
        </p:txBody>
      </p:sp>
    </p:spTree>
    <p:extLst>
      <p:ext uri="{BB962C8B-B14F-4D97-AF65-F5344CB8AC3E}">
        <p14:creationId xmlns:p14="http://schemas.microsoft.com/office/powerpoint/2010/main" val="3222945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B8C4-5DED-0DFA-3B8E-1B30C5744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AD8CB-537F-0C50-439D-70E4732ACF70}"/>
              </a:ext>
            </a:extLst>
          </p:cNvPr>
          <p:cNvSpPr>
            <a:spLocks noGrp="1"/>
          </p:cNvSpPr>
          <p:nvPr>
            <p:ph type="title"/>
          </p:nvPr>
        </p:nvSpPr>
        <p:spPr/>
        <p:txBody>
          <a:bodyPr/>
          <a:lstStyle/>
          <a:p>
            <a:r>
              <a:rPr lang="en-GB" dirty="0"/>
              <a:t>Example: ethanol</a:t>
            </a:r>
          </a:p>
        </p:txBody>
      </p:sp>
      <p:sp>
        <p:nvSpPr>
          <p:cNvPr id="3" name="Table Placeholder 2">
            <a:extLst>
              <a:ext uri="{FF2B5EF4-FFF2-40B4-BE49-F238E27FC236}">
                <a16:creationId xmlns:a16="http://schemas.microsoft.com/office/drawing/2014/main" id="{C75CB4F1-AAF7-3007-EF57-11FB11D29D4D}"/>
              </a:ext>
            </a:extLst>
          </p:cNvPr>
          <p:cNvSpPr>
            <a:spLocks noGrp="1"/>
          </p:cNvSpPr>
          <p:nvPr>
            <p:ph type="tbl" sz="quarter" idx="10"/>
          </p:nvPr>
        </p:nvSpPr>
        <p:spPr/>
        <p:txBody>
          <a:bodyPr/>
          <a:lstStyle/>
          <a:p>
            <a:r>
              <a:rPr lang="en-US" dirty="0"/>
              <a:t>Calculate the amount of ethanol (in mol) in one shot of vodka. The density of ethanol is 0.79 g/</a:t>
            </a:r>
            <a:r>
              <a:rPr lang="en-US" dirty="0" err="1"/>
              <a:t>mL.</a:t>
            </a:r>
            <a:endParaRPr lang="en-US" dirty="0"/>
          </a:p>
          <a:p>
            <a:endParaRPr lang="en-GB" b="1" dirty="0"/>
          </a:p>
          <a:p>
            <a:pPr marL="342900" indent="-342900">
              <a:buAutoNum type="arabicPeriod"/>
            </a:pPr>
            <a:r>
              <a:rPr lang="en-GB" b="1" dirty="0"/>
              <a:t>Read &amp; identify</a:t>
            </a:r>
          </a:p>
          <a:p>
            <a:pPr marL="918900" lvl="1" indent="-342900"/>
            <a:r>
              <a:rPr lang="en-GB" dirty="0"/>
              <a:t>What’s being asked? </a:t>
            </a:r>
            <a:r>
              <a:rPr lang="en-GB" i="1" dirty="0"/>
              <a:t>Number of moles of ethanol</a:t>
            </a:r>
          </a:p>
          <a:p>
            <a:pPr marL="918900" lvl="1" indent="-342900"/>
            <a:r>
              <a:rPr lang="en-GB" dirty="0"/>
              <a:t>What data is given? </a:t>
            </a:r>
            <a:r>
              <a:rPr lang="en-GB" i="1" dirty="0"/>
              <a:t>Density, total volume of solution</a:t>
            </a:r>
            <a:endParaRPr lang="en-GB" dirty="0"/>
          </a:p>
          <a:p>
            <a:pPr marL="918900" lvl="1" indent="-342900"/>
            <a:r>
              <a:rPr lang="en-GB" dirty="0"/>
              <a:t>Knowledge: </a:t>
            </a:r>
            <a:r>
              <a:rPr lang="en-GB" i="1" dirty="0"/>
              <a:t>Chemical structure of ethanol</a:t>
            </a:r>
          </a:p>
          <a:p>
            <a:pPr marL="918900" lvl="1" indent="-342900"/>
            <a:r>
              <a:rPr lang="en-GB" dirty="0"/>
              <a:t>Knowledge: </a:t>
            </a:r>
            <a:r>
              <a:rPr lang="en-GB" i="1" dirty="0"/>
              <a:t>One shot = 25 mL</a:t>
            </a:r>
          </a:p>
          <a:p>
            <a:pPr marL="918900" lvl="1" indent="-342900"/>
            <a:r>
              <a:rPr lang="en-GB" dirty="0"/>
              <a:t>Knowledge: </a:t>
            </a:r>
            <a:r>
              <a:rPr lang="en-GB" i="1" dirty="0"/>
              <a:t>Vodka is 40% alcohol (v/v)</a:t>
            </a:r>
          </a:p>
          <a:p>
            <a:pPr marL="342900" indent="-342900">
              <a:buFont typeface="+mj-lt"/>
              <a:buAutoNum type="arabicPeriod"/>
            </a:pPr>
            <a:r>
              <a:rPr lang="en-GB" b="1" dirty="0"/>
              <a:t>Estimate</a:t>
            </a:r>
          </a:p>
          <a:p>
            <a:pPr marL="918900" lvl="1" indent="-342900"/>
            <a:r>
              <a:rPr lang="en-GB" dirty="0"/>
              <a:t>We already worked out there’s roughly one mole of water in 20 mL – about the same volume. However, ethanol only makes up about half the solution, and it’s a bigger molecule – about 3x the size of H</a:t>
            </a:r>
            <a:r>
              <a:rPr lang="en-GB" baseline="-25000" dirty="0"/>
              <a:t>2</a:t>
            </a:r>
            <a:r>
              <a:rPr lang="en-GB" dirty="0"/>
              <a:t>O. So we estimate there’ll be a bit over 0.1 mole.</a:t>
            </a:r>
          </a:p>
        </p:txBody>
      </p:sp>
    </p:spTree>
    <p:extLst>
      <p:ext uri="{BB962C8B-B14F-4D97-AF65-F5344CB8AC3E}">
        <p14:creationId xmlns:p14="http://schemas.microsoft.com/office/powerpoint/2010/main" val="4067293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7873-DBDD-72C5-0838-26FBFBCB3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11F7C-CAA1-A040-276A-D151F32E5CCB}"/>
              </a:ext>
            </a:extLst>
          </p:cNvPr>
          <p:cNvSpPr>
            <a:spLocks noGrp="1"/>
          </p:cNvSpPr>
          <p:nvPr>
            <p:ph type="title"/>
          </p:nvPr>
        </p:nvSpPr>
        <p:spPr/>
        <p:txBody>
          <a:bodyPr/>
          <a:lstStyle/>
          <a:p>
            <a:r>
              <a:rPr lang="en-GB" dirty="0"/>
              <a:t>Example: ethanol</a:t>
            </a:r>
          </a:p>
        </p:txBody>
      </p:sp>
      <p:sp>
        <p:nvSpPr>
          <p:cNvPr id="3" name="Table Placeholder 2">
            <a:extLst>
              <a:ext uri="{FF2B5EF4-FFF2-40B4-BE49-F238E27FC236}">
                <a16:creationId xmlns:a16="http://schemas.microsoft.com/office/drawing/2014/main" id="{E56270E9-4425-1DB0-53E5-93345E9A2CA1}"/>
              </a:ext>
            </a:extLst>
          </p:cNvPr>
          <p:cNvSpPr>
            <a:spLocks noGrp="1"/>
          </p:cNvSpPr>
          <p:nvPr>
            <p:ph type="tbl" sz="quarter" idx="10"/>
          </p:nvPr>
        </p:nvSpPr>
        <p:spPr/>
        <p:txBody>
          <a:bodyPr/>
          <a:lstStyle/>
          <a:p>
            <a:r>
              <a:rPr lang="en-US" dirty="0"/>
              <a:t>Calculate the amount of ethanol (in mol) in one shot of vodka. The density of ethanol is 0.79 g/</a:t>
            </a:r>
            <a:r>
              <a:rPr lang="en-US" dirty="0" err="1"/>
              <a:t>mL.</a:t>
            </a:r>
            <a:endParaRPr lang="en-US" dirty="0"/>
          </a:p>
          <a:p>
            <a:endParaRPr lang="en-GB" b="1" dirty="0"/>
          </a:p>
          <a:p>
            <a:r>
              <a:rPr lang="en-GB" b="1" dirty="0"/>
              <a:t>3. Plan</a:t>
            </a:r>
          </a:p>
          <a:p>
            <a:r>
              <a:rPr lang="en-GB" b="1" dirty="0"/>
              <a:t>4. Execute</a:t>
            </a:r>
          </a:p>
          <a:p>
            <a:r>
              <a:rPr lang="en-GB" b="1" dirty="0"/>
              <a:t>5. Check</a:t>
            </a:r>
            <a:endParaRPr lang="en-GB" dirty="0"/>
          </a:p>
        </p:txBody>
      </p:sp>
      <p:pic>
        <p:nvPicPr>
          <p:cNvPr id="6" name="Picture 5">
            <a:extLst>
              <a:ext uri="{FF2B5EF4-FFF2-40B4-BE49-F238E27FC236}">
                <a16:creationId xmlns:a16="http://schemas.microsoft.com/office/drawing/2014/main" id="{1D344ED5-658B-FD2A-8C4C-916AF7B002A5}"/>
              </a:ext>
            </a:extLst>
          </p:cNvPr>
          <p:cNvPicPr>
            <a:picLocks noChangeAspect="1"/>
          </p:cNvPicPr>
          <p:nvPr/>
        </p:nvPicPr>
        <p:blipFill>
          <a:blip r:embed="rId2"/>
          <a:stretch>
            <a:fillRect/>
          </a:stretch>
        </p:blipFill>
        <p:spPr>
          <a:xfrm>
            <a:off x="2315536" y="2006819"/>
            <a:ext cx="8828829" cy="4340841"/>
          </a:xfrm>
          <a:prstGeom prst="rect">
            <a:avLst/>
          </a:prstGeom>
        </p:spPr>
      </p:pic>
      <p:sp>
        <p:nvSpPr>
          <p:cNvPr id="4" name="TextBox 3">
            <a:extLst>
              <a:ext uri="{FF2B5EF4-FFF2-40B4-BE49-F238E27FC236}">
                <a16:creationId xmlns:a16="http://schemas.microsoft.com/office/drawing/2014/main" id="{0279027F-98F5-128F-A932-690F4FE26E1F}"/>
              </a:ext>
            </a:extLst>
          </p:cNvPr>
          <p:cNvSpPr txBox="1"/>
          <p:nvPr/>
        </p:nvSpPr>
        <p:spPr>
          <a:xfrm>
            <a:off x="5673950" y="2912289"/>
            <a:ext cx="867545" cy="369332"/>
          </a:xfrm>
          <a:prstGeom prst="rect">
            <a:avLst/>
          </a:prstGeom>
          <a:noFill/>
        </p:spPr>
        <p:txBody>
          <a:bodyPr wrap="none" rtlCol="0">
            <a:spAutoFit/>
          </a:bodyPr>
          <a:lstStyle/>
          <a:p>
            <a:pPr algn="ctr"/>
            <a:r>
              <a:rPr lang="en-GB" dirty="0"/>
              <a:t>C</a:t>
            </a:r>
            <a:r>
              <a:rPr lang="en-GB" baseline="-25000" dirty="0"/>
              <a:t>2</a:t>
            </a:r>
            <a:r>
              <a:rPr lang="en-GB" dirty="0"/>
              <a:t>H</a:t>
            </a:r>
            <a:r>
              <a:rPr lang="en-GB" baseline="-25000" dirty="0"/>
              <a:t>6</a:t>
            </a:r>
            <a:r>
              <a:rPr lang="en-GB" dirty="0"/>
              <a:t>O</a:t>
            </a:r>
          </a:p>
        </p:txBody>
      </p:sp>
      <p:sp>
        <p:nvSpPr>
          <p:cNvPr id="5" name="TextBox 4">
            <a:extLst>
              <a:ext uri="{FF2B5EF4-FFF2-40B4-BE49-F238E27FC236}">
                <a16:creationId xmlns:a16="http://schemas.microsoft.com/office/drawing/2014/main" id="{564BF49D-8F9F-8580-87C7-EE429C7CA1E7}"/>
              </a:ext>
            </a:extLst>
          </p:cNvPr>
          <p:cNvSpPr txBox="1"/>
          <p:nvPr/>
        </p:nvSpPr>
        <p:spPr>
          <a:xfrm>
            <a:off x="3103994" y="4295613"/>
            <a:ext cx="825867" cy="369332"/>
          </a:xfrm>
          <a:prstGeom prst="rect">
            <a:avLst/>
          </a:prstGeom>
          <a:noFill/>
        </p:spPr>
        <p:txBody>
          <a:bodyPr wrap="none" rtlCol="0">
            <a:spAutoFit/>
          </a:bodyPr>
          <a:lstStyle/>
          <a:p>
            <a:pPr algn="ctr"/>
            <a:r>
              <a:rPr lang="en-GB" dirty="0"/>
              <a:t>25 mL</a:t>
            </a:r>
          </a:p>
        </p:txBody>
      </p:sp>
      <p:sp>
        <p:nvSpPr>
          <p:cNvPr id="7" name="TextBox 6">
            <a:extLst>
              <a:ext uri="{FF2B5EF4-FFF2-40B4-BE49-F238E27FC236}">
                <a16:creationId xmlns:a16="http://schemas.microsoft.com/office/drawing/2014/main" id="{0CF7DF55-40F6-B15B-099A-DEEE2D59787C}"/>
              </a:ext>
            </a:extLst>
          </p:cNvPr>
          <p:cNvSpPr txBox="1"/>
          <p:nvPr/>
        </p:nvSpPr>
        <p:spPr>
          <a:xfrm>
            <a:off x="3014227" y="5549982"/>
            <a:ext cx="1005404" cy="369332"/>
          </a:xfrm>
          <a:prstGeom prst="rect">
            <a:avLst/>
          </a:prstGeom>
          <a:noFill/>
        </p:spPr>
        <p:txBody>
          <a:bodyPr wrap="none" rtlCol="0">
            <a:spAutoFit/>
          </a:bodyPr>
          <a:lstStyle/>
          <a:p>
            <a:pPr algn="ctr"/>
            <a:r>
              <a:rPr lang="en-GB" dirty="0"/>
              <a:t>40% v/v</a:t>
            </a:r>
          </a:p>
        </p:txBody>
      </p:sp>
      <p:sp>
        <p:nvSpPr>
          <p:cNvPr id="8" name="TextBox 7">
            <a:extLst>
              <a:ext uri="{FF2B5EF4-FFF2-40B4-BE49-F238E27FC236}">
                <a16:creationId xmlns:a16="http://schemas.microsoft.com/office/drawing/2014/main" id="{0EF5C866-CE2F-C1AD-F433-133440C39DEC}"/>
              </a:ext>
            </a:extLst>
          </p:cNvPr>
          <p:cNvSpPr txBox="1"/>
          <p:nvPr/>
        </p:nvSpPr>
        <p:spPr>
          <a:xfrm>
            <a:off x="4896505" y="5045890"/>
            <a:ext cx="2422459" cy="369332"/>
          </a:xfrm>
          <a:prstGeom prst="rect">
            <a:avLst/>
          </a:prstGeom>
          <a:noFill/>
        </p:spPr>
        <p:txBody>
          <a:bodyPr wrap="none" rtlCol="0">
            <a:spAutoFit/>
          </a:bodyPr>
          <a:lstStyle/>
          <a:p>
            <a:pPr algn="ctr"/>
            <a:r>
              <a:rPr lang="en-GB" dirty="0"/>
              <a:t>25 x 40 / 100 = 10 mL</a:t>
            </a:r>
          </a:p>
        </p:txBody>
      </p:sp>
      <p:sp>
        <p:nvSpPr>
          <p:cNvPr id="9" name="TextBox 8">
            <a:extLst>
              <a:ext uri="{FF2B5EF4-FFF2-40B4-BE49-F238E27FC236}">
                <a16:creationId xmlns:a16="http://schemas.microsoft.com/office/drawing/2014/main" id="{474E818B-6B2A-C020-5274-281CC5BE5474}"/>
              </a:ext>
            </a:extLst>
          </p:cNvPr>
          <p:cNvSpPr txBox="1"/>
          <p:nvPr/>
        </p:nvSpPr>
        <p:spPr>
          <a:xfrm>
            <a:off x="5502427" y="6210597"/>
            <a:ext cx="1210589" cy="369332"/>
          </a:xfrm>
          <a:prstGeom prst="rect">
            <a:avLst/>
          </a:prstGeom>
          <a:noFill/>
        </p:spPr>
        <p:txBody>
          <a:bodyPr wrap="none" rtlCol="0">
            <a:spAutoFit/>
          </a:bodyPr>
          <a:lstStyle/>
          <a:p>
            <a:pPr algn="ctr"/>
            <a:r>
              <a:rPr lang="en-GB" dirty="0"/>
              <a:t>0.79 g/mL</a:t>
            </a:r>
          </a:p>
        </p:txBody>
      </p:sp>
      <p:sp>
        <p:nvSpPr>
          <p:cNvPr id="10" name="TextBox 9">
            <a:extLst>
              <a:ext uri="{FF2B5EF4-FFF2-40B4-BE49-F238E27FC236}">
                <a16:creationId xmlns:a16="http://schemas.microsoft.com/office/drawing/2014/main" id="{0289717A-1730-1403-A890-A3168654F218}"/>
              </a:ext>
            </a:extLst>
          </p:cNvPr>
          <p:cNvSpPr txBox="1"/>
          <p:nvPr/>
        </p:nvSpPr>
        <p:spPr>
          <a:xfrm>
            <a:off x="7744838" y="5706505"/>
            <a:ext cx="1133644" cy="646331"/>
          </a:xfrm>
          <a:prstGeom prst="rect">
            <a:avLst/>
          </a:prstGeom>
          <a:noFill/>
        </p:spPr>
        <p:txBody>
          <a:bodyPr wrap="none" rtlCol="0">
            <a:spAutoFit/>
          </a:bodyPr>
          <a:lstStyle/>
          <a:p>
            <a:pPr algn="ctr"/>
            <a:r>
              <a:rPr lang="en-GB" dirty="0"/>
              <a:t>0.79 x 10</a:t>
            </a:r>
          </a:p>
          <a:p>
            <a:pPr algn="ctr"/>
            <a:r>
              <a:rPr lang="en-GB" dirty="0"/>
              <a:t>= 7.9 g</a:t>
            </a:r>
          </a:p>
        </p:txBody>
      </p:sp>
      <p:sp>
        <p:nvSpPr>
          <p:cNvPr id="11" name="TextBox 10">
            <a:extLst>
              <a:ext uri="{FF2B5EF4-FFF2-40B4-BE49-F238E27FC236}">
                <a16:creationId xmlns:a16="http://schemas.microsoft.com/office/drawing/2014/main" id="{0D1EF520-5782-BC54-BAB1-FE36E2D08133}"/>
              </a:ext>
            </a:extLst>
          </p:cNvPr>
          <p:cNvSpPr txBox="1"/>
          <p:nvPr/>
        </p:nvSpPr>
        <p:spPr>
          <a:xfrm>
            <a:off x="7549178" y="3045367"/>
            <a:ext cx="1595309" cy="646331"/>
          </a:xfrm>
          <a:prstGeom prst="rect">
            <a:avLst/>
          </a:prstGeom>
          <a:noFill/>
        </p:spPr>
        <p:txBody>
          <a:bodyPr wrap="none" rtlCol="0">
            <a:spAutoFit/>
          </a:bodyPr>
          <a:lstStyle/>
          <a:p>
            <a:pPr algn="ctr"/>
            <a:r>
              <a:rPr lang="en-GB" dirty="0"/>
              <a:t>2x12 + 6 + 16</a:t>
            </a:r>
          </a:p>
          <a:p>
            <a:pPr algn="ctr"/>
            <a:r>
              <a:rPr lang="en-GB" dirty="0"/>
              <a:t>= 46 g/mol</a:t>
            </a:r>
          </a:p>
        </p:txBody>
      </p:sp>
      <p:sp>
        <p:nvSpPr>
          <p:cNvPr id="12" name="TextBox 11">
            <a:extLst>
              <a:ext uri="{FF2B5EF4-FFF2-40B4-BE49-F238E27FC236}">
                <a16:creationId xmlns:a16="http://schemas.microsoft.com/office/drawing/2014/main" id="{17963553-D475-C0D5-E56B-6C9F762E6A37}"/>
              </a:ext>
            </a:extLst>
          </p:cNvPr>
          <p:cNvSpPr txBox="1"/>
          <p:nvPr/>
        </p:nvSpPr>
        <p:spPr>
          <a:xfrm>
            <a:off x="9693886" y="4956350"/>
            <a:ext cx="1268296" cy="646331"/>
          </a:xfrm>
          <a:prstGeom prst="rect">
            <a:avLst/>
          </a:prstGeom>
          <a:noFill/>
        </p:spPr>
        <p:txBody>
          <a:bodyPr wrap="none" rtlCol="0">
            <a:spAutoFit/>
          </a:bodyPr>
          <a:lstStyle/>
          <a:p>
            <a:pPr algn="ctr"/>
            <a:r>
              <a:rPr lang="en-GB" dirty="0"/>
              <a:t>7.9 / 46</a:t>
            </a:r>
          </a:p>
          <a:p>
            <a:pPr algn="ctr"/>
            <a:r>
              <a:rPr lang="en-GB" dirty="0"/>
              <a:t>= 0.17 mol</a:t>
            </a:r>
          </a:p>
        </p:txBody>
      </p:sp>
    </p:spTree>
    <p:extLst>
      <p:ext uri="{BB962C8B-B14F-4D97-AF65-F5344CB8AC3E}">
        <p14:creationId xmlns:p14="http://schemas.microsoft.com/office/powerpoint/2010/main" val="3708998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11"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16DA-5993-C8B8-F88E-CE12B5A2A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1C524-97D5-5439-D155-ACBACBDDF4A5}"/>
              </a:ext>
            </a:extLst>
          </p:cNvPr>
          <p:cNvSpPr>
            <a:spLocks noGrp="1"/>
          </p:cNvSpPr>
          <p:nvPr>
            <p:ph type="title"/>
          </p:nvPr>
        </p:nvSpPr>
        <p:spPr/>
        <p:txBody>
          <a:bodyPr/>
          <a:lstStyle/>
          <a:p>
            <a:r>
              <a:rPr lang="en-GB" dirty="0"/>
              <a:t>Example: molar concentration of water</a:t>
            </a:r>
          </a:p>
        </p:txBody>
      </p:sp>
      <p:sp>
        <p:nvSpPr>
          <p:cNvPr id="3" name="Table Placeholder 2">
            <a:extLst>
              <a:ext uri="{FF2B5EF4-FFF2-40B4-BE49-F238E27FC236}">
                <a16:creationId xmlns:a16="http://schemas.microsoft.com/office/drawing/2014/main" id="{90A87D40-B7C4-6F72-4893-CC024B4ED736}"/>
              </a:ext>
            </a:extLst>
          </p:cNvPr>
          <p:cNvSpPr>
            <a:spLocks noGrp="1"/>
          </p:cNvSpPr>
          <p:nvPr>
            <p:ph type="tbl" sz="quarter" idx="10"/>
          </p:nvPr>
        </p:nvSpPr>
        <p:spPr/>
        <p:txBody>
          <a:bodyPr/>
          <a:lstStyle/>
          <a:p>
            <a:r>
              <a:rPr lang="en-US" dirty="0"/>
              <a:t>Calculate the molar concentration of water.</a:t>
            </a:r>
          </a:p>
          <a:p>
            <a:endParaRPr lang="en-GB" b="1" dirty="0"/>
          </a:p>
          <a:p>
            <a:pPr marL="342900" indent="-342900">
              <a:buAutoNum type="arabicPeriod"/>
            </a:pPr>
            <a:r>
              <a:rPr lang="en-GB" b="1" dirty="0"/>
              <a:t>Read &amp; identify</a:t>
            </a:r>
          </a:p>
          <a:p>
            <a:pPr marL="918900" lvl="1" indent="-342900"/>
            <a:r>
              <a:rPr lang="en-GB" dirty="0"/>
              <a:t>What’s being asked? </a:t>
            </a:r>
            <a:r>
              <a:rPr lang="en-GB" i="1" dirty="0"/>
              <a:t>Molar concentration of water.</a:t>
            </a:r>
          </a:p>
          <a:p>
            <a:pPr marL="918900" lvl="1" indent="-342900"/>
            <a:r>
              <a:rPr lang="en-GB" dirty="0"/>
              <a:t>What data is given? </a:t>
            </a:r>
            <a:r>
              <a:rPr lang="en-GB" i="1" dirty="0"/>
              <a:t>No data directly, so we need to rely on our knowledge…</a:t>
            </a:r>
            <a:endParaRPr lang="en-GB" dirty="0"/>
          </a:p>
          <a:p>
            <a:pPr marL="918900" lvl="1" indent="-342900"/>
            <a:r>
              <a:rPr lang="en-GB" dirty="0"/>
              <a:t>Knowledge: </a:t>
            </a:r>
            <a:r>
              <a:rPr lang="en-GB" i="1" dirty="0"/>
              <a:t>Chemical structure of water</a:t>
            </a:r>
          </a:p>
          <a:p>
            <a:pPr marL="918900" lvl="1" indent="-342900"/>
            <a:r>
              <a:rPr lang="en-GB" dirty="0"/>
              <a:t>Knowledge: </a:t>
            </a:r>
            <a:r>
              <a:rPr lang="en-GB" i="1" dirty="0"/>
              <a:t>Density of water is 1 g / mL</a:t>
            </a:r>
          </a:p>
          <a:p>
            <a:pPr marL="342900" indent="-342900">
              <a:buFont typeface="+mj-lt"/>
              <a:buAutoNum type="arabicPeriod"/>
            </a:pPr>
            <a:r>
              <a:rPr lang="en-GB" b="1" dirty="0"/>
              <a:t>Estimate</a:t>
            </a:r>
          </a:p>
          <a:p>
            <a:pPr marL="918900" lvl="1" indent="-342900"/>
            <a:r>
              <a:rPr lang="en-GB" dirty="0"/>
              <a:t>This seems like an odd concept – perhaps you’re not sure where to even begin</a:t>
            </a:r>
          </a:p>
          <a:p>
            <a:pPr marL="918900" lvl="1" indent="-342900"/>
            <a:r>
              <a:rPr lang="en-GB" dirty="0"/>
              <a:t>But concentrated solutions that you may have seen before are a few mol/L, so it seems likely that it must be higher than this – after all, there’s lots of water in a sample of water!</a:t>
            </a:r>
          </a:p>
        </p:txBody>
      </p:sp>
    </p:spTree>
    <p:extLst>
      <p:ext uri="{BB962C8B-B14F-4D97-AF65-F5344CB8AC3E}">
        <p14:creationId xmlns:p14="http://schemas.microsoft.com/office/powerpoint/2010/main" val="1509057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773E-F465-C0C4-B2BC-6AA752B18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17553-C7CE-8EEA-4126-031D552E8FD4}"/>
              </a:ext>
            </a:extLst>
          </p:cNvPr>
          <p:cNvSpPr>
            <a:spLocks noGrp="1"/>
          </p:cNvSpPr>
          <p:nvPr>
            <p:ph type="title"/>
          </p:nvPr>
        </p:nvSpPr>
        <p:spPr/>
        <p:txBody>
          <a:bodyPr/>
          <a:lstStyle/>
          <a:p>
            <a:r>
              <a:rPr lang="en-GB" dirty="0"/>
              <a:t>Example: molar concentration of water</a:t>
            </a:r>
          </a:p>
        </p:txBody>
      </p:sp>
      <p:sp>
        <p:nvSpPr>
          <p:cNvPr id="3" name="Table Placeholder 2">
            <a:extLst>
              <a:ext uri="{FF2B5EF4-FFF2-40B4-BE49-F238E27FC236}">
                <a16:creationId xmlns:a16="http://schemas.microsoft.com/office/drawing/2014/main" id="{D2E2EB4C-AD6C-831C-34E4-BB9FEE980759}"/>
              </a:ext>
            </a:extLst>
          </p:cNvPr>
          <p:cNvSpPr>
            <a:spLocks noGrp="1"/>
          </p:cNvSpPr>
          <p:nvPr>
            <p:ph type="tbl" sz="quarter" idx="10"/>
          </p:nvPr>
        </p:nvSpPr>
        <p:spPr/>
        <p:txBody>
          <a:bodyPr/>
          <a:lstStyle/>
          <a:p>
            <a:r>
              <a:rPr lang="en-US" dirty="0"/>
              <a:t>Calculate the molar concentration of water.</a:t>
            </a:r>
          </a:p>
          <a:p>
            <a:endParaRPr lang="en-GB" b="1" dirty="0"/>
          </a:p>
          <a:p>
            <a:r>
              <a:rPr lang="en-GB" b="1" dirty="0"/>
              <a:t>3. Plan</a:t>
            </a:r>
          </a:p>
          <a:p>
            <a:r>
              <a:rPr lang="en-GB" b="1" dirty="0"/>
              <a:t>4. Execute</a:t>
            </a:r>
          </a:p>
          <a:p>
            <a:r>
              <a:rPr lang="en-GB" b="1" dirty="0"/>
              <a:t>5. Check</a:t>
            </a:r>
            <a:endParaRPr lang="en-GB" dirty="0"/>
          </a:p>
        </p:txBody>
      </p:sp>
      <p:pic>
        <p:nvPicPr>
          <p:cNvPr id="4" name="Picture 3">
            <a:extLst>
              <a:ext uri="{FF2B5EF4-FFF2-40B4-BE49-F238E27FC236}">
                <a16:creationId xmlns:a16="http://schemas.microsoft.com/office/drawing/2014/main" id="{6E9190AF-6B74-B842-2264-47F5AFFFC16C}"/>
              </a:ext>
            </a:extLst>
          </p:cNvPr>
          <p:cNvPicPr>
            <a:picLocks noChangeAspect="1"/>
          </p:cNvPicPr>
          <p:nvPr/>
        </p:nvPicPr>
        <p:blipFill>
          <a:blip r:embed="rId2"/>
          <a:stretch>
            <a:fillRect/>
          </a:stretch>
        </p:blipFill>
        <p:spPr>
          <a:xfrm>
            <a:off x="2797175" y="2220186"/>
            <a:ext cx="8714806" cy="3645694"/>
          </a:xfrm>
          <a:prstGeom prst="rect">
            <a:avLst/>
          </a:prstGeom>
        </p:spPr>
      </p:pic>
      <p:sp>
        <p:nvSpPr>
          <p:cNvPr id="5" name="TextBox 4">
            <a:extLst>
              <a:ext uri="{FF2B5EF4-FFF2-40B4-BE49-F238E27FC236}">
                <a16:creationId xmlns:a16="http://schemas.microsoft.com/office/drawing/2014/main" id="{BD2604A8-DA54-E1B6-2AC7-394673AFC3BA}"/>
              </a:ext>
            </a:extLst>
          </p:cNvPr>
          <p:cNvSpPr txBox="1"/>
          <p:nvPr/>
        </p:nvSpPr>
        <p:spPr>
          <a:xfrm>
            <a:off x="3446585" y="4272274"/>
            <a:ext cx="889987" cy="369332"/>
          </a:xfrm>
          <a:prstGeom prst="rect">
            <a:avLst/>
          </a:prstGeom>
          <a:noFill/>
        </p:spPr>
        <p:txBody>
          <a:bodyPr wrap="none" rtlCol="0">
            <a:spAutoFit/>
          </a:bodyPr>
          <a:lstStyle/>
          <a:p>
            <a:pPr algn="ctr"/>
            <a:r>
              <a:rPr lang="en-GB" dirty="0"/>
              <a:t>1 g/mL</a:t>
            </a:r>
          </a:p>
        </p:txBody>
      </p:sp>
      <p:sp>
        <p:nvSpPr>
          <p:cNvPr id="6" name="TextBox 5">
            <a:extLst>
              <a:ext uri="{FF2B5EF4-FFF2-40B4-BE49-F238E27FC236}">
                <a16:creationId xmlns:a16="http://schemas.microsoft.com/office/drawing/2014/main" id="{D2445D8A-7C09-D143-9EAF-D55B763C9987}"/>
              </a:ext>
            </a:extLst>
          </p:cNvPr>
          <p:cNvSpPr txBox="1"/>
          <p:nvPr/>
        </p:nvSpPr>
        <p:spPr>
          <a:xfrm>
            <a:off x="3583642" y="5655597"/>
            <a:ext cx="615873" cy="369332"/>
          </a:xfrm>
          <a:prstGeom prst="rect">
            <a:avLst/>
          </a:prstGeom>
          <a:noFill/>
        </p:spPr>
        <p:txBody>
          <a:bodyPr wrap="none" rtlCol="0">
            <a:spAutoFit/>
          </a:bodyPr>
          <a:lstStyle/>
          <a:p>
            <a:pPr algn="ctr"/>
            <a:r>
              <a:rPr lang="en-GB" dirty="0"/>
              <a:t>H</a:t>
            </a:r>
            <a:r>
              <a:rPr lang="en-GB" baseline="-25000" dirty="0"/>
              <a:t>2</a:t>
            </a:r>
            <a:r>
              <a:rPr lang="en-GB" dirty="0"/>
              <a:t>O</a:t>
            </a:r>
          </a:p>
        </p:txBody>
      </p:sp>
      <p:sp>
        <p:nvSpPr>
          <p:cNvPr id="7" name="TextBox 6">
            <a:extLst>
              <a:ext uri="{FF2B5EF4-FFF2-40B4-BE49-F238E27FC236}">
                <a16:creationId xmlns:a16="http://schemas.microsoft.com/office/drawing/2014/main" id="{E6B3D265-9F49-A12F-A466-A6457DDB4F8A}"/>
              </a:ext>
            </a:extLst>
          </p:cNvPr>
          <p:cNvSpPr txBox="1"/>
          <p:nvPr/>
        </p:nvSpPr>
        <p:spPr>
          <a:xfrm>
            <a:off x="5560756" y="5831443"/>
            <a:ext cx="1069525" cy="369332"/>
          </a:xfrm>
          <a:prstGeom prst="rect">
            <a:avLst/>
          </a:prstGeom>
          <a:noFill/>
        </p:spPr>
        <p:txBody>
          <a:bodyPr wrap="none" rtlCol="0">
            <a:spAutoFit/>
          </a:bodyPr>
          <a:lstStyle/>
          <a:p>
            <a:pPr algn="ctr"/>
            <a:r>
              <a:rPr lang="en-GB" dirty="0"/>
              <a:t>18 g/mol</a:t>
            </a:r>
          </a:p>
        </p:txBody>
      </p:sp>
      <p:sp>
        <p:nvSpPr>
          <p:cNvPr id="8" name="TextBox 7">
            <a:extLst>
              <a:ext uri="{FF2B5EF4-FFF2-40B4-BE49-F238E27FC236}">
                <a16:creationId xmlns:a16="http://schemas.microsoft.com/office/drawing/2014/main" id="{FCFB00F7-CDDF-78B7-BFD1-66F3FD6024CE}"/>
              </a:ext>
            </a:extLst>
          </p:cNvPr>
          <p:cNvSpPr txBox="1"/>
          <p:nvPr/>
        </p:nvSpPr>
        <p:spPr>
          <a:xfrm>
            <a:off x="5650524" y="4260551"/>
            <a:ext cx="889987" cy="369332"/>
          </a:xfrm>
          <a:prstGeom prst="rect">
            <a:avLst/>
          </a:prstGeom>
          <a:noFill/>
        </p:spPr>
        <p:txBody>
          <a:bodyPr wrap="none" rtlCol="0">
            <a:spAutoFit/>
          </a:bodyPr>
          <a:lstStyle/>
          <a:p>
            <a:pPr algn="ctr"/>
            <a:r>
              <a:rPr lang="en-GB" dirty="0"/>
              <a:t>1000 g</a:t>
            </a:r>
          </a:p>
        </p:txBody>
      </p:sp>
      <p:sp>
        <p:nvSpPr>
          <p:cNvPr id="9" name="TextBox 8">
            <a:extLst>
              <a:ext uri="{FF2B5EF4-FFF2-40B4-BE49-F238E27FC236}">
                <a16:creationId xmlns:a16="http://schemas.microsoft.com/office/drawing/2014/main" id="{C3AD585E-AD2E-BA23-A81E-F2FE6A1F148C}"/>
              </a:ext>
            </a:extLst>
          </p:cNvPr>
          <p:cNvSpPr txBox="1"/>
          <p:nvPr/>
        </p:nvSpPr>
        <p:spPr>
          <a:xfrm>
            <a:off x="3592053" y="2994458"/>
            <a:ext cx="505268" cy="369332"/>
          </a:xfrm>
          <a:prstGeom prst="rect">
            <a:avLst/>
          </a:prstGeom>
          <a:noFill/>
        </p:spPr>
        <p:txBody>
          <a:bodyPr wrap="none" rtlCol="0">
            <a:spAutoFit/>
          </a:bodyPr>
          <a:lstStyle/>
          <a:p>
            <a:pPr algn="ctr"/>
            <a:r>
              <a:rPr lang="en-GB" dirty="0"/>
              <a:t>1 L</a:t>
            </a:r>
          </a:p>
        </p:txBody>
      </p:sp>
      <p:sp>
        <p:nvSpPr>
          <p:cNvPr id="10" name="TextBox 9">
            <a:extLst>
              <a:ext uri="{FF2B5EF4-FFF2-40B4-BE49-F238E27FC236}">
                <a16:creationId xmlns:a16="http://schemas.microsoft.com/office/drawing/2014/main" id="{B3373E18-D4F1-1F36-3015-91F2951F0E94}"/>
              </a:ext>
            </a:extLst>
          </p:cNvPr>
          <p:cNvSpPr txBox="1"/>
          <p:nvPr/>
        </p:nvSpPr>
        <p:spPr>
          <a:xfrm>
            <a:off x="7524635" y="5022551"/>
            <a:ext cx="1268296" cy="646331"/>
          </a:xfrm>
          <a:prstGeom prst="rect">
            <a:avLst/>
          </a:prstGeom>
          <a:noFill/>
        </p:spPr>
        <p:txBody>
          <a:bodyPr wrap="none" rtlCol="0">
            <a:spAutoFit/>
          </a:bodyPr>
          <a:lstStyle/>
          <a:p>
            <a:pPr algn="ctr"/>
            <a:r>
              <a:rPr lang="en-GB" dirty="0"/>
              <a:t>1000 / 18</a:t>
            </a:r>
          </a:p>
          <a:p>
            <a:pPr algn="ctr"/>
            <a:r>
              <a:rPr lang="en-GB" dirty="0"/>
              <a:t>= 55.6 mol</a:t>
            </a:r>
          </a:p>
        </p:txBody>
      </p:sp>
      <p:sp>
        <p:nvSpPr>
          <p:cNvPr id="11" name="TextBox 10">
            <a:extLst>
              <a:ext uri="{FF2B5EF4-FFF2-40B4-BE49-F238E27FC236}">
                <a16:creationId xmlns:a16="http://schemas.microsoft.com/office/drawing/2014/main" id="{CDE9F706-DE3C-0001-1547-E5210FC34BFF}"/>
              </a:ext>
            </a:extLst>
          </p:cNvPr>
          <p:cNvSpPr txBox="1"/>
          <p:nvPr/>
        </p:nvSpPr>
        <p:spPr>
          <a:xfrm>
            <a:off x="9912125" y="4530182"/>
            <a:ext cx="1088761" cy="646331"/>
          </a:xfrm>
          <a:prstGeom prst="rect">
            <a:avLst/>
          </a:prstGeom>
          <a:noFill/>
        </p:spPr>
        <p:txBody>
          <a:bodyPr wrap="none" rtlCol="0">
            <a:spAutoFit/>
          </a:bodyPr>
          <a:lstStyle/>
          <a:p>
            <a:pPr algn="ctr"/>
            <a:r>
              <a:rPr lang="en-GB" dirty="0"/>
              <a:t>55.6 / 1</a:t>
            </a:r>
          </a:p>
          <a:p>
            <a:pPr algn="ctr"/>
            <a:r>
              <a:rPr lang="en-GB" dirty="0"/>
              <a:t>= 55.6 M</a:t>
            </a:r>
          </a:p>
        </p:txBody>
      </p:sp>
    </p:spTree>
    <p:extLst>
      <p:ext uri="{BB962C8B-B14F-4D97-AF65-F5344CB8AC3E}">
        <p14:creationId xmlns:p14="http://schemas.microsoft.com/office/powerpoint/2010/main" val="377405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C9A0-D86A-E44C-6419-755D9B046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771A1-AD92-887E-7917-D92477F33145}"/>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ABB86709-0980-7A2D-69A1-563B67261C83}"/>
              </a:ext>
            </a:extLst>
          </p:cNvPr>
          <p:cNvSpPr>
            <a:spLocks noGrp="1"/>
          </p:cNvSpPr>
          <p:nvPr>
            <p:ph type="tbl" sz="quarter" idx="10"/>
          </p:nvPr>
        </p:nvSpPr>
        <p:spPr/>
        <p:txBody>
          <a:bodyPr/>
          <a:lstStyle/>
          <a:p>
            <a:r>
              <a:rPr lang="en-US" dirty="0"/>
              <a:t>We already calculated that a 300 mg aspirin tablet contains 1.67 mmol of aspirin.</a:t>
            </a:r>
            <a:br>
              <a:rPr lang="en-US" dirty="0"/>
            </a:br>
            <a:r>
              <a:rPr lang="en-US" dirty="0"/>
              <a:t>Estimate the number of molecules of aspirin present in a typical cell after taking this tablet.</a:t>
            </a:r>
          </a:p>
          <a:p>
            <a:endParaRPr lang="en-GB" b="1" dirty="0"/>
          </a:p>
          <a:p>
            <a:r>
              <a:rPr lang="en-GB" b="1" dirty="0"/>
              <a:t>1. Read and Identify:</a:t>
            </a:r>
            <a:endParaRPr lang="en-GB" dirty="0"/>
          </a:p>
          <a:p>
            <a:pPr marL="285750" indent="-285750">
              <a:buFont typeface="Arial" panose="020B0604020202020204" pitchFamily="34" charset="0"/>
              <a:buChar char="•"/>
            </a:pPr>
            <a:r>
              <a:rPr lang="en-GB" dirty="0"/>
              <a:t>What do we want? </a:t>
            </a:r>
            <a:r>
              <a:rPr lang="en-GB" i="1" dirty="0"/>
              <a:t>Number of molecules of aspirin</a:t>
            </a:r>
            <a:endParaRPr lang="en-GB" dirty="0"/>
          </a:p>
          <a:p>
            <a:pPr marL="285750" indent="-285750">
              <a:buFont typeface="Arial" panose="020B0604020202020204" pitchFamily="34" charset="0"/>
              <a:buChar char="•"/>
            </a:pPr>
            <a:r>
              <a:rPr lang="en-GB" dirty="0"/>
              <a:t>What information are we given? </a:t>
            </a:r>
            <a:r>
              <a:rPr lang="en-GB" i="1" dirty="0"/>
              <a:t>Total amount of aspirin in body</a:t>
            </a:r>
            <a:endParaRPr lang="en-GB" dirty="0"/>
          </a:p>
          <a:p>
            <a:pPr marL="285750" indent="-285750">
              <a:buFont typeface="Arial" panose="020B0604020202020204" pitchFamily="34" charset="0"/>
              <a:buChar char="•"/>
            </a:pPr>
            <a:r>
              <a:rPr lang="en-GB" dirty="0"/>
              <a:t>Knowledge: </a:t>
            </a:r>
            <a:r>
              <a:rPr lang="en-GB" i="1" dirty="0"/>
              <a:t>Body is roughly 60% water, adults weigh around 65 kg</a:t>
            </a:r>
          </a:p>
          <a:p>
            <a:pPr marL="285750" indent="-285750">
              <a:buFont typeface="Arial" panose="020B0604020202020204" pitchFamily="34" charset="0"/>
              <a:buChar char="•"/>
            </a:pPr>
            <a:r>
              <a:rPr lang="en-GB" dirty="0"/>
              <a:t>Knowledge: </a:t>
            </a:r>
            <a:r>
              <a:rPr lang="en-GB" i="1" dirty="0"/>
              <a:t>‘Typical’ eukaryotic cells are about 15 </a:t>
            </a:r>
            <a:r>
              <a:rPr lang="el-GR" i="1" dirty="0"/>
              <a:t>μ</a:t>
            </a:r>
            <a:r>
              <a:rPr lang="en-GB" i="1" dirty="0"/>
              <a:t>m in diameter</a:t>
            </a:r>
            <a:endParaRPr lang="en-GB" dirty="0"/>
          </a:p>
          <a:p>
            <a:pPr marL="285750" indent="-285750">
              <a:buFont typeface="Arial" panose="020B0604020202020204" pitchFamily="34" charset="0"/>
              <a:buChar char="•"/>
            </a:pPr>
            <a:r>
              <a:rPr lang="en-GB" dirty="0"/>
              <a:t>Assumptions: </a:t>
            </a:r>
            <a:r>
              <a:rPr lang="en-GB" i="1" dirty="0"/>
              <a:t>Molecules distribute equally across body</a:t>
            </a:r>
          </a:p>
          <a:p>
            <a:r>
              <a:rPr lang="en-GB" b="1" dirty="0"/>
              <a:t>2. Estimate:</a:t>
            </a:r>
          </a:p>
          <a:p>
            <a:pPr marL="285750" indent="-285750">
              <a:buFont typeface="Arial" panose="020B0604020202020204" pitchFamily="34" charset="0"/>
              <a:buChar char="•"/>
            </a:pPr>
            <a:r>
              <a:rPr lang="en-GB" dirty="0"/>
              <a:t>If we’ve got about 1 mmol distributed across tens of litres, we expect a concentration roughly </a:t>
            </a:r>
            <a:r>
              <a:rPr lang="el-GR" dirty="0"/>
              <a:t>10</a:t>
            </a:r>
            <a:r>
              <a:rPr lang="en-GB" dirty="0"/>
              <a:t>–100 </a:t>
            </a:r>
            <a:r>
              <a:rPr lang="el-GR" dirty="0" err="1"/>
              <a:t>μΜ</a:t>
            </a:r>
            <a:endParaRPr lang="en-GB" dirty="0"/>
          </a:p>
          <a:p>
            <a:pPr marL="285750" indent="-285750">
              <a:buFont typeface="Arial" panose="020B0604020202020204" pitchFamily="34" charset="0"/>
              <a:buChar char="•"/>
            </a:pPr>
            <a:r>
              <a:rPr lang="en-GB" dirty="0"/>
              <a:t>Avogadro’s constant is huge but cells are small! We should </a:t>
            </a:r>
            <a:r>
              <a:rPr lang="en-GB" b="1" dirty="0"/>
              <a:t>expect a large but not astronomical number</a:t>
            </a:r>
            <a:r>
              <a:rPr lang="en-GB" dirty="0"/>
              <a:t>…</a:t>
            </a:r>
          </a:p>
        </p:txBody>
      </p:sp>
      <p:graphicFrame>
        <p:nvGraphicFramePr>
          <p:cNvPr id="4" name="Object 8">
            <a:extLst>
              <a:ext uri="{FF2B5EF4-FFF2-40B4-BE49-F238E27FC236}">
                <a16:creationId xmlns:a16="http://schemas.microsoft.com/office/drawing/2014/main" id="{731D65D2-AFEE-FBF1-0F52-9C7C7580A75E}"/>
              </a:ext>
            </a:extLst>
          </p:cNvPr>
          <p:cNvGraphicFramePr>
            <a:graphicFrameLocks noChangeAspect="1"/>
          </p:cNvGraphicFramePr>
          <p:nvPr>
            <p:extLst>
              <p:ext uri="{D42A27DB-BD31-4B8C-83A1-F6EECF244321}">
                <p14:modId xmlns:p14="http://schemas.microsoft.com/office/powerpoint/2010/main" val="1580049962"/>
              </p:ext>
            </p:extLst>
          </p:nvPr>
        </p:nvGraphicFramePr>
        <p:xfrm>
          <a:off x="9594306" y="1021556"/>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731D65D2-AFEE-FBF1-0F52-9C7C7580A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4306" y="1021556"/>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17597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F9B5A-0C87-520B-572A-6E8529F56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305D3-C577-E689-12CE-D12D94BA6E9B}"/>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99D0FE2F-3834-AF30-D671-6EFD55F3C6BB}"/>
              </a:ext>
            </a:extLst>
          </p:cNvPr>
          <p:cNvSpPr>
            <a:spLocks noGrp="1"/>
          </p:cNvSpPr>
          <p:nvPr>
            <p:ph type="tbl" sz="quarter" idx="10"/>
          </p:nvPr>
        </p:nvSpPr>
        <p:spPr/>
        <p:txBody>
          <a:bodyPr/>
          <a:lstStyle/>
          <a:p>
            <a:r>
              <a:rPr lang="en-US" dirty="0"/>
              <a:t>We already calculated that a 300 mg aspirin tablet contains 1.67 mmol of aspirin.</a:t>
            </a:r>
            <a:br>
              <a:rPr lang="en-US" dirty="0"/>
            </a:br>
            <a:r>
              <a:rPr lang="en-US" dirty="0"/>
              <a:t>Estimate the number of molecules of aspirin present in a typical cell after taking this tablet.</a:t>
            </a:r>
          </a:p>
          <a:p>
            <a:endParaRPr lang="en-GB" b="1" dirty="0"/>
          </a:p>
        </p:txBody>
      </p:sp>
      <p:graphicFrame>
        <p:nvGraphicFramePr>
          <p:cNvPr id="4" name="Object 8">
            <a:extLst>
              <a:ext uri="{FF2B5EF4-FFF2-40B4-BE49-F238E27FC236}">
                <a16:creationId xmlns:a16="http://schemas.microsoft.com/office/drawing/2014/main" id="{56C561EF-5709-1A8F-A5F9-8055D939E6E9}"/>
              </a:ext>
            </a:extLst>
          </p:cNvPr>
          <p:cNvGraphicFramePr>
            <a:graphicFrameLocks noChangeAspect="1"/>
          </p:cNvGraphicFramePr>
          <p:nvPr/>
        </p:nvGraphicFramePr>
        <p:xfrm>
          <a:off x="9594306" y="1021556"/>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56C561EF-5709-1A8F-A5F9-8055D939E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4306" y="1021556"/>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4">
            <a:extLst>
              <a:ext uri="{FF2B5EF4-FFF2-40B4-BE49-F238E27FC236}">
                <a16:creationId xmlns:a16="http://schemas.microsoft.com/office/drawing/2014/main" id="{D9502BAA-240B-0B45-B9C5-C7AF2E3184C1}"/>
              </a:ext>
            </a:extLst>
          </p:cNvPr>
          <p:cNvPicPr>
            <a:picLocks noChangeAspect="1"/>
          </p:cNvPicPr>
          <p:nvPr/>
        </p:nvPicPr>
        <p:blipFill>
          <a:blip r:embed="rId4"/>
          <a:stretch>
            <a:fillRect/>
          </a:stretch>
        </p:blipFill>
        <p:spPr>
          <a:xfrm>
            <a:off x="59999" y="2592481"/>
            <a:ext cx="11874236" cy="3577113"/>
          </a:xfrm>
          <a:prstGeom prst="rect">
            <a:avLst/>
          </a:prstGeom>
        </p:spPr>
      </p:pic>
      <p:sp>
        <p:nvSpPr>
          <p:cNvPr id="6" name="TextBox 5">
            <a:extLst>
              <a:ext uri="{FF2B5EF4-FFF2-40B4-BE49-F238E27FC236}">
                <a16:creationId xmlns:a16="http://schemas.microsoft.com/office/drawing/2014/main" id="{E7321F11-EE5F-A5D5-2BAB-CAD969349E44}"/>
              </a:ext>
            </a:extLst>
          </p:cNvPr>
          <p:cNvSpPr txBox="1"/>
          <p:nvPr/>
        </p:nvSpPr>
        <p:spPr>
          <a:xfrm>
            <a:off x="522441" y="5987361"/>
            <a:ext cx="830677" cy="369332"/>
          </a:xfrm>
          <a:prstGeom prst="rect">
            <a:avLst/>
          </a:prstGeom>
          <a:noFill/>
        </p:spPr>
        <p:txBody>
          <a:bodyPr wrap="none" rtlCol="0">
            <a:spAutoFit/>
          </a:bodyPr>
          <a:lstStyle/>
          <a:p>
            <a:r>
              <a:rPr lang="en-GB" dirty="0"/>
              <a:t>15 </a:t>
            </a:r>
            <a:r>
              <a:rPr lang="el-GR" dirty="0"/>
              <a:t>μ</a:t>
            </a:r>
            <a:r>
              <a:rPr lang="en-GB" dirty="0"/>
              <a:t>m</a:t>
            </a:r>
          </a:p>
        </p:txBody>
      </p:sp>
      <p:sp>
        <p:nvSpPr>
          <p:cNvPr id="7" name="TextBox 6">
            <a:extLst>
              <a:ext uri="{FF2B5EF4-FFF2-40B4-BE49-F238E27FC236}">
                <a16:creationId xmlns:a16="http://schemas.microsoft.com/office/drawing/2014/main" id="{2F1AA9ED-25D4-4182-7EEB-B3F29DF43A10}"/>
              </a:ext>
            </a:extLst>
          </p:cNvPr>
          <p:cNvSpPr txBox="1"/>
          <p:nvPr/>
        </p:nvSpPr>
        <p:spPr>
          <a:xfrm>
            <a:off x="2468473" y="6003137"/>
            <a:ext cx="1398140" cy="369332"/>
          </a:xfrm>
          <a:prstGeom prst="rect">
            <a:avLst/>
          </a:prstGeom>
          <a:noFill/>
        </p:spPr>
        <p:txBody>
          <a:bodyPr wrap="none" rtlCol="0">
            <a:spAutoFit/>
          </a:bodyPr>
          <a:lstStyle/>
          <a:p>
            <a:pPr algn="ctr"/>
            <a:r>
              <a:rPr lang="en-GB" dirty="0"/>
              <a:t>7.5 x 10</a:t>
            </a:r>
            <a:r>
              <a:rPr lang="en-GB" baseline="30000" dirty="0"/>
              <a:t>-6</a:t>
            </a:r>
            <a:r>
              <a:rPr lang="en-GB" dirty="0"/>
              <a:t> m</a:t>
            </a:r>
          </a:p>
        </p:txBody>
      </p:sp>
      <p:sp>
        <p:nvSpPr>
          <p:cNvPr id="8" name="TextBox 7">
            <a:extLst>
              <a:ext uri="{FF2B5EF4-FFF2-40B4-BE49-F238E27FC236}">
                <a16:creationId xmlns:a16="http://schemas.microsoft.com/office/drawing/2014/main" id="{600A5DD4-87C1-159B-8E3F-38CEA71152BF}"/>
              </a:ext>
            </a:extLst>
          </p:cNvPr>
          <p:cNvSpPr txBox="1"/>
          <p:nvPr/>
        </p:nvSpPr>
        <p:spPr>
          <a:xfrm>
            <a:off x="4518919" y="6120368"/>
            <a:ext cx="1611340" cy="369332"/>
          </a:xfrm>
          <a:prstGeom prst="rect">
            <a:avLst/>
          </a:prstGeom>
          <a:noFill/>
        </p:spPr>
        <p:txBody>
          <a:bodyPr wrap="none" rtlCol="0">
            <a:spAutoFit/>
          </a:bodyPr>
          <a:lstStyle/>
          <a:p>
            <a:pPr algn="ctr"/>
            <a:r>
              <a:rPr lang="en-GB" dirty="0"/>
              <a:t>1.8 x 10</a:t>
            </a:r>
            <a:r>
              <a:rPr lang="en-GB" baseline="30000" dirty="0"/>
              <a:t>-15</a:t>
            </a:r>
            <a:r>
              <a:rPr lang="en-GB" dirty="0"/>
              <a:t> m</a:t>
            </a:r>
            <a:r>
              <a:rPr lang="en-GB" baseline="30000" dirty="0"/>
              <a:t>3</a:t>
            </a:r>
          </a:p>
        </p:txBody>
      </p:sp>
      <p:sp>
        <p:nvSpPr>
          <p:cNvPr id="9" name="TextBox 8">
            <a:extLst>
              <a:ext uri="{FF2B5EF4-FFF2-40B4-BE49-F238E27FC236}">
                <a16:creationId xmlns:a16="http://schemas.microsoft.com/office/drawing/2014/main" id="{C27E5AB5-F96B-5E1D-AB37-2ABDDDACCCC4}"/>
              </a:ext>
            </a:extLst>
          </p:cNvPr>
          <p:cNvSpPr txBox="1"/>
          <p:nvPr/>
        </p:nvSpPr>
        <p:spPr>
          <a:xfrm>
            <a:off x="6643192" y="5991414"/>
            <a:ext cx="1418978" cy="369332"/>
          </a:xfrm>
          <a:prstGeom prst="rect">
            <a:avLst/>
          </a:prstGeom>
          <a:noFill/>
        </p:spPr>
        <p:txBody>
          <a:bodyPr wrap="none" rtlCol="0">
            <a:spAutoFit/>
          </a:bodyPr>
          <a:lstStyle/>
          <a:p>
            <a:pPr algn="ctr"/>
            <a:r>
              <a:rPr lang="en-GB" dirty="0"/>
              <a:t>1.8 x 10</a:t>
            </a:r>
            <a:r>
              <a:rPr lang="en-GB" baseline="30000" dirty="0"/>
              <a:t>-12</a:t>
            </a:r>
            <a:r>
              <a:rPr lang="en-GB" dirty="0"/>
              <a:t> L</a:t>
            </a:r>
            <a:endParaRPr lang="en-GB" baseline="30000" dirty="0"/>
          </a:p>
        </p:txBody>
      </p:sp>
      <p:sp>
        <p:nvSpPr>
          <p:cNvPr id="10" name="TextBox 9">
            <a:extLst>
              <a:ext uri="{FF2B5EF4-FFF2-40B4-BE49-F238E27FC236}">
                <a16:creationId xmlns:a16="http://schemas.microsoft.com/office/drawing/2014/main" id="{20545A41-B49C-2508-0864-7B3A07AAAD5E}"/>
              </a:ext>
            </a:extLst>
          </p:cNvPr>
          <p:cNvSpPr txBox="1"/>
          <p:nvPr/>
        </p:nvSpPr>
        <p:spPr>
          <a:xfrm>
            <a:off x="2862513" y="3693691"/>
            <a:ext cx="633507" cy="369332"/>
          </a:xfrm>
          <a:prstGeom prst="rect">
            <a:avLst/>
          </a:prstGeom>
          <a:noFill/>
        </p:spPr>
        <p:txBody>
          <a:bodyPr wrap="none" rtlCol="0">
            <a:spAutoFit/>
          </a:bodyPr>
          <a:lstStyle/>
          <a:p>
            <a:pPr algn="ctr"/>
            <a:r>
              <a:rPr lang="en-GB" dirty="0"/>
              <a:t>65 L</a:t>
            </a:r>
            <a:endParaRPr lang="en-GB" baseline="30000" dirty="0"/>
          </a:p>
        </p:txBody>
      </p:sp>
      <p:sp>
        <p:nvSpPr>
          <p:cNvPr id="11" name="TextBox 10">
            <a:extLst>
              <a:ext uri="{FF2B5EF4-FFF2-40B4-BE49-F238E27FC236}">
                <a16:creationId xmlns:a16="http://schemas.microsoft.com/office/drawing/2014/main" id="{9D02017C-ACDA-91D5-4C9A-9BEE15176D93}"/>
              </a:ext>
            </a:extLst>
          </p:cNvPr>
          <p:cNvSpPr txBox="1"/>
          <p:nvPr/>
        </p:nvSpPr>
        <p:spPr>
          <a:xfrm>
            <a:off x="2676566" y="4959783"/>
            <a:ext cx="1005403" cy="369332"/>
          </a:xfrm>
          <a:prstGeom prst="rect">
            <a:avLst/>
          </a:prstGeom>
          <a:noFill/>
        </p:spPr>
        <p:txBody>
          <a:bodyPr wrap="none" rtlCol="0">
            <a:spAutoFit/>
          </a:bodyPr>
          <a:lstStyle/>
          <a:p>
            <a:pPr algn="ctr"/>
            <a:r>
              <a:rPr lang="en-GB" dirty="0"/>
              <a:t>60% v/v</a:t>
            </a:r>
            <a:endParaRPr lang="en-GB" baseline="30000" dirty="0"/>
          </a:p>
        </p:txBody>
      </p:sp>
      <p:sp>
        <p:nvSpPr>
          <p:cNvPr id="12" name="TextBox 11">
            <a:extLst>
              <a:ext uri="{FF2B5EF4-FFF2-40B4-BE49-F238E27FC236}">
                <a16:creationId xmlns:a16="http://schemas.microsoft.com/office/drawing/2014/main" id="{631AE45D-804A-673F-CDD8-1737C881679F}"/>
              </a:ext>
            </a:extLst>
          </p:cNvPr>
          <p:cNvSpPr txBox="1"/>
          <p:nvPr/>
        </p:nvSpPr>
        <p:spPr>
          <a:xfrm>
            <a:off x="4597471" y="3177876"/>
            <a:ext cx="1454244" cy="369332"/>
          </a:xfrm>
          <a:prstGeom prst="rect">
            <a:avLst/>
          </a:prstGeom>
          <a:noFill/>
        </p:spPr>
        <p:txBody>
          <a:bodyPr wrap="none" rtlCol="0">
            <a:spAutoFit/>
          </a:bodyPr>
          <a:lstStyle/>
          <a:p>
            <a:pPr algn="ctr"/>
            <a:r>
              <a:rPr lang="en-GB" dirty="0"/>
              <a:t>0.00167 mol</a:t>
            </a:r>
            <a:endParaRPr lang="en-GB" baseline="30000" dirty="0"/>
          </a:p>
        </p:txBody>
      </p:sp>
      <p:sp>
        <p:nvSpPr>
          <p:cNvPr id="13" name="TextBox 12">
            <a:extLst>
              <a:ext uri="{FF2B5EF4-FFF2-40B4-BE49-F238E27FC236}">
                <a16:creationId xmlns:a16="http://schemas.microsoft.com/office/drawing/2014/main" id="{D6EE4564-9779-ED5E-6F9A-CF2A24586015}"/>
              </a:ext>
            </a:extLst>
          </p:cNvPr>
          <p:cNvSpPr txBox="1"/>
          <p:nvPr/>
        </p:nvSpPr>
        <p:spPr>
          <a:xfrm>
            <a:off x="4629534" y="4420522"/>
            <a:ext cx="1390124" cy="646331"/>
          </a:xfrm>
          <a:prstGeom prst="rect">
            <a:avLst/>
          </a:prstGeom>
          <a:noFill/>
        </p:spPr>
        <p:txBody>
          <a:bodyPr wrap="none" rtlCol="0">
            <a:spAutoFit/>
          </a:bodyPr>
          <a:lstStyle/>
          <a:p>
            <a:pPr algn="ctr"/>
            <a:r>
              <a:rPr lang="en-GB" dirty="0"/>
              <a:t>65 x 60/100</a:t>
            </a:r>
          </a:p>
          <a:p>
            <a:pPr algn="ctr"/>
            <a:r>
              <a:rPr lang="en-GB" dirty="0"/>
              <a:t>= 39 L</a:t>
            </a:r>
          </a:p>
        </p:txBody>
      </p:sp>
      <p:sp>
        <p:nvSpPr>
          <p:cNvPr id="14" name="TextBox 13">
            <a:extLst>
              <a:ext uri="{FF2B5EF4-FFF2-40B4-BE49-F238E27FC236}">
                <a16:creationId xmlns:a16="http://schemas.microsoft.com/office/drawing/2014/main" id="{40824DBF-959D-038B-0EC1-9A1F55ECFB2C}"/>
              </a:ext>
            </a:extLst>
          </p:cNvPr>
          <p:cNvSpPr txBox="1"/>
          <p:nvPr/>
        </p:nvSpPr>
        <p:spPr>
          <a:xfrm>
            <a:off x="6530790" y="3975045"/>
            <a:ext cx="1596912" cy="646331"/>
          </a:xfrm>
          <a:prstGeom prst="rect">
            <a:avLst/>
          </a:prstGeom>
          <a:noFill/>
        </p:spPr>
        <p:txBody>
          <a:bodyPr wrap="none" rtlCol="0">
            <a:spAutoFit/>
          </a:bodyPr>
          <a:lstStyle/>
          <a:p>
            <a:pPr algn="ctr"/>
            <a:r>
              <a:rPr lang="en-GB" dirty="0"/>
              <a:t>0.00167 / 39</a:t>
            </a:r>
          </a:p>
          <a:p>
            <a:pPr algn="ctr"/>
            <a:r>
              <a:rPr lang="en-GB" dirty="0"/>
              <a:t>= 4.3 x 10</a:t>
            </a:r>
            <a:r>
              <a:rPr lang="en-GB" baseline="30000" dirty="0"/>
              <a:t>-5</a:t>
            </a:r>
            <a:r>
              <a:rPr lang="en-GB" dirty="0"/>
              <a:t> M</a:t>
            </a:r>
          </a:p>
        </p:txBody>
      </p:sp>
      <p:sp>
        <p:nvSpPr>
          <p:cNvPr id="15" name="TextBox 14">
            <a:extLst>
              <a:ext uri="{FF2B5EF4-FFF2-40B4-BE49-F238E27FC236}">
                <a16:creationId xmlns:a16="http://schemas.microsoft.com/office/drawing/2014/main" id="{6BFEA44C-1637-E600-3DC2-4017397EC0D8}"/>
              </a:ext>
            </a:extLst>
          </p:cNvPr>
          <p:cNvSpPr txBox="1"/>
          <p:nvPr/>
        </p:nvSpPr>
        <p:spPr>
          <a:xfrm>
            <a:off x="8426155" y="2920847"/>
            <a:ext cx="1406154" cy="646331"/>
          </a:xfrm>
          <a:prstGeom prst="rect">
            <a:avLst/>
          </a:prstGeom>
          <a:noFill/>
        </p:spPr>
        <p:txBody>
          <a:bodyPr wrap="none" rtlCol="0">
            <a:spAutoFit/>
          </a:bodyPr>
          <a:lstStyle/>
          <a:p>
            <a:pPr algn="ctr"/>
            <a:r>
              <a:rPr lang="en-GB" dirty="0"/>
              <a:t>4.3 x 10</a:t>
            </a:r>
            <a:r>
              <a:rPr lang="en-GB" baseline="30000" dirty="0"/>
              <a:t>-5</a:t>
            </a:r>
          </a:p>
          <a:p>
            <a:pPr algn="ctr"/>
            <a:r>
              <a:rPr lang="en-GB" dirty="0"/>
              <a:t>x 1.8 x 10</a:t>
            </a:r>
            <a:r>
              <a:rPr lang="en-GB" baseline="30000" dirty="0"/>
              <a:t>-12</a:t>
            </a:r>
            <a:endParaRPr lang="en-GB" dirty="0"/>
          </a:p>
        </p:txBody>
      </p:sp>
      <p:sp>
        <p:nvSpPr>
          <p:cNvPr id="16" name="TextBox 15">
            <a:extLst>
              <a:ext uri="{FF2B5EF4-FFF2-40B4-BE49-F238E27FC236}">
                <a16:creationId xmlns:a16="http://schemas.microsoft.com/office/drawing/2014/main" id="{AE4F2F4D-773D-C050-2D59-DC7780189659}"/>
              </a:ext>
            </a:extLst>
          </p:cNvPr>
          <p:cNvSpPr txBox="1"/>
          <p:nvPr/>
        </p:nvSpPr>
        <p:spPr>
          <a:xfrm>
            <a:off x="10598861" y="4559021"/>
            <a:ext cx="1159293" cy="369332"/>
          </a:xfrm>
          <a:prstGeom prst="rect">
            <a:avLst/>
          </a:prstGeom>
          <a:noFill/>
        </p:spPr>
        <p:txBody>
          <a:bodyPr wrap="none" rtlCol="0">
            <a:spAutoFit/>
          </a:bodyPr>
          <a:lstStyle/>
          <a:p>
            <a:pPr algn="ctr"/>
            <a:r>
              <a:rPr lang="en-GB" dirty="0"/>
              <a:t>46 million</a:t>
            </a:r>
            <a:endParaRPr lang="en-GB" baseline="30000" dirty="0"/>
          </a:p>
        </p:txBody>
      </p:sp>
      <p:sp>
        <p:nvSpPr>
          <p:cNvPr id="17" name="TextBox 16">
            <a:extLst>
              <a:ext uri="{FF2B5EF4-FFF2-40B4-BE49-F238E27FC236}">
                <a16:creationId xmlns:a16="http://schemas.microsoft.com/office/drawing/2014/main" id="{66017622-0810-5F47-9474-9E24A94A910A}"/>
              </a:ext>
            </a:extLst>
          </p:cNvPr>
          <p:cNvSpPr txBox="1"/>
          <p:nvPr/>
        </p:nvSpPr>
        <p:spPr>
          <a:xfrm>
            <a:off x="8664105" y="4559021"/>
            <a:ext cx="1662635" cy="369332"/>
          </a:xfrm>
          <a:prstGeom prst="rect">
            <a:avLst/>
          </a:prstGeom>
          <a:noFill/>
        </p:spPr>
        <p:txBody>
          <a:bodyPr wrap="none" rtlCol="0">
            <a:spAutoFit/>
          </a:bodyPr>
          <a:lstStyle/>
          <a:p>
            <a:pPr algn="ctr"/>
            <a:r>
              <a:rPr lang="en-GB" dirty="0"/>
              <a:t>7.7 x 10</a:t>
            </a:r>
            <a:r>
              <a:rPr lang="en-GB" baseline="30000" dirty="0"/>
              <a:t>-18</a:t>
            </a:r>
            <a:r>
              <a:rPr lang="en-GB" dirty="0"/>
              <a:t> mol</a:t>
            </a:r>
          </a:p>
        </p:txBody>
      </p:sp>
      <p:sp>
        <p:nvSpPr>
          <p:cNvPr id="18" name="TextBox 17">
            <a:extLst>
              <a:ext uri="{FF2B5EF4-FFF2-40B4-BE49-F238E27FC236}">
                <a16:creationId xmlns:a16="http://schemas.microsoft.com/office/drawing/2014/main" id="{DE05BE7E-4412-8BCE-C912-0923CC816D9C}"/>
              </a:ext>
            </a:extLst>
          </p:cNvPr>
          <p:cNvSpPr txBox="1"/>
          <p:nvPr/>
        </p:nvSpPr>
        <p:spPr>
          <a:xfrm>
            <a:off x="10008389" y="3005537"/>
            <a:ext cx="2183611" cy="646331"/>
          </a:xfrm>
          <a:prstGeom prst="rect">
            <a:avLst/>
          </a:prstGeom>
          <a:noFill/>
        </p:spPr>
        <p:txBody>
          <a:bodyPr wrap="none" rtlCol="0">
            <a:spAutoFit/>
          </a:bodyPr>
          <a:lstStyle/>
          <a:p>
            <a:pPr algn="ctr"/>
            <a:r>
              <a:rPr lang="en-GB" dirty="0"/>
              <a:t>7.7 x 10</a:t>
            </a:r>
            <a:r>
              <a:rPr lang="en-GB" baseline="30000" dirty="0"/>
              <a:t>-18</a:t>
            </a:r>
            <a:r>
              <a:rPr lang="en-GB" dirty="0"/>
              <a:t> mol</a:t>
            </a:r>
          </a:p>
          <a:p>
            <a:pPr algn="ctr"/>
            <a:r>
              <a:rPr lang="en-GB" dirty="0"/>
              <a:t>x 6.022 x 10</a:t>
            </a:r>
            <a:r>
              <a:rPr lang="en-GB" baseline="30000" dirty="0"/>
              <a:t>23</a:t>
            </a:r>
            <a:r>
              <a:rPr lang="en-GB" dirty="0"/>
              <a:t> mol</a:t>
            </a:r>
            <a:r>
              <a:rPr lang="en-GB" baseline="30000" dirty="0"/>
              <a:t>-1</a:t>
            </a:r>
          </a:p>
        </p:txBody>
      </p:sp>
    </p:spTree>
    <p:extLst>
      <p:ext uri="{BB962C8B-B14F-4D97-AF65-F5344CB8AC3E}">
        <p14:creationId xmlns:p14="http://schemas.microsoft.com/office/powerpoint/2010/main" val="3576534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A76BE9-77D7-8634-C3A4-F20744A38931}"/>
              </a:ext>
            </a:extLst>
          </p:cNvPr>
          <p:cNvPicPr>
            <a:picLocks noChangeAspect="1"/>
          </p:cNvPicPr>
          <p:nvPr/>
        </p:nvPicPr>
        <p:blipFill>
          <a:blip r:embed="rId2"/>
          <a:stretch>
            <a:fillRect/>
          </a:stretch>
        </p:blipFill>
        <p:spPr>
          <a:xfrm>
            <a:off x="1958275" y="-27384"/>
            <a:ext cx="8275449" cy="6912768"/>
          </a:xfrm>
          <a:prstGeom prst="rect">
            <a:avLst/>
          </a:prstGeom>
        </p:spPr>
      </p:pic>
    </p:spTree>
    <p:extLst>
      <p:ext uri="{BB962C8B-B14F-4D97-AF65-F5344CB8AC3E}">
        <p14:creationId xmlns:p14="http://schemas.microsoft.com/office/powerpoint/2010/main" val="8018697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CA89-044D-BAF3-C7A3-6ED8F079FF47}"/>
              </a:ext>
            </a:extLst>
          </p:cNvPr>
          <p:cNvSpPr>
            <a:spLocks noGrp="1"/>
          </p:cNvSpPr>
          <p:nvPr>
            <p:ph type="title"/>
          </p:nvPr>
        </p:nvSpPr>
        <p:spPr/>
        <p:txBody>
          <a:bodyPr/>
          <a:lstStyle/>
          <a:p>
            <a:r>
              <a:rPr lang="en-GB" dirty="0"/>
              <a:t>Chemical reactions</a:t>
            </a:r>
          </a:p>
        </p:txBody>
      </p:sp>
    </p:spTree>
    <p:extLst>
      <p:ext uri="{BB962C8B-B14F-4D97-AF65-F5344CB8AC3E}">
        <p14:creationId xmlns:p14="http://schemas.microsoft.com/office/powerpoint/2010/main" val="1213849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5D371-1AAE-017F-F743-5CED19009994}"/>
              </a:ext>
            </a:extLst>
          </p:cNvPr>
          <p:cNvSpPr>
            <a:spLocks noGrp="1"/>
          </p:cNvSpPr>
          <p:nvPr>
            <p:ph type="title"/>
          </p:nvPr>
        </p:nvSpPr>
        <p:spPr/>
        <p:txBody>
          <a:bodyPr/>
          <a:lstStyle/>
          <a:p>
            <a:r>
              <a:rPr lang="en-GB" dirty="0"/>
              <a:t>Stoichiometry of chemical reactions</a:t>
            </a:r>
          </a:p>
        </p:txBody>
      </p:sp>
      <p:sp>
        <p:nvSpPr>
          <p:cNvPr id="3" name="Table Placeholder 2">
            <a:extLst>
              <a:ext uri="{FF2B5EF4-FFF2-40B4-BE49-F238E27FC236}">
                <a16:creationId xmlns:a16="http://schemas.microsoft.com/office/drawing/2014/main" id="{70585F1E-A95C-22F7-1F2C-EA169BDE85A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Determining the </a:t>
            </a:r>
            <a:r>
              <a:rPr lang="en-GB" b="1" dirty="0"/>
              <a:t>stoichiometry </a:t>
            </a:r>
            <a:r>
              <a:rPr lang="en-GB" dirty="0"/>
              <a:t>(ratio) in which two or more compounds react is straightforward: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Every component on each side of the equations needs to balance.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acid base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__ HCl + __ NaOH → __ NaCl + __ H</a:t>
            </a:r>
            <a:r>
              <a:rPr lang="en-GB" baseline="-25000" dirty="0"/>
              <a:t>2</a:t>
            </a:r>
            <a:r>
              <a:rPr lang="en-GB" dirty="0"/>
              <a:t>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__ H</a:t>
            </a:r>
            <a:r>
              <a:rPr lang="en-GB" baseline="-25000" dirty="0"/>
              <a:t>3</a:t>
            </a:r>
            <a:r>
              <a:rPr lang="en-GB" dirty="0"/>
              <a:t>PO</a:t>
            </a:r>
            <a:r>
              <a:rPr lang="en-GB" baseline="-25000" dirty="0"/>
              <a:t>4</a:t>
            </a:r>
            <a:r>
              <a:rPr lang="en-GB" dirty="0"/>
              <a:t> + __ Na</a:t>
            </a:r>
            <a:r>
              <a:rPr lang="en-GB" baseline="-25000" dirty="0"/>
              <a:t>2</a:t>
            </a:r>
            <a:r>
              <a:rPr lang="en-GB" dirty="0"/>
              <a:t>CO</a:t>
            </a:r>
            <a:r>
              <a:rPr lang="en-GB" baseline="-25000" dirty="0"/>
              <a:t>3</a:t>
            </a:r>
            <a:r>
              <a:rPr lang="en-GB" dirty="0"/>
              <a:t> → __ Na</a:t>
            </a:r>
            <a:r>
              <a:rPr lang="en-GB" baseline="-25000" dirty="0"/>
              <a:t>3</a:t>
            </a:r>
            <a:r>
              <a:rPr lang="en-GB" dirty="0"/>
              <a:t>PO</a:t>
            </a:r>
            <a:r>
              <a:rPr lang="en-GB" baseline="-25000" dirty="0"/>
              <a:t>4</a:t>
            </a:r>
            <a:r>
              <a:rPr lang="en-GB" dirty="0"/>
              <a:t> + __ CO</a:t>
            </a:r>
            <a:r>
              <a:rPr lang="en-GB" baseline="-25000" dirty="0"/>
              <a:t>2</a:t>
            </a:r>
            <a:r>
              <a:rPr lang="en-GB" dirty="0"/>
              <a:t> + __ H</a:t>
            </a:r>
            <a:r>
              <a:rPr lang="en-GB" baseline="-25000" dirty="0"/>
              <a:t>2</a:t>
            </a:r>
            <a:r>
              <a:rPr lang="en-GB" dirty="0"/>
              <a:t>O</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3297310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A077A-AEC8-62F8-30F5-B8438DFCD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D9A77-B5D2-698E-723C-2972E66A55B5}"/>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D2646529-7CCD-330A-8815-4D2558FD2E5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How </a:t>
            </a:r>
            <a:r>
              <a:rPr lang="en-GB" b="1" dirty="0"/>
              <a:t>efficient </a:t>
            </a:r>
            <a:r>
              <a:rPr lang="en-GB" dirty="0"/>
              <a:t>are chemical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We cannot always assume that all chemical reactions work perfectly</a:t>
            </a:r>
            <a:br>
              <a:rPr lang="en-GB" dirty="0"/>
            </a:br>
            <a:r>
              <a:rPr lang="en-GB" dirty="0"/>
              <a:t>i.e. that all of the reactant is converted to product…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Some reactions work well…</a:t>
            </a:r>
          </a:p>
          <a:p>
            <a:pPr marL="861750" lvl="1" indent="-285750">
              <a:buFont typeface="Arial" panose="020B0604020202020204" pitchFamily="34" charset="0"/>
              <a:buChar char="•"/>
            </a:pPr>
            <a:r>
              <a:rPr lang="en-GB" dirty="0"/>
              <a:t>e.g. the reaction between sodium hydroxide and hydrochloric acid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and some work poorly or not at all…</a:t>
            </a:r>
          </a:p>
        </p:txBody>
      </p:sp>
    </p:spTree>
    <p:extLst>
      <p:ext uri="{BB962C8B-B14F-4D97-AF65-F5344CB8AC3E}">
        <p14:creationId xmlns:p14="http://schemas.microsoft.com/office/powerpoint/2010/main" val="246328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A52BF-BD18-2689-BA27-EB7780976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B73F7-9C8D-A9F3-D366-15AFCDDB97F6}"/>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48D48301-D573-1CD9-CBAF-54DBC1D839AA}"/>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success of a chemical reaction depends on a number of factors:</a:t>
            </a:r>
          </a:p>
          <a:p>
            <a:pPr marL="861750" lvl="1" indent="-285750">
              <a:buFont typeface="Arial" panose="020B0604020202020204" pitchFamily="34" charset="0"/>
              <a:buChar char="•"/>
            </a:pPr>
            <a:r>
              <a:rPr lang="en-GB" dirty="0"/>
              <a:t>the reaction conditions (temperature, pressure, time, solvent)</a:t>
            </a:r>
          </a:p>
          <a:p>
            <a:pPr marL="861750" lvl="1" indent="-285750">
              <a:buFont typeface="Arial" panose="020B0604020202020204" pitchFamily="34" charset="0"/>
              <a:buChar char="•"/>
            </a:pPr>
            <a:r>
              <a:rPr lang="en-GB" dirty="0"/>
              <a:t>choice of reactants and reagents</a:t>
            </a:r>
          </a:p>
          <a:p>
            <a:pPr marL="861750" lvl="1" indent="-285750">
              <a:buFont typeface="Arial" panose="020B0604020202020204" pitchFamily="34" charset="0"/>
              <a:buChar char="•"/>
            </a:pPr>
            <a:r>
              <a:rPr lang="en-GB" dirty="0"/>
              <a:t>properties of the starting material</a:t>
            </a:r>
          </a:p>
          <a:p>
            <a:pPr marL="861750" lvl="1" indent="-285750">
              <a:buFont typeface="Arial" panose="020B0604020202020204" pitchFamily="34" charset="0"/>
              <a:buChar char="•"/>
            </a:pPr>
            <a:r>
              <a:rPr lang="en-GB" dirty="0"/>
              <a:t>activation energy of the chemical reaction</a:t>
            </a:r>
          </a:p>
          <a:p>
            <a:pPr marL="861750" lvl="1" indent="-285750">
              <a:buFont typeface="Arial" panose="020B0604020202020204" pitchFamily="34" charset="0"/>
              <a:buChar char="•"/>
            </a:pPr>
            <a:r>
              <a:rPr lang="en-GB" dirty="0"/>
              <a:t>stability of the starting materials and products</a:t>
            </a:r>
          </a:p>
          <a:p>
            <a:pPr marL="861750" lvl="1" indent="-285750">
              <a:buFont typeface="Arial" panose="020B0604020202020204" pitchFamily="34" charset="0"/>
              <a:buChar char="•"/>
            </a:pPr>
            <a:r>
              <a:rPr lang="en-GB" dirty="0"/>
              <a:t>side reactions</a:t>
            </a:r>
          </a:p>
          <a:p>
            <a:pPr marL="861750" lvl="1" indent="-285750">
              <a:buFont typeface="Arial" panose="020B0604020202020204" pitchFamily="34" charset="0"/>
              <a:buChar char="•"/>
            </a:pPr>
            <a:r>
              <a:rPr lang="en-GB" dirty="0"/>
              <a:t>ease and efficiency of product isolation</a:t>
            </a:r>
          </a:p>
          <a:p>
            <a:pPr marL="861750" lvl="1" indent="-285750">
              <a:buFont typeface="Arial" panose="020B0604020202020204" pitchFamily="34" charset="0"/>
              <a:buChar char="•"/>
            </a:pPr>
            <a:r>
              <a:rPr lang="en-GB" dirty="0"/>
              <a:t>operator related factors – loses due to handling etc.</a:t>
            </a:r>
          </a:p>
        </p:txBody>
      </p:sp>
    </p:spTree>
    <p:extLst>
      <p:ext uri="{BB962C8B-B14F-4D97-AF65-F5344CB8AC3E}">
        <p14:creationId xmlns:p14="http://schemas.microsoft.com/office/powerpoint/2010/main" val="385689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D640-8BC3-02CF-4DAF-843D86E04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06591-9E43-012B-DFBB-4615E7A72547}"/>
              </a:ext>
            </a:extLst>
          </p:cNvPr>
          <p:cNvSpPr>
            <a:spLocks noGrp="1"/>
          </p:cNvSpPr>
          <p:nvPr>
            <p:ph type="title"/>
          </p:nvPr>
        </p:nvSpPr>
        <p:spPr/>
        <p:txBody>
          <a:bodyPr/>
          <a:lstStyle/>
          <a:p>
            <a:r>
              <a:rPr lang="en-GB" dirty="0"/>
              <a:t>Calculating chemical yields</a:t>
            </a:r>
          </a:p>
        </p:txBody>
      </p:sp>
      <p:sp>
        <p:nvSpPr>
          <p:cNvPr id="3" name="Table Placeholder 2">
            <a:extLst>
              <a:ext uri="{FF2B5EF4-FFF2-40B4-BE49-F238E27FC236}">
                <a16:creationId xmlns:a16="http://schemas.microsoft.com/office/drawing/2014/main" id="{7456F453-8321-65FA-98C7-85CED5E7A0BC}"/>
              </a:ext>
            </a:extLst>
          </p:cNvPr>
          <p:cNvSpPr>
            <a:spLocks noGrp="1"/>
          </p:cNvSpPr>
          <p:nvPr>
            <p:ph type="tbl" sz="quarter" idx="10"/>
          </p:nvPr>
        </p:nvSpPr>
        <p:spPr>
          <a:xfrm>
            <a:off x="316491" y="1385888"/>
            <a:ext cx="11522075" cy="5103812"/>
          </a:xfrm>
        </p:spPr>
        <p:txBody>
          <a:bodyPr/>
          <a:lstStyle/>
          <a:p>
            <a:pPr marL="285750" indent="-285750">
              <a:buFont typeface="Arial" panose="020B0604020202020204" pitchFamily="34" charset="0"/>
              <a:buChar char="•"/>
            </a:pPr>
            <a:r>
              <a:rPr lang="en-GB" dirty="0"/>
              <a:t>The </a:t>
            </a:r>
            <a:r>
              <a:rPr lang="en-GB" b="1" dirty="0"/>
              <a:t>stoichiometry</a:t>
            </a:r>
            <a:r>
              <a:rPr lang="en-GB" dirty="0"/>
              <a:t> tells us how much product we should expect based on a given amount of starting material.</a:t>
            </a:r>
          </a:p>
          <a:p>
            <a:pPr marL="285750" indent="-285750">
              <a:buFont typeface="Arial" panose="020B0604020202020204" pitchFamily="34" charset="0"/>
              <a:buChar char="•"/>
            </a:pPr>
            <a:r>
              <a:rPr lang="en-GB" dirty="0"/>
              <a:t>If we know the amount of product we obtained, then we can calculate the </a:t>
            </a:r>
            <a:r>
              <a:rPr lang="en-GB" b="1" dirty="0"/>
              <a:t>yield </a:t>
            </a:r>
            <a:r>
              <a:rPr lang="en-GB" dirty="0"/>
              <a:t>of the reaction</a:t>
            </a:r>
            <a:br>
              <a:rPr lang="en-GB" dirty="0"/>
            </a:br>
            <a:r>
              <a:rPr lang="en-GB" dirty="0"/>
              <a:t>(i.e. how efficient the reaction has been), based on the amount of product formed relative to the amount of starting material.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But first, we need to determine which reagent is </a:t>
            </a:r>
            <a:r>
              <a:rPr lang="en-GB" b="1" dirty="0"/>
              <a:t>limiting</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Analogy: If we’re making sandwiches, and have 5 slices of cheese and 6 pieces of bread, what’s the limiting reagent? How many sandwiches would we expect for “100% yield”?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26973B9-9268-E4C1-A141-D29483EC5A9D}"/>
                  </a:ext>
                </a:extLst>
              </p:cNvPr>
              <p:cNvSpPr txBox="1"/>
              <p:nvPr/>
            </p:nvSpPr>
            <p:spPr>
              <a:xfrm>
                <a:off x="2276698" y="3267370"/>
                <a:ext cx="8937939" cy="576761"/>
              </a:xfrm>
              <a:prstGeom prst="rect">
                <a:avLst/>
              </a:prstGeom>
              <a:noFill/>
            </p:spPr>
            <p:txBody>
              <a:bodyPr wrap="squar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yield</m:t>
                      </m:r>
                      <m:r>
                        <a:rPr lang="en-GB" b="0" i="1" smtClean="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amount of </m:t>
                          </m:r>
                          <m:r>
                            <m:rPr>
                              <m:nor/>
                            </m:rPr>
                            <a:rPr lang="en-GB" b="0" i="0" smtClean="0">
                              <a:latin typeface="Cambria Math" panose="02040503050406030204" pitchFamily="18" charset="0"/>
                            </a:rPr>
                            <m:t>product (</m:t>
                          </m:r>
                          <m:r>
                            <m:rPr>
                              <m:nor/>
                            </m:rPr>
                            <a:rPr lang="en-GB" i="0">
                              <a:latin typeface="Cambria Math" panose="02040503050406030204" pitchFamily="18" charset="0"/>
                            </a:rPr>
                            <m:t>mol)</m:t>
                          </m:r>
                        </m:num>
                        <m:den>
                          <m:r>
                            <m:rPr>
                              <m:nor/>
                            </m:rPr>
                            <a:rPr lang="en-GB" b="0" i="0" smtClean="0">
                              <a:latin typeface="Cambria Math" panose="02040503050406030204" pitchFamily="18" charset="0"/>
                            </a:rPr>
                            <m:t>amount of limiting reagent (mol)</m:t>
                          </m:r>
                        </m:den>
                      </m:f>
                      <m:r>
                        <a:rPr lang="en-GB" i="1">
                          <a:latin typeface="Cambria Math" panose="02040503050406030204" pitchFamily="18" charset="0"/>
                        </a:rPr>
                        <m:t>×</m:t>
                      </m:r>
                      <m:r>
                        <m:rPr>
                          <m:nor/>
                        </m:rPr>
                        <a:rPr lang="en-GB" b="0" i="0" smtClean="0">
                          <a:latin typeface="Cambria Math" panose="02040503050406030204" pitchFamily="18" charset="0"/>
                        </a:rPr>
                        <m:t> relative stoichiometry</m:t>
                      </m:r>
                      <m:r>
                        <a:rPr lang="en-GB" b="0" i="1" smtClean="0">
                          <a:latin typeface="Cambria Math" panose="02040503050406030204" pitchFamily="18" charset="0"/>
                        </a:rPr>
                        <m:t> ×100%</m:t>
                      </m:r>
                    </m:oMath>
                  </m:oMathPara>
                </a14:m>
                <a:endParaRPr lang="en-GB" dirty="0"/>
              </a:p>
            </p:txBody>
          </p:sp>
        </mc:Choice>
        <mc:Fallback xmlns="">
          <p:sp>
            <p:nvSpPr>
              <p:cNvPr id="4" name="TextBox 3">
                <a:extLst>
                  <a:ext uri="{FF2B5EF4-FFF2-40B4-BE49-F238E27FC236}">
                    <a16:creationId xmlns:a16="http://schemas.microsoft.com/office/drawing/2014/main" id="{A26973B9-9268-E4C1-A141-D29483EC5A9D}"/>
                  </a:ext>
                </a:extLst>
              </p:cNvPr>
              <p:cNvSpPr txBox="1">
                <a:spLocks noRot="1" noChangeAspect="1" noMove="1" noResize="1" noEditPoints="1" noAdjustHandles="1" noChangeArrowheads="1" noChangeShapeType="1" noTextEdit="1"/>
              </p:cNvSpPr>
              <p:nvPr/>
            </p:nvSpPr>
            <p:spPr>
              <a:xfrm>
                <a:off x="2276698" y="3267370"/>
                <a:ext cx="8937939" cy="576761"/>
              </a:xfrm>
              <a:prstGeom prst="rect">
                <a:avLst/>
              </a:prstGeom>
              <a:blipFill>
                <a:blip r:embed="rId2"/>
                <a:stretch>
                  <a:fillRect t="-8696" b="-19565"/>
                </a:stretch>
              </a:blipFill>
            </p:spPr>
            <p:txBody>
              <a:bodyPr/>
              <a:lstStyle/>
              <a:p>
                <a:r>
                  <a:rPr lang="en-GB">
                    <a:noFill/>
                  </a:rPr>
                  <a:t> </a:t>
                </a:r>
              </a:p>
            </p:txBody>
          </p:sp>
        </mc:Fallback>
      </mc:AlternateContent>
    </p:spTree>
    <p:extLst>
      <p:ext uri="{BB962C8B-B14F-4D97-AF65-F5344CB8AC3E}">
        <p14:creationId xmlns:p14="http://schemas.microsoft.com/office/powerpoint/2010/main" val="3398472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6C62B-ECB2-DB12-5D56-473A683D7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A6BDC-8546-D684-3C5D-F62CEF615E77}"/>
              </a:ext>
            </a:extLst>
          </p:cNvPr>
          <p:cNvSpPr>
            <a:spLocks noGrp="1"/>
          </p:cNvSpPr>
          <p:nvPr>
            <p:ph type="title"/>
          </p:nvPr>
        </p:nvSpPr>
        <p:spPr/>
        <p:txBody>
          <a:bodyPr/>
          <a:lstStyle/>
          <a:p>
            <a:r>
              <a:rPr lang="en-GB" dirty="0"/>
              <a:t>Example: calculating yields</a:t>
            </a:r>
          </a:p>
        </p:txBody>
      </p:sp>
      <p:sp>
        <p:nvSpPr>
          <p:cNvPr id="3" name="Table Placeholder 2">
            <a:extLst>
              <a:ext uri="{FF2B5EF4-FFF2-40B4-BE49-F238E27FC236}">
                <a16:creationId xmlns:a16="http://schemas.microsoft.com/office/drawing/2014/main" id="{3970D110-F21B-F5A3-07D1-E57C5DDFB2F5}"/>
              </a:ext>
            </a:extLst>
          </p:cNvPr>
          <p:cNvSpPr>
            <a:spLocks noGrp="1"/>
          </p:cNvSpPr>
          <p:nvPr>
            <p:ph type="tbl" sz="quarter" idx="10"/>
          </p:nvPr>
        </p:nvSpPr>
        <p:spPr/>
        <p:txBody>
          <a:bodyPr/>
          <a:lstStyle/>
          <a:p>
            <a:r>
              <a:rPr lang="en-US" dirty="0"/>
              <a:t>Calculate the yield of this reaction:</a:t>
            </a:r>
          </a:p>
          <a:p>
            <a:endParaRPr lang="en-US" dirty="0"/>
          </a:p>
          <a:p>
            <a:endParaRPr lang="en-US" dirty="0"/>
          </a:p>
          <a:p>
            <a:r>
              <a:rPr lang="en-GB" b="1" dirty="0"/>
              <a:t>1. Read and Identify:</a:t>
            </a:r>
            <a:endParaRPr lang="en-GB" dirty="0"/>
          </a:p>
          <a:p>
            <a:pPr marL="285750" indent="-285750">
              <a:buFont typeface="Arial" panose="020B0604020202020204" pitchFamily="34" charset="0"/>
              <a:buChar char="•"/>
            </a:pPr>
            <a:r>
              <a:rPr lang="en-GB" dirty="0"/>
              <a:t>What do we want? </a:t>
            </a:r>
            <a:r>
              <a:rPr lang="en-GB" i="1" dirty="0"/>
              <a:t>Reaction yield (in %)</a:t>
            </a:r>
            <a:endParaRPr lang="en-GB" dirty="0"/>
          </a:p>
          <a:p>
            <a:pPr marL="285750" indent="-285750">
              <a:buFont typeface="Arial" panose="020B0604020202020204" pitchFamily="34" charset="0"/>
              <a:buChar char="•"/>
            </a:pPr>
            <a:r>
              <a:rPr lang="en-GB" dirty="0"/>
              <a:t>What information are we given? </a:t>
            </a:r>
            <a:r>
              <a:rPr lang="en-GB" i="1" dirty="0"/>
              <a:t>Chemical structures, masses of reagents and products</a:t>
            </a:r>
          </a:p>
          <a:p>
            <a:pPr marL="285750" indent="-285750">
              <a:buFont typeface="Arial" panose="020B0604020202020204" pitchFamily="34" charset="0"/>
              <a:buChar char="•"/>
            </a:pPr>
            <a:endParaRPr lang="en-GB" i="1" dirty="0"/>
          </a:p>
          <a:p>
            <a:r>
              <a:rPr lang="en-GB" b="1" dirty="0"/>
              <a:t>2. Estimate:</a:t>
            </a:r>
            <a:endParaRPr lang="en-GB" dirty="0"/>
          </a:p>
          <a:p>
            <a:pPr marL="285750" indent="-285750">
              <a:buFont typeface="Arial" panose="020B0604020202020204" pitchFamily="34" charset="0"/>
              <a:buChar char="•"/>
            </a:pPr>
            <a:r>
              <a:rPr lang="en-GB" dirty="0"/>
              <a:t>We have equal masses of two reagents, so expect that the heavier molecule – salicylic acid – will be limiting</a:t>
            </a:r>
          </a:p>
          <a:p>
            <a:pPr marL="285750" indent="-285750">
              <a:buFont typeface="Arial" panose="020B0604020202020204" pitchFamily="34" charset="0"/>
              <a:buChar char="•"/>
            </a:pPr>
            <a:r>
              <a:rPr lang="en-GB" dirty="0"/>
              <a:t>We have equal masses of starting material and product, but the product is a bit heavier. So we expect the yield will be less than 100%. It doesn’t look like the product has doubled in size though so the yield will be greater than 50%. Maybe something around 75%…</a:t>
            </a:r>
          </a:p>
          <a:p>
            <a:pPr marL="285750" indent="-285750">
              <a:buFont typeface="Arial" panose="020B0604020202020204" pitchFamily="34" charset="0"/>
              <a:buChar char="•"/>
            </a:pPr>
            <a:endParaRPr lang="en-GB" dirty="0"/>
          </a:p>
        </p:txBody>
      </p:sp>
      <p:graphicFrame>
        <p:nvGraphicFramePr>
          <p:cNvPr id="6" name="Object 5">
            <a:extLst>
              <a:ext uri="{FF2B5EF4-FFF2-40B4-BE49-F238E27FC236}">
                <a16:creationId xmlns:a16="http://schemas.microsoft.com/office/drawing/2014/main" id="{BB90E294-9BCE-3351-CD4D-EB1EAD836B2C}"/>
              </a:ext>
            </a:extLst>
          </p:cNvPr>
          <p:cNvGraphicFramePr>
            <a:graphicFrameLocks noChangeAspect="1"/>
          </p:cNvGraphicFramePr>
          <p:nvPr>
            <p:extLst>
              <p:ext uri="{D42A27DB-BD31-4B8C-83A1-F6EECF244321}">
                <p14:modId xmlns:p14="http://schemas.microsoft.com/office/powerpoint/2010/main" val="2811144332"/>
              </p:ext>
            </p:extLst>
          </p:nvPr>
        </p:nvGraphicFramePr>
        <p:xfrm>
          <a:off x="4476800" y="818356"/>
          <a:ext cx="7223432" cy="1856232"/>
        </p:xfrm>
        <a:graphic>
          <a:graphicData uri="http://schemas.openxmlformats.org/presentationml/2006/ole">
            <mc:AlternateContent xmlns:mc="http://schemas.openxmlformats.org/markup-compatibility/2006">
              <mc:Choice xmlns:v="urn:schemas-microsoft-com:vml" Requires="v">
                <p:oleObj r:id="rId2" imgW="3611716" imgH="928116" progId="">
                  <p:embed/>
                </p:oleObj>
              </mc:Choice>
              <mc:Fallback>
                <p:oleObj r:id="rId2" imgW="3611716" imgH="928116" progId="">
                  <p:embed/>
                  <p:pic>
                    <p:nvPicPr>
                      <p:cNvPr id="6" name="Object 5">
                        <a:extLst>
                          <a:ext uri="{FF2B5EF4-FFF2-40B4-BE49-F238E27FC236}">
                            <a16:creationId xmlns:a16="http://schemas.microsoft.com/office/drawing/2014/main" id="{BB90E294-9BCE-3351-CD4D-EB1EAD836B2C}"/>
                          </a:ext>
                        </a:extLst>
                      </p:cNvPr>
                      <p:cNvPicPr/>
                      <p:nvPr/>
                    </p:nvPicPr>
                    <p:blipFill>
                      <a:blip r:embed="rId3"/>
                      <a:stretch>
                        <a:fillRect/>
                      </a:stretch>
                    </p:blipFill>
                    <p:spPr>
                      <a:xfrm>
                        <a:off x="4476800" y="818356"/>
                        <a:ext cx="7223432" cy="185623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BDC935B-9CD4-E3B9-1A96-F0D7A38CE95A}"/>
              </a:ext>
            </a:extLst>
          </p:cNvPr>
          <p:cNvSpPr txBox="1"/>
          <p:nvPr/>
        </p:nvSpPr>
        <p:spPr>
          <a:xfrm>
            <a:off x="4572000" y="2727530"/>
            <a:ext cx="697627" cy="369332"/>
          </a:xfrm>
          <a:prstGeom prst="rect">
            <a:avLst/>
          </a:prstGeom>
          <a:noFill/>
        </p:spPr>
        <p:txBody>
          <a:bodyPr wrap="none" rtlCol="0">
            <a:spAutoFit/>
          </a:bodyPr>
          <a:lstStyle/>
          <a:p>
            <a:r>
              <a:rPr lang="en-GB" dirty="0"/>
              <a:t>1.0 g</a:t>
            </a:r>
          </a:p>
        </p:txBody>
      </p:sp>
      <p:sp>
        <p:nvSpPr>
          <p:cNvPr id="8" name="TextBox 7">
            <a:extLst>
              <a:ext uri="{FF2B5EF4-FFF2-40B4-BE49-F238E27FC236}">
                <a16:creationId xmlns:a16="http://schemas.microsoft.com/office/drawing/2014/main" id="{0C798E24-4397-D354-468C-D54C1695E7B2}"/>
              </a:ext>
            </a:extLst>
          </p:cNvPr>
          <p:cNvSpPr txBox="1"/>
          <p:nvPr/>
        </p:nvSpPr>
        <p:spPr>
          <a:xfrm>
            <a:off x="6743700" y="2727530"/>
            <a:ext cx="697627" cy="369332"/>
          </a:xfrm>
          <a:prstGeom prst="rect">
            <a:avLst/>
          </a:prstGeom>
          <a:noFill/>
        </p:spPr>
        <p:txBody>
          <a:bodyPr wrap="none" rtlCol="0">
            <a:spAutoFit/>
          </a:bodyPr>
          <a:lstStyle/>
          <a:p>
            <a:r>
              <a:rPr lang="en-GB" dirty="0"/>
              <a:t>1.0 g</a:t>
            </a:r>
          </a:p>
        </p:txBody>
      </p:sp>
      <p:sp>
        <p:nvSpPr>
          <p:cNvPr id="10" name="TextBox 9">
            <a:extLst>
              <a:ext uri="{FF2B5EF4-FFF2-40B4-BE49-F238E27FC236}">
                <a16:creationId xmlns:a16="http://schemas.microsoft.com/office/drawing/2014/main" id="{B4F76635-5000-20FE-DA3E-619ED3138645}"/>
              </a:ext>
            </a:extLst>
          </p:cNvPr>
          <p:cNvSpPr txBox="1"/>
          <p:nvPr/>
        </p:nvSpPr>
        <p:spPr>
          <a:xfrm>
            <a:off x="10287000" y="2727530"/>
            <a:ext cx="697627" cy="369332"/>
          </a:xfrm>
          <a:prstGeom prst="rect">
            <a:avLst/>
          </a:prstGeom>
          <a:noFill/>
        </p:spPr>
        <p:txBody>
          <a:bodyPr wrap="none" rtlCol="0">
            <a:spAutoFit/>
          </a:bodyPr>
          <a:lstStyle/>
          <a:p>
            <a:r>
              <a:rPr lang="en-GB" dirty="0"/>
              <a:t>1.0 g</a:t>
            </a:r>
          </a:p>
        </p:txBody>
      </p:sp>
    </p:spTree>
    <p:extLst>
      <p:ext uri="{BB962C8B-B14F-4D97-AF65-F5344CB8AC3E}">
        <p14:creationId xmlns:p14="http://schemas.microsoft.com/office/powerpoint/2010/main" val="3976678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BBD8-70F8-DE5E-C3FE-6C4B73ED5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6EDE-9DC6-045E-BA78-C4AF1EC90A87}"/>
              </a:ext>
            </a:extLst>
          </p:cNvPr>
          <p:cNvSpPr>
            <a:spLocks noGrp="1"/>
          </p:cNvSpPr>
          <p:nvPr>
            <p:ph type="title"/>
          </p:nvPr>
        </p:nvSpPr>
        <p:spPr/>
        <p:txBody>
          <a:bodyPr/>
          <a:lstStyle/>
          <a:p>
            <a:r>
              <a:rPr lang="en-GB" dirty="0"/>
              <a:t>Example: calculating yields</a:t>
            </a:r>
          </a:p>
        </p:txBody>
      </p:sp>
      <p:sp>
        <p:nvSpPr>
          <p:cNvPr id="3" name="Table Placeholder 2">
            <a:extLst>
              <a:ext uri="{FF2B5EF4-FFF2-40B4-BE49-F238E27FC236}">
                <a16:creationId xmlns:a16="http://schemas.microsoft.com/office/drawing/2014/main" id="{E6BAA75B-9E27-5CF7-1237-8F6863021B6D}"/>
              </a:ext>
            </a:extLst>
          </p:cNvPr>
          <p:cNvSpPr>
            <a:spLocks noGrp="1"/>
          </p:cNvSpPr>
          <p:nvPr>
            <p:ph type="tbl" sz="quarter" idx="10"/>
          </p:nvPr>
        </p:nvSpPr>
        <p:spPr/>
        <p:txBody>
          <a:bodyPr/>
          <a:lstStyle/>
          <a:p>
            <a:r>
              <a:rPr lang="en-US" dirty="0"/>
              <a:t>Calculate the yield of this reaction:</a:t>
            </a:r>
          </a:p>
          <a:p>
            <a:endParaRPr lang="en-US" dirty="0"/>
          </a:p>
          <a:p>
            <a:r>
              <a:rPr lang="en-GB" b="1" dirty="0"/>
              <a:t>3. Plan</a:t>
            </a:r>
            <a:endParaRPr lang="en-GB" dirty="0"/>
          </a:p>
        </p:txBody>
      </p:sp>
      <p:graphicFrame>
        <p:nvGraphicFramePr>
          <p:cNvPr id="6" name="Object 5">
            <a:extLst>
              <a:ext uri="{FF2B5EF4-FFF2-40B4-BE49-F238E27FC236}">
                <a16:creationId xmlns:a16="http://schemas.microsoft.com/office/drawing/2014/main" id="{38A7E391-2A56-A852-B710-8B18E55837BA}"/>
              </a:ext>
            </a:extLst>
          </p:cNvPr>
          <p:cNvGraphicFramePr>
            <a:graphicFrameLocks noChangeAspect="1"/>
          </p:cNvGraphicFramePr>
          <p:nvPr>
            <p:extLst>
              <p:ext uri="{D42A27DB-BD31-4B8C-83A1-F6EECF244321}">
                <p14:modId xmlns:p14="http://schemas.microsoft.com/office/powerpoint/2010/main" val="880486826"/>
              </p:ext>
            </p:extLst>
          </p:nvPr>
        </p:nvGraphicFramePr>
        <p:xfrm>
          <a:off x="4476800" y="818356"/>
          <a:ext cx="7223432" cy="1856232"/>
        </p:xfrm>
        <a:graphic>
          <a:graphicData uri="http://schemas.openxmlformats.org/presentationml/2006/ole">
            <mc:AlternateContent xmlns:mc="http://schemas.openxmlformats.org/markup-compatibility/2006">
              <mc:Choice xmlns:v="urn:schemas-microsoft-com:vml" Requires="v">
                <p:oleObj r:id="rId2" imgW="3611716" imgH="928116" progId="">
                  <p:embed/>
                </p:oleObj>
              </mc:Choice>
              <mc:Fallback>
                <p:oleObj r:id="rId2" imgW="3611716" imgH="928116" progId="">
                  <p:embed/>
                  <p:pic>
                    <p:nvPicPr>
                      <p:cNvPr id="6" name="Object 5">
                        <a:extLst>
                          <a:ext uri="{FF2B5EF4-FFF2-40B4-BE49-F238E27FC236}">
                            <a16:creationId xmlns:a16="http://schemas.microsoft.com/office/drawing/2014/main" id="{38A7E391-2A56-A852-B710-8B18E55837BA}"/>
                          </a:ext>
                        </a:extLst>
                      </p:cNvPr>
                      <p:cNvPicPr/>
                      <p:nvPr/>
                    </p:nvPicPr>
                    <p:blipFill>
                      <a:blip r:embed="rId3"/>
                      <a:stretch>
                        <a:fillRect/>
                      </a:stretch>
                    </p:blipFill>
                    <p:spPr>
                      <a:xfrm>
                        <a:off x="4476800" y="818356"/>
                        <a:ext cx="7223432" cy="185623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1140D34-9638-EFF2-4556-FEC3E1454CAD}"/>
              </a:ext>
            </a:extLst>
          </p:cNvPr>
          <p:cNvSpPr txBox="1"/>
          <p:nvPr/>
        </p:nvSpPr>
        <p:spPr>
          <a:xfrm>
            <a:off x="4572000" y="2727530"/>
            <a:ext cx="697627" cy="369332"/>
          </a:xfrm>
          <a:prstGeom prst="rect">
            <a:avLst/>
          </a:prstGeom>
          <a:noFill/>
        </p:spPr>
        <p:txBody>
          <a:bodyPr wrap="none" rtlCol="0">
            <a:spAutoFit/>
          </a:bodyPr>
          <a:lstStyle/>
          <a:p>
            <a:r>
              <a:rPr lang="en-GB" dirty="0"/>
              <a:t>1.0 g</a:t>
            </a:r>
          </a:p>
        </p:txBody>
      </p:sp>
      <p:sp>
        <p:nvSpPr>
          <p:cNvPr id="8" name="TextBox 7">
            <a:extLst>
              <a:ext uri="{FF2B5EF4-FFF2-40B4-BE49-F238E27FC236}">
                <a16:creationId xmlns:a16="http://schemas.microsoft.com/office/drawing/2014/main" id="{1D29C06A-8E44-BCA5-9F4B-76F94D42D77C}"/>
              </a:ext>
            </a:extLst>
          </p:cNvPr>
          <p:cNvSpPr txBox="1"/>
          <p:nvPr/>
        </p:nvSpPr>
        <p:spPr>
          <a:xfrm>
            <a:off x="6743700" y="2727530"/>
            <a:ext cx="697627" cy="369332"/>
          </a:xfrm>
          <a:prstGeom prst="rect">
            <a:avLst/>
          </a:prstGeom>
          <a:noFill/>
        </p:spPr>
        <p:txBody>
          <a:bodyPr wrap="none" rtlCol="0">
            <a:spAutoFit/>
          </a:bodyPr>
          <a:lstStyle/>
          <a:p>
            <a:r>
              <a:rPr lang="en-GB" dirty="0"/>
              <a:t>1.0 g</a:t>
            </a:r>
          </a:p>
        </p:txBody>
      </p:sp>
      <p:sp>
        <p:nvSpPr>
          <p:cNvPr id="10" name="TextBox 9">
            <a:extLst>
              <a:ext uri="{FF2B5EF4-FFF2-40B4-BE49-F238E27FC236}">
                <a16:creationId xmlns:a16="http://schemas.microsoft.com/office/drawing/2014/main" id="{BC949939-89CC-04E7-607E-CA979EA6090F}"/>
              </a:ext>
            </a:extLst>
          </p:cNvPr>
          <p:cNvSpPr txBox="1"/>
          <p:nvPr/>
        </p:nvSpPr>
        <p:spPr>
          <a:xfrm>
            <a:off x="10287000" y="2727530"/>
            <a:ext cx="697627" cy="369332"/>
          </a:xfrm>
          <a:prstGeom prst="rect">
            <a:avLst/>
          </a:prstGeom>
          <a:noFill/>
        </p:spPr>
        <p:txBody>
          <a:bodyPr wrap="none" rtlCol="0">
            <a:spAutoFit/>
          </a:bodyPr>
          <a:lstStyle/>
          <a:p>
            <a:r>
              <a:rPr lang="en-GB" dirty="0"/>
              <a:t>1.0 g</a:t>
            </a:r>
          </a:p>
        </p:txBody>
      </p:sp>
      <p:pic>
        <p:nvPicPr>
          <p:cNvPr id="4" name="Picture 3">
            <a:extLst>
              <a:ext uri="{FF2B5EF4-FFF2-40B4-BE49-F238E27FC236}">
                <a16:creationId xmlns:a16="http://schemas.microsoft.com/office/drawing/2014/main" id="{43BC3035-BD12-B47C-18A9-5CDD21E15E21}"/>
              </a:ext>
            </a:extLst>
          </p:cNvPr>
          <p:cNvPicPr>
            <a:picLocks noChangeAspect="1"/>
          </p:cNvPicPr>
          <p:nvPr/>
        </p:nvPicPr>
        <p:blipFill>
          <a:blip r:embed="rId4"/>
          <a:stretch>
            <a:fillRect/>
          </a:stretch>
        </p:blipFill>
        <p:spPr>
          <a:xfrm>
            <a:off x="334963" y="2727530"/>
            <a:ext cx="11522074" cy="3600648"/>
          </a:xfrm>
          <a:prstGeom prst="rect">
            <a:avLst/>
          </a:prstGeom>
        </p:spPr>
      </p:pic>
      <p:sp>
        <p:nvSpPr>
          <p:cNvPr id="5" name="TextBox 4">
            <a:extLst>
              <a:ext uri="{FF2B5EF4-FFF2-40B4-BE49-F238E27FC236}">
                <a16:creationId xmlns:a16="http://schemas.microsoft.com/office/drawing/2014/main" id="{57A2F82C-60F7-38E5-DDBE-F6336E44DD9C}"/>
              </a:ext>
            </a:extLst>
          </p:cNvPr>
          <p:cNvSpPr txBox="1"/>
          <p:nvPr/>
        </p:nvSpPr>
        <p:spPr>
          <a:xfrm>
            <a:off x="1795986" y="3415572"/>
            <a:ext cx="1197765" cy="369332"/>
          </a:xfrm>
          <a:prstGeom prst="rect">
            <a:avLst/>
          </a:prstGeom>
          <a:noFill/>
        </p:spPr>
        <p:txBody>
          <a:bodyPr wrap="none" rtlCol="0">
            <a:spAutoFit/>
          </a:bodyPr>
          <a:lstStyle/>
          <a:p>
            <a:pPr algn="ctr"/>
            <a:r>
              <a:rPr lang="en-GB" dirty="0"/>
              <a:t>138 g/mol</a:t>
            </a:r>
          </a:p>
        </p:txBody>
      </p:sp>
      <p:sp>
        <p:nvSpPr>
          <p:cNvPr id="9" name="TextBox 8">
            <a:extLst>
              <a:ext uri="{FF2B5EF4-FFF2-40B4-BE49-F238E27FC236}">
                <a16:creationId xmlns:a16="http://schemas.microsoft.com/office/drawing/2014/main" id="{8F580397-C509-4836-AFDF-C92548FBDCC4}"/>
              </a:ext>
            </a:extLst>
          </p:cNvPr>
          <p:cNvSpPr txBox="1"/>
          <p:nvPr/>
        </p:nvSpPr>
        <p:spPr>
          <a:xfrm>
            <a:off x="3297256" y="3957841"/>
            <a:ext cx="1454244" cy="369332"/>
          </a:xfrm>
          <a:prstGeom prst="rect">
            <a:avLst/>
          </a:prstGeom>
          <a:noFill/>
        </p:spPr>
        <p:txBody>
          <a:bodyPr wrap="none" rtlCol="0">
            <a:spAutoFit/>
          </a:bodyPr>
          <a:lstStyle/>
          <a:p>
            <a:pPr algn="ctr"/>
            <a:r>
              <a:rPr lang="en-GB" dirty="0"/>
              <a:t>0.00725 mol</a:t>
            </a:r>
          </a:p>
        </p:txBody>
      </p:sp>
      <p:sp>
        <p:nvSpPr>
          <p:cNvPr id="11" name="TextBox 10">
            <a:extLst>
              <a:ext uri="{FF2B5EF4-FFF2-40B4-BE49-F238E27FC236}">
                <a16:creationId xmlns:a16="http://schemas.microsoft.com/office/drawing/2014/main" id="{EF98F12D-5FE5-74B2-9AA7-8B44C2D83D5A}"/>
              </a:ext>
            </a:extLst>
          </p:cNvPr>
          <p:cNvSpPr txBox="1"/>
          <p:nvPr/>
        </p:nvSpPr>
        <p:spPr>
          <a:xfrm>
            <a:off x="453231" y="3359964"/>
            <a:ext cx="952505" cy="369332"/>
          </a:xfrm>
          <a:prstGeom prst="rect">
            <a:avLst/>
          </a:prstGeom>
          <a:noFill/>
        </p:spPr>
        <p:txBody>
          <a:bodyPr wrap="none" rtlCol="0">
            <a:spAutoFit/>
          </a:bodyPr>
          <a:lstStyle/>
          <a:p>
            <a:pPr algn="ctr"/>
            <a:r>
              <a:rPr lang="en-GB" dirty="0"/>
              <a:t>C</a:t>
            </a:r>
            <a:r>
              <a:rPr lang="en-GB" baseline="-25000" dirty="0"/>
              <a:t>7</a:t>
            </a:r>
            <a:r>
              <a:rPr lang="en-GB" dirty="0"/>
              <a:t>H</a:t>
            </a:r>
            <a:r>
              <a:rPr lang="en-GB" baseline="-25000" dirty="0"/>
              <a:t>6</a:t>
            </a:r>
            <a:r>
              <a:rPr lang="en-GB" dirty="0"/>
              <a:t>O</a:t>
            </a:r>
            <a:r>
              <a:rPr lang="en-GB" baseline="-25000" dirty="0"/>
              <a:t>3</a:t>
            </a:r>
          </a:p>
        </p:txBody>
      </p:sp>
      <p:sp>
        <p:nvSpPr>
          <p:cNvPr id="12" name="TextBox 11">
            <a:extLst>
              <a:ext uri="{FF2B5EF4-FFF2-40B4-BE49-F238E27FC236}">
                <a16:creationId xmlns:a16="http://schemas.microsoft.com/office/drawing/2014/main" id="{16D2B4EA-A8C0-58B1-C5FD-C00FE778E12F}"/>
              </a:ext>
            </a:extLst>
          </p:cNvPr>
          <p:cNvSpPr txBox="1"/>
          <p:nvPr/>
        </p:nvSpPr>
        <p:spPr>
          <a:xfrm>
            <a:off x="2057779" y="4283079"/>
            <a:ext cx="697627" cy="369332"/>
          </a:xfrm>
          <a:prstGeom prst="rect">
            <a:avLst/>
          </a:prstGeom>
          <a:noFill/>
        </p:spPr>
        <p:txBody>
          <a:bodyPr wrap="none" rtlCol="0">
            <a:spAutoFit/>
          </a:bodyPr>
          <a:lstStyle/>
          <a:p>
            <a:pPr algn="ctr"/>
            <a:r>
              <a:rPr lang="en-GB" dirty="0"/>
              <a:t>1.0 g</a:t>
            </a:r>
          </a:p>
        </p:txBody>
      </p:sp>
      <p:sp>
        <p:nvSpPr>
          <p:cNvPr id="13" name="TextBox 12">
            <a:extLst>
              <a:ext uri="{FF2B5EF4-FFF2-40B4-BE49-F238E27FC236}">
                <a16:creationId xmlns:a16="http://schemas.microsoft.com/office/drawing/2014/main" id="{52D41065-972B-1292-E9A6-F1803B6059A4}"/>
              </a:ext>
            </a:extLst>
          </p:cNvPr>
          <p:cNvSpPr txBox="1"/>
          <p:nvPr/>
        </p:nvSpPr>
        <p:spPr>
          <a:xfrm>
            <a:off x="1795986" y="5349880"/>
            <a:ext cx="1197765" cy="369332"/>
          </a:xfrm>
          <a:prstGeom prst="rect">
            <a:avLst/>
          </a:prstGeom>
          <a:noFill/>
        </p:spPr>
        <p:txBody>
          <a:bodyPr wrap="none" rtlCol="0">
            <a:spAutoFit/>
          </a:bodyPr>
          <a:lstStyle/>
          <a:p>
            <a:pPr algn="ctr"/>
            <a:r>
              <a:rPr lang="en-GB" dirty="0"/>
              <a:t>102 g/mol</a:t>
            </a:r>
          </a:p>
        </p:txBody>
      </p:sp>
      <p:sp>
        <p:nvSpPr>
          <p:cNvPr id="14" name="TextBox 13">
            <a:extLst>
              <a:ext uri="{FF2B5EF4-FFF2-40B4-BE49-F238E27FC236}">
                <a16:creationId xmlns:a16="http://schemas.microsoft.com/office/drawing/2014/main" id="{7A7B5FBA-179A-F27A-7B8F-EB83C03138C0}"/>
              </a:ext>
            </a:extLst>
          </p:cNvPr>
          <p:cNvSpPr txBox="1"/>
          <p:nvPr/>
        </p:nvSpPr>
        <p:spPr>
          <a:xfrm>
            <a:off x="4220621" y="1330493"/>
            <a:ext cx="351379" cy="369332"/>
          </a:xfrm>
          <a:prstGeom prst="rect">
            <a:avLst/>
          </a:prstGeom>
          <a:noFill/>
        </p:spPr>
        <p:txBody>
          <a:bodyPr wrap="none" rtlCol="0">
            <a:spAutoFit/>
          </a:bodyPr>
          <a:lstStyle/>
          <a:p>
            <a:pPr algn="ctr"/>
            <a:r>
              <a:rPr lang="en-GB" b="1" dirty="0"/>
              <a:t>A</a:t>
            </a:r>
          </a:p>
        </p:txBody>
      </p:sp>
      <p:sp>
        <p:nvSpPr>
          <p:cNvPr id="15" name="TextBox 14">
            <a:extLst>
              <a:ext uri="{FF2B5EF4-FFF2-40B4-BE49-F238E27FC236}">
                <a16:creationId xmlns:a16="http://schemas.microsoft.com/office/drawing/2014/main" id="{502FC99F-10CA-6FAF-AAC3-DA05F20670D0}"/>
              </a:ext>
            </a:extLst>
          </p:cNvPr>
          <p:cNvSpPr txBox="1"/>
          <p:nvPr/>
        </p:nvSpPr>
        <p:spPr>
          <a:xfrm>
            <a:off x="453231" y="5294272"/>
            <a:ext cx="952505" cy="369332"/>
          </a:xfrm>
          <a:prstGeom prst="rect">
            <a:avLst/>
          </a:prstGeom>
          <a:noFill/>
        </p:spPr>
        <p:txBody>
          <a:bodyPr wrap="none" rtlCol="0">
            <a:spAutoFit/>
          </a:bodyPr>
          <a:lstStyle/>
          <a:p>
            <a:pPr algn="ctr"/>
            <a:r>
              <a:rPr lang="en-GB" dirty="0"/>
              <a:t>C</a:t>
            </a:r>
            <a:r>
              <a:rPr lang="en-GB" baseline="-25000" dirty="0"/>
              <a:t>4</a:t>
            </a:r>
            <a:r>
              <a:rPr lang="en-GB" dirty="0"/>
              <a:t>H</a:t>
            </a:r>
            <a:r>
              <a:rPr lang="en-GB" baseline="-25000" dirty="0"/>
              <a:t>6</a:t>
            </a:r>
            <a:r>
              <a:rPr lang="en-GB" dirty="0"/>
              <a:t>O</a:t>
            </a:r>
            <a:r>
              <a:rPr lang="en-GB" baseline="-25000" dirty="0"/>
              <a:t>3</a:t>
            </a:r>
          </a:p>
        </p:txBody>
      </p:sp>
      <p:sp>
        <p:nvSpPr>
          <p:cNvPr id="16" name="TextBox 15">
            <a:extLst>
              <a:ext uri="{FF2B5EF4-FFF2-40B4-BE49-F238E27FC236}">
                <a16:creationId xmlns:a16="http://schemas.microsoft.com/office/drawing/2014/main" id="{04A1FEFA-6CCC-D42B-BEBE-88F9DE89D0C1}"/>
              </a:ext>
            </a:extLst>
          </p:cNvPr>
          <p:cNvSpPr txBox="1"/>
          <p:nvPr/>
        </p:nvSpPr>
        <p:spPr>
          <a:xfrm>
            <a:off x="2057779" y="6217387"/>
            <a:ext cx="697627" cy="369332"/>
          </a:xfrm>
          <a:prstGeom prst="rect">
            <a:avLst/>
          </a:prstGeom>
          <a:noFill/>
        </p:spPr>
        <p:txBody>
          <a:bodyPr wrap="none" rtlCol="0">
            <a:spAutoFit/>
          </a:bodyPr>
          <a:lstStyle/>
          <a:p>
            <a:pPr algn="ctr"/>
            <a:r>
              <a:rPr lang="en-GB" dirty="0"/>
              <a:t>1.0 g</a:t>
            </a:r>
          </a:p>
        </p:txBody>
      </p:sp>
      <p:sp>
        <p:nvSpPr>
          <p:cNvPr id="17" name="TextBox 16">
            <a:extLst>
              <a:ext uri="{FF2B5EF4-FFF2-40B4-BE49-F238E27FC236}">
                <a16:creationId xmlns:a16="http://schemas.microsoft.com/office/drawing/2014/main" id="{8FC7FB7F-48CA-52F1-5E95-619FBBCA7176}"/>
              </a:ext>
            </a:extLst>
          </p:cNvPr>
          <p:cNvSpPr txBox="1"/>
          <p:nvPr/>
        </p:nvSpPr>
        <p:spPr>
          <a:xfrm>
            <a:off x="6363747" y="1330493"/>
            <a:ext cx="351378" cy="369332"/>
          </a:xfrm>
          <a:prstGeom prst="rect">
            <a:avLst/>
          </a:prstGeom>
          <a:noFill/>
        </p:spPr>
        <p:txBody>
          <a:bodyPr wrap="none" rtlCol="0">
            <a:spAutoFit/>
          </a:bodyPr>
          <a:lstStyle/>
          <a:p>
            <a:pPr algn="ctr"/>
            <a:r>
              <a:rPr lang="en-GB" b="1" dirty="0"/>
              <a:t>B</a:t>
            </a:r>
          </a:p>
        </p:txBody>
      </p:sp>
      <p:sp>
        <p:nvSpPr>
          <p:cNvPr id="18" name="TextBox 17">
            <a:extLst>
              <a:ext uri="{FF2B5EF4-FFF2-40B4-BE49-F238E27FC236}">
                <a16:creationId xmlns:a16="http://schemas.microsoft.com/office/drawing/2014/main" id="{2A1F9914-1CA9-6943-6101-BCB3B3D14DE6}"/>
              </a:ext>
            </a:extLst>
          </p:cNvPr>
          <p:cNvSpPr txBox="1"/>
          <p:nvPr/>
        </p:nvSpPr>
        <p:spPr>
          <a:xfrm>
            <a:off x="3297256" y="5899530"/>
            <a:ext cx="1454244" cy="369332"/>
          </a:xfrm>
          <a:prstGeom prst="rect">
            <a:avLst/>
          </a:prstGeom>
          <a:noFill/>
        </p:spPr>
        <p:txBody>
          <a:bodyPr wrap="none" rtlCol="0">
            <a:spAutoFit/>
          </a:bodyPr>
          <a:lstStyle/>
          <a:p>
            <a:pPr algn="ctr"/>
            <a:r>
              <a:rPr lang="en-GB" dirty="0"/>
              <a:t>0.00980 mol</a:t>
            </a:r>
          </a:p>
        </p:txBody>
      </p:sp>
      <p:sp>
        <p:nvSpPr>
          <p:cNvPr id="19" name="TextBox 18">
            <a:extLst>
              <a:ext uri="{FF2B5EF4-FFF2-40B4-BE49-F238E27FC236}">
                <a16:creationId xmlns:a16="http://schemas.microsoft.com/office/drawing/2014/main" id="{6AEB39CE-7861-BCF5-79B5-01497D5EA250}"/>
              </a:ext>
            </a:extLst>
          </p:cNvPr>
          <p:cNvSpPr txBox="1"/>
          <p:nvPr/>
        </p:nvSpPr>
        <p:spPr>
          <a:xfrm>
            <a:off x="5381547" y="4902362"/>
            <a:ext cx="338554" cy="369332"/>
          </a:xfrm>
          <a:prstGeom prst="rect">
            <a:avLst/>
          </a:prstGeom>
          <a:noFill/>
        </p:spPr>
        <p:txBody>
          <a:bodyPr wrap="none" rtlCol="0">
            <a:spAutoFit/>
          </a:bodyPr>
          <a:lstStyle/>
          <a:p>
            <a:pPr algn="ctr"/>
            <a:r>
              <a:rPr lang="en-GB" dirty="0"/>
              <a:t>A</a:t>
            </a:r>
          </a:p>
        </p:txBody>
      </p:sp>
      <p:sp>
        <p:nvSpPr>
          <p:cNvPr id="20" name="TextBox 19">
            <a:extLst>
              <a:ext uri="{FF2B5EF4-FFF2-40B4-BE49-F238E27FC236}">
                <a16:creationId xmlns:a16="http://schemas.microsoft.com/office/drawing/2014/main" id="{659C024A-DA8D-AA88-77B7-C8A54FD54C9F}"/>
              </a:ext>
            </a:extLst>
          </p:cNvPr>
          <p:cNvSpPr txBox="1"/>
          <p:nvPr/>
        </p:nvSpPr>
        <p:spPr>
          <a:xfrm>
            <a:off x="5070387" y="6001564"/>
            <a:ext cx="952505" cy="369332"/>
          </a:xfrm>
          <a:prstGeom prst="rect">
            <a:avLst/>
          </a:prstGeom>
          <a:noFill/>
        </p:spPr>
        <p:txBody>
          <a:bodyPr wrap="none" rtlCol="0">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21" name="TextBox 20">
            <a:extLst>
              <a:ext uri="{FF2B5EF4-FFF2-40B4-BE49-F238E27FC236}">
                <a16:creationId xmlns:a16="http://schemas.microsoft.com/office/drawing/2014/main" id="{8C15284E-4247-E570-983D-41954C79DF62}"/>
              </a:ext>
            </a:extLst>
          </p:cNvPr>
          <p:cNvSpPr txBox="1"/>
          <p:nvPr/>
        </p:nvSpPr>
        <p:spPr>
          <a:xfrm>
            <a:off x="6550781" y="5990276"/>
            <a:ext cx="1197765" cy="369332"/>
          </a:xfrm>
          <a:prstGeom prst="rect">
            <a:avLst/>
          </a:prstGeom>
          <a:noFill/>
        </p:spPr>
        <p:txBody>
          <a:bodyPr wrap="none" rtlCol="0">
            <a:spAutoFit/>
          </a:bodyPr>
          <a:lstStyle/>
          <a:p>
            <a:pPr algn="ctr"/>
            <a:r>
              <a:rPr lang="en-GB" dirty="0"/>
              <a:t>180 g/mol</a:t>
            </a:r>
            <a:endParaRPr lang="en-GB" baseline="-25000" dirty="0"/>
          </a:p>
        </p:txBody>
      </p:sp>
      <p:sp>
        <p:nvSpPr>
          <p:cNvPr id="22" name="TextBox 21">
            <a:extLst>
              <a:ext uri="{FF2B5EF4-FFF2-40B4-BE49-F238E27FC236}">
                <a16:creationId xmlns:a16="http://schemas.microsoft.com/office/drawing/2014/main" id="{714605F8-4784-624A-C4A2-2221032A89DA}"/>
              </a:ext>
            </a:extLst>
          </p:cNvPr>
          <p:cNvSpPr txBox="1"/>
          <p:nvPr/>
        </p:nvSpPr>
        <p:spPr>
          <a:xfrm>
            <a:off x="6422544" y="4906543"/>
            <a:ext cx="1454244" cy="369332"/>
          </a:xfrm>
          <a:prstGeom prst="rect">
            <a:avLst/>
          </a:prstGeom>
          <a:noFill/>
        </p:spPr>
        <p:txBody>
          <a:bodyPr wrap="none" rtlCol="0">
            <a:spAutoFit/>
          </a:bodyPr>
          <a:lstStyle/>
          <a:p>
            <a:pPr algn="ctr"/>
            <a:r>
              <a:rPr lang="en-GB" dirty="0"/>
              <a:t>0.00725 mol</a:t>
            </a:r>
            <a:endParaRPr lang="en-GB" baseline="-25000" dirty="0"/>
          </a:p>
        </p:txBody>
      </p:sp>
      <p:sp>
        <p:nvSpPr>
          <p:cNvPr id="23" name="TextBox 22">
            <a:extLst>
              <a:ext uri="{FF2B5EF4-FFF2-40B4-BE49-F238E27FC236}">
                <a16:creationId xmlns:a16="http://schemas.microsoft.com/office/drawing/2014/main" id="{16B14AD3-FCA7-B061-24E4-B0CEDAF961AE}"/>
              </a:ext>
            </a:extLst>
          </p:cNvPr>
          <p:cNvSpPr txBox="1"/>
          <p:nvPr/>
        </p:nvSpPr>
        <p:spPr>
          <a:xfrm>
            <a:off x="8388525" y="5561299"/>
            <a:ext cx="954108" cy="369332"/>
          </a:xfrm>
          <a:prstGeom prst="rect">
            <a:avLst/>
          </a:prstGeom>
          <a:noFill/>
        </p:spPr>
        <p:txBody>
          <a:bodyPr wrap="none" rtlCol="0">
            <a:spAutoFit/>
          </a:bodyPr>
          <a:lstStyle/>
          <a:p>
            <a:pPr algn="ctr"/>
            <a:r>
              <a:rPr lang="en-GB" dirty="0"/>
              <a:t>1.304 g</a:t>
            </a:r>
            <a:endParaRPr lang="en-GB" baseline="-25000" dirty="0"/>
          </a:p>
        </p:txBody>
      </p:sp>
      <p:sp>
        <p:nvSpPr>
          <p:cNvPr id="24" name="TextBox 23">
            <a:extLst>
              <a:ext uri="{FF2B5EF4-FFF2-40B4-BE49-F238E27FC236}">
                <a16:creationId xmlns:a16="http://schemas.microsoft.com/office/drawing/2014/main" id="{E54ACAE3-5317-E867-2600-FD5776387212}"/>
              </a:ext>
            </a:extLst>
          </p:cNvPr>
          <p:cNvSpPr txBox="1"/>
          <p:nvPr/>
        </p:nvSpPr>
        <p:spPr>
          <a:xfrm>
            <a:off x="8561921" y="4274365"/>
            <a:ext cx="697627" cy="369332"/>
          </a:xfrm>
          <a:prstGeom prst="rect">
            <a:avLst/>
          </a:prstGeom>
          <a:noFill/>
        </p:spPr>
        <p:txBody>
          <a:bodyPr wrap="none" rtlCol="0">
            <a:spAutoFit/>
          </a:bodyPr>
          <a:lstStyle/>
          <a:p>
            <a:pPr algn="ctr"/>
            <a:r>
              <a:rPr lang="en-GB" dirty="0"/>
              <a:t>1.0 g</a:t>
            </a:r>
            <a:endParaRPr lang="en-GB" baseline="-25000" dirty="0"/>
          </a:p>
        </p:txBody>
      </p:sp>
      <p:sp>
        <p:nvSpPr>
          <p:cNvPr id="25" name="TextBox 24">
            <a:extLst>
              <a:ext uri="{FF2B5EF4-FFF2-40B4-BE49-F238E27FC236}">
                <a16:creationId xmlns:a16="http://schemas.microsoft.com/office/drawing/2014/main" id="{0C96D11D-8577-3C12-DC13-5D38E00EF9C4}"/>
              </a:ext>
            </a:extLst>
          </p:cNvPr>
          <p:cNvSpPr txBox="1"/>
          <p:nvPr/>
        </p:nvSpPr>
        <p:spPr>
          <a:xfrm>
            <a:off x="10434886" y="4895254"/>
            <a:ext cx="902811" cy="369332"/>
          </a:xfrm>
          <a:prstGeom prst="rect">
            <a:avLst/>
          </a:prstGeom>
          <a:noFill/>
        </p:spPr>
        <p:txBody>
          <a:bodyPr wrap="none" rtlCol="0">
            <a:spAutoFit/>
          </a:bodyPr>
          <a:lstStyle/>
          <a:p>
            <a:pPr algn="ctr"/>
            <a:r>
              <a:rPr lang="en-GB" dirty="0"/>
              <a:t>76.7 %</a:t>
            </a:r>
            <a:endParaRPr lang="en-GB" baseline="-25000" dirty="0"/>
          </a:p>
        </p:txBody>
      </p:sp>
    </p:spTree>
    <p:extLst>
      <p:ext uri="{BB962C8B-B14F-4D97-AF65-F5344CB8AC3E}">
        <p14:creationId xmlns:p14="http://schemas.microsoft.com/office/powerpoint/2010/main" val="3299501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700FF-8E63-EF1C-DC46-102819326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09A6-0930-9685-9466-3BD3CA2B6DE0}"/>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87D47682-2354-8539-4EC2-101FD9DAC1EB}"/>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yield is typically less than 100% due to the factors outlined earlier.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Conservation of matter means that the yield should not exceed 100%!</a:t>
            </a:r>
          </a:p>
          <a:p>
            <a:endParaRPr lang="en-GB" dirty="0"/>
          </a:p>
          <a:p>
            <a:pPr marL="285750" indent="-285750">
              <a:buFont typeface="Arial" panose="020B0604020202020204" pitchFamily="34" charset="0"/>
              <a:buChar char="•"/>
            </a:pPr>
            <a:r>
              <a:rPr lang="en-GB" dirty="0"/>
              <a:t>A yield of </a:t>
            </a:r>
            <a:r>
              <a:rPr lang="en-GB" b="1" dirty="0"/>
              <a:t>greater than 100% </a:t>
            </a:r>
            <a:r>
              <a:rPr lang="en-GB" dirty="0"/>
              <a:t>may indicate:</a:t>
            </a:r>
          </a:p>
          <a:p>
            <a:pPr marL="861750" lvl="1" indent="-285750">
              <a:buFont typeface="Arial" panose="020B0604020202020204" pitchFamily="34" charset="0"/>
              <a:buChar char="•"/>
            </a:pPr>
            <a:r>
              <a:rPr lang="en-GB" dirty="0"/>
              <a:t>Contamination of the product</a:t>
            </a:r>
          </a:p>
          <a:p>
            <a:pPr marL="861750" lvl="1" indent="-285750">
              <a:buFont typeface="Arial" panose="020B0604020202020204" pitchFamily="34" charset="0"/>
              <a:buChar char="•"/>
            </a:pPr>
            <a:r>
              <a:rPr lang="en-GB" dirty="0"/>
              <a:t>The product is not dry</a:t>
            </a:r>
          </a:p>
          <a:p>
            <a:pPr marL="861750" lvl="1" indent="-285750">
              <a:buFont typeface="Arial" panose="020B0604020202020204" pitchFamily="34" charset="0"/>
              <a:buChar char="•"/>
            </a:pPr>
            <a:r>
              <a:rPr lang="en-GB" dirty="0"/>
              <a:t>Weighing error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6171348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5682-5A2D-48F6-02A9-218069392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0859B-9725-06DE-5271-939BCD589F8E}"/>
              </a:ext>
            </a:extLst>
          </p:cNvPr>
          <p:cNvSpPr>
            <a:spLocks noGrp="1"/>
          </p:cNvSpPr>
          <p:nvPr>
            <p:ph type="title"/>
          </p:nvPr>
        </p:nvSpPr>
        <p:spPr/>
        <p:txBody>
          <a:bodyPr/>
          <a:lstStyle/>
          <a:p>
            <a:r>
              <a:rPr lang="en-GB" dirty="0"/>
              <a:t>Multistep procedures</a:t>
            </a:r>
          </a:p>
        </p:txBody>
      </p:sp>
      <p:sp>
        <p:nvSpPr>
          <p:cNvPr id="3" name="Table Placeholder 2">
            <a:extLst>
              <a:ext uri="{FF2B5EF4-FFF2-40B4-BE49-F238E27FC236}">
                <a16:creationId xmlns:a16="http://schemas.microsoft.com/office/drawing/2014/main" id="{F4136ECC-A5EC-8ED2-D1E4-02A9FF1E05BC}"/>
              </a:ext>
            </a:extLst>
          </p:cNvPr>
          <p:cNvSpPr>
            <a:spLocks noGrp="1"/>
          </p:cNvSpPr>
          <p:nvPr>
            <p:ph type="tbl" sz="quarter" idx="10"/>
          </p:nvPr>
        </p:nvSpPr>
        <p:spPr/>
        <p:txBody>
          <a:bodyPr/>
          <a:lstStyle/>
          <a:p>
            <a:r>
              <a:rPr lang="en-GB" dirty="0"/>
              <a:t>Most drug syntheses are </a:t>
            </a:r>
            <a:r>
              <a:rPr lang="en-GB" b="1" dirty="0"/>
              <a:t>multistep processes </a:t>
            </a:r>
            <a:r>
              <a:rPr lang="en-GB" dirty="0"/>
              <a:t>with several different chemical procedures being required to make the final drug molecule.</a:t>
            </a:r>
          </a:p>
          <a:p>
            <a:endParaRPr lang="en-GB" dirty="0"/>
          </a:p>
          <a:p>
            <a:r>
              <a:rPr lang="en-GB" dirty="0"/>
              <a:t>Synthetic procedures can be </a:t>
            </a:r>
            <a:r>
              <a:rPr lang="en-GB" b="1" dirty="0"/>
              <a:t>linear</a:t>
            </a:r>
            <a:r>
              <a:rPr lang="en-GB" dirty="0"/>
              <a:t> in nature: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r>
              <a:rPr lang="en-GB" dirty="0"/>
              <a:t>or </a:t>
            </a:r>
            <a:r>
              <a:rPr lang="en-GB" b="1" dirty="0"/>
              <a:t>convergent</a:t>
            </a:r>
            <a:r>
              <a:rPr lang="en-GB" dirty="0"/>
              <a:t>:</a:t>
            </a:r>
          </a:p>
          <a:p>
            <a:pPr marL="285750" indent="-285750">
              <a:buFont typeface="Arial" panose="020B0604020202020204" pitchFamily="34" charset="0"/>
              <a:buChar char="•"/>
            </a:pPr>
            <a:endParaRPr lang="en-GB" dirty="0"/>
          </a:p>
        </p:txBody>
      </p:sp>
      <p:graphicFrame>
        <p:nvGraphicFramePr>
          <p:cNvPr id="4" name="Object 3">
            <a:extLst>
              <a:ext uri="{FF2B5EF4-FFF2-40B4-BE49-F238E27FC236}">
                <a16:creationId xmlns:a16="http://schemas.microsoft.com/office/drawing/2014/main" id="{2D747322-694B-214F-DC44-44D97520F731}"/>
              </a:ext>
            </a:extLst>
          </p:cNvPr>
          <p:cNvGraphicFramePr>
            <a:graphicFrameLocks noChangeAspect="1"/>
          </p:cNvGraphicFramePr>
          <p:nvPr>
            <p:extLst>
              <p:ext uri="{D42A27DB-BD31-4B8C-83A1-F6EECF244321}">
                <p14:modId xmlns:p14="http://schemas.microsoft.com/office/powerpoint/2010/main" val="3318083029"/>
              </p:ext>
            </p:extLst>
          </p:nvPr>
        </p:nvGraphicFramePr>
        <p:xfrm>
          <a:off x="1047676" y="3429000"/>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2D747322-694B-214F-DC44-44D97520F731}"/>
                          </a:ext>
                        </a:extLst>
                      </p:cNvPr>
                      <p:cNvPicPr/>
                      <p:nvPr/>
                    </p:nvPicPr>
                    <p:blipFill>
                      <a:blip r:embed="rId3"/>
                      <a:stretch>
                        <a:fillRect/>
                      </a:stretch>
                    </p:blipFill>
                    <p:spPr>
                      <a:xfrm>
                        <a:off x="1047676" y="3429000"/>
                        <a:ext cx="7485860" cy="28300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8D0CC40-58CB-8A53-55C8-8C64F820A68E}"/>
              </a:ext>
            </a:extLst>
          </p:cNvPr>
          <p:cNvGraphicFramePr>
            <a:graphicFrameLocks noChangeAspect="1"/>
          </p:cNvGraphicFramePr>
          <p:nvPr>
            <p:extLst>
              <p:ext uri="{D42A27DB-BD31-4B8C-83A1-F6EECF244321}">
                <p14:modId xmlns:p14="http://schemas.microsoft.com/office/powerpoint/2010/main" val="3660042684"/>
              </p:ext>
            </p:extLst>
          </p:nvPr>
        </p:nvGraphicFramePr>
        <p:xfrm>
          <a:off x="2572245" y="4445055"/>
          <a:ext cx="3928721" cy="1325031"/>
        </p:xfrm>
        <a:graphic>
          <a:graphicData uri="http://schemas.openxmlformats.org/presentationml/2006/ole">
            <mc:AlternateContent xmlns:mc="http://schemas.openxmlformats.org/markup-compatibility/2006">
              <mc:Choice xmlns:v="urn:schemas-microsoft-com:vml" Requires="v">
                <p:oleObj r:id="rId4" imgW="2619147" imgH="883354" progId="">
                  <p:embed/>
                </p:oleObj>
              </mc:Choice>
              <mc:Fallback>
                <p:oleObj r:id="rId4" imgW="2619147" imgH="883354" progId="">
                  <p:embed/>
                  <p:pic>
                    <p:nvPicPr>
                      <p:cNvPr id="5" name="Object 4">
                        <a:extLst>
                          <a:ext uri="{FF2B5EF4-FFF2-40B4-BE49-F238E27FC236}">
                            <a16:creationId xmlns:a16="http://schemas.microsoft.com/office/drawing/2014/main" id="{D8D0CC40-58CB-8A53-55C8-8C64F820A68E}"/>
                          </a:ext>
                        </a:extLst>
                      </p:cNvPr>
                      <p:cNvPicPr/>
                      <p:nvPr/>
                    </p:nvPicPr>
                    <p:blipFill>
                      <a:blip r:embed="rId5"/>
                      <a:stretch>
                        <a:fillRect/>
                      </a:stretch>
                    </p:blipFill>
                    <p:spPr>
                      <a:xfrm>
                        <a:off x="2572245" y="4445055"/>
                        <a:ext cx="3928721" cy="1325031"/>
                      </a:xfrm>
                      <a:prstGeom prst="rect">
                        <a:avLst/>
                      </a:prstGeom>
                    </p:spPr>
                  </p:pic>
                </p:oleObj>
              </mc:Fallback>
            </mc:AlternateContent>
          </a:graphicData>
        </a:graphic>
      </p:graphicFrame>
    </p:spTree>
    <p:extLst>
      <p:ext uri="{BB962C8B-B14F-4D97-AF65-F5344CB8AC3E}">
        <p14:creationId xmlns:p14="http://schemas.microsoft.com/office/powerpoint/2010/main" val="3268284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1082C-7C25-5ECB-A460-055CED75E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7C566-C855-2C94-29D2-DCC9D94EB322}"/>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C3485F39-0192-F5EC-42A8-F0FAC9A81E34}"/>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0.9 x 0.9 x 0.9 x 0.9 x 0.9 x 100% = </a:t>
            </a:r>
            <a:r>
              <a:rPr lang="en-GB" b="1" dirty="0"/>
              <a:t>59%</a:t>
            </a:r>
          </a:p>
          <a:p>
            <a:endParaRPr lang="en-GB" dirty="0"/>
          </a:p>
          <a:p>
            <a:r>
              <a:rPr lang="en-GB" dirty="0"/>
              <a:t>Remember, you still need to work out the limiting reagent for each step when calculating individual yields.</a:t>
            </a:r>
          </a:p>
        </p:txBody>
      </p:sp>
      <p:graphicFrame>
        <p:nvGraphicFramePr>
          <p:cNvPr id="4" name="Object 3">
            <a:extLst>
              <a:ext uri="{FF2B5EF4-FFF2-40B4-BE49-F238E27FC236}">
                <a16:creationId xmlns:a16="http://schemas.microsoft.com/office/drawing/2014/main" id="{FFDD4310-4173-9E44-6613-F0770B0F281B}"/>
              </a:ext>
            </a:extLst>
          </p:cNvPr>
          <p:cNvGraphicFramePr>
            <a:graphicFrameLocks noChangeAspect="1"/>
          </p:cNvGraphicFramePr>
          <p:nvPr>
            <p:extLst>
              <p:ext uri="{D42A27DB-BD31-4B8C-83A1-F6EECF244321}">
                <p14:modId xmlns:p14="http://schemas.microsoft.com/office/powerpoint/2010/main" val="3157810553"/>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FFDD4310-4173-9E44-6613-F0770B0F281B}"/>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FCB3354B-7A9D-E892-5A0B-0CDC94DB0707}"/>
              </a:ext>
            </a:extLst>
          </p:cNvPr>
          <p:cNvSpPr txBox="1"/>
          <p:nvPr/>
        </p:nvSpPr>
        <p:spPr>
          <a:xfrm>
            <a:off x="2844800" y="2114551"/>
            <a:ext cx="736600" cy="369332"/>
          </a:xfrm>
          <a:prstGeom prst="rect">
            <a:avLst/>
          </a:prstGeom>
          <a:noFill/>
        </p:spPr>
        <p:txBody>
          <a:bodyPr wrap="square" rtlCol="0">
            <a:spAutoFit/>
          </a:bodyPr>
          <a:lstStyle/>
          <a:p>
            <a:pPr algn="ctr"/>
            <a:r>
              <a:rPr lang="en-GB" dirty="0"/>
              <a:t>90%</a:t>
            </a:r>
          </a:p>
        </p:txBody>
      </p:sp>
      <p:sp>
        <p:nvSpPr>
          <p:cNvPr id="7" name="TextBox 6">
            <a:extLst>
              <a:ext uri="{FF2B5EF4-FFF2-40B4-BE49-F238E27FC236}">
                <a16:creationId xmlns:a16="http://schemas.microsoft.com/office/drawing/2014/main" id="{49CCCCF0-2022-AB66-8FEB-A61B94F0CDC5}"/>
              </a:ext>
            </a:extLst>
          </p:cNvPr>
          <p:cNvSpPr txBox="1"/>
          <p:nvPr/>
        </p:nvSpPr>
        <p:spPr>
          <a:xfrm>
            <a:off x="4298950" y="2114551"/>
            <a:ext cx="736600" cy="369332"/>
          </a:xfrm>
          <a:prstGeom prst="rect">
            <a:avLst/>
          </a:prstGeom>
          <a:noFill/>
        </p:spPr>
        <p:txBody>
          <a:bodyPr wrap="square" rtlCol="0">
            <a:spAutoFit/>
          </a:bodyPr>
          <a:lstStyle/>
          <a:p>
            <a:pPr algn="ctr"/>
            <a:r>
              <a:rPr lang="en-GB" dirty="0"/>
              <a:t>90%</a:t>
            </a:r>
          </a:p>
        </p:txBody>
      </p:sp>
      <p:sp>
        <p:nvSpPr>
          <p:cNvPr id="8" name="TextBox 7">
            <a:extLst>
              <a:ext uri="{FF2B5EF4-FFF2-40B4-BE49-F238E27FC236}">
                <a16:creationId xmlns:a16="http://schemas.microsoft.com/office/drawing/2014/main" id="{EB6A9E56-C4CD-B92F-506F-2264DC77DCB8}"/>
              </a:ext>
            </a:extLst>
          </p:cNvPr>
          <p:cNvSpPr txBox="1"/>
          <p:nvPr/>
        </p:nvSpPr>
        <p:spPr>
          <a:xfrm>
            <a:off x="5753100" y="2114551"/>
            <a:ext cx="736600" cy="369332"/>
          </a:xfrm>
          <a:prstGeom prst="rect">
            <a:avLst/>
          </a:prstGeom>
          <a:noFill/>
        </p:spPr>
        <p:txBody>
          <a:bodyPr wrap="square" rtlCol="0">
            <a:spAutoFit/>
          </a:bodyPr>
          <a:lstStyle/>
          <a:p>
            <a:pPr algn="ctr"/>
            <a:r>
              <a:rPr lang="en-GB" dirty="0"/>
              <a:t>90%</a:t>
            </a:r>
          </a:p>
        </p:txBody>
      </p:sp>
      <p:sp>
        <p:nvSpPr>
          <p:cNvPr id="9" name="TextBox 8">
            <a:extLst>
              <a:ext uri="{FF2B5EF4-FFF2-40B4-BE49-F238E27FC236}">
                <a16:creationId xmlns:a16="http://schemas.microsoft.com/office/drawing/2014/main" id="{103829BE-A82D-78C8-D1D5-8899422CF34B}"/>
              </a:ext>
            </a:extLst>
          </p:cNvPr>
          <p:cNvSpPr txBox="1"/>
          <p:nvPr/>
        </p:nvSpPr>
        <p:spPr>
          <a:xfrm>
            <a:off x="7207250" y="2114551"/>
            <a:ext cx="736600" cy="369332"/>
          </a:xfrm>
          <a:prstGeom prst="rect">
            <a:avLst/>
          </a:prstGeom>
          <a:noFill/>
        </p:spPr>
        <p:txBody>
          <a:bodyPr wrap="square" rtlCol="0">
            <a:spAutoFit/>
          </a:bodyPr>
          <a:lstStyle/>
          <a:p>
            <a:pPr algn="ctr"/>
            <a:r>
              <a:rPr lang="en-GB" dirty="0"/>
              <a:t>90%</a:t>
            </a:r>
          </a:p>
        </p:txBody>
      </p:sp>
      <p:sp>
        <p:nvSpPr>
          <p:cNvPr id="10" name="TextBox 9">
            <a:extLst>
              <a:ext uri="{FF2B5EF4-FFF2-40B4-BE49-F238E27FC236}">
                <a16:creationId xmlns:a16="http://schemas.microsoft.com/office/drawing/2014/main" id="{1F813B05-FE41-0DC6-3D4C-9BB17C74F9EE}"/>
              </a:ext>
            </a:extLst>
          </p:cNvPr>
          <p:cNvSpPr txBox="1"/>
          <p:nvPr/>
        </p:nvSpPr>
        <p:spPr>
          <a:xfrm>
            <a:off x="8661400" y="2114551"/>
            <a:ext cx="736600" cy="369332"/>
          </a:xfrm>
          <a:prstGeom prst="rect">
            <a:avLst/>
          </a:prstGeom>
          <a:noFill/>
        </p:spPr>
        <p:txBody>
          <a:bodyPr wrap="square" rtlCol="0">
            <a:spAutoFit/>
          </a:bodyPr>
          <a:lstStyle/>
          <a:p>
            <a:pPr algn="ctr"/>
            <a:r>
              <a:rPr lang="en-GB" dirty="0"/>
              <a:t>90%</a:t>
            </a:r>
          </a:p>
        </p:txBody>
      </p:sp>
    </p:spTree>
    <p:extLst>
      <p:ext uri="{BB962C8B-B14F-4D97-AF65-F5344CB8AC3E}">
        <p14:creationId xmlns:p14="http://schemas.microsoft.com/office/powerpoint/2010/main" val="2719043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05F0-3474-6B94-47CD-29EA55ECC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7EE42-61CA-C25C-016F-59E2501FC263}"/>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8229C512-7DFD-135A-4B57-8927B381A03E}"/>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a:t>
            </a:r>
            <a:r>
              <a:rPr lang="en-GB" b="1" dirty="0"/>
              <a:t>0.5</a:t>
            </a:r>
            <a:r>
              <a:rPr lang="en-GB" dirty="0"/>
              <a:t> x 0.9 x 0.9 x 0.9 x 0.9 x 100% = </a:t>
            </a:r>
            <a:r>
              <a:rPr lang="en-GB" b="1" dirty="0"/>
              <a:t>33%</a:t>
            </a:r>
          </a:p>
          <a:p>
            <a:endParaRPr lang="en-GB" dirty="0"/>
          </a:p>
          <a:p>
            <a:r>
              <a:rPr lang="en-GB" dirty="0"/>
              <a:t>If the yield of the first step is 50% and the other steps is 90% then the overall yield is 33%.</a:t>
            </a:r>
          </a:p>
        </p:txBody>
      </p:sp>
      <p:graphicFrame>
        <p:nvGraphicFramePr>
          <p:cNvPr id="4" name="Object 3">
            <a:extLst>
              <a:ext uri="{FF2B5EF4-FFF2-40B4-BE49-F238E27FC236}">
                <a16:creationId xmlns:a16="http://schemas.microsoft.com/office/drawing/2014/main" id="{DF8C50BB-EB56-7F5F-8D31-8FD2A854CB8A}"/>
              </a:ext>
            </a:extLst>
          </p:cNvPr>
          <p:cNvGraphicFramePr>
            <a:graphicFrameLocks noChangeAspect="1"/>
          </p:cNvGraphicFramePr>
          <p:nvPr>
            <p:extLst>
              <p:ext uri="{D42A27DB-BD31-4B8C-83A1-F6EECF244321}">
                <p14:modId xmlns:p14="http://schemas.microsoft.com/office/powerpoint/2010/main" val="1056240477"/>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DF8C50BB-EB56-7F5F-8D31-8FD2A854CB8A}"/>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59110438-FB21-8491-635F-59EA66A5091C}"/>
              </a:ext>
            </a:extLst>
          </p:cNvPr>
          <p:cNvSpPr txBox="1"/>
          <p:nvPr/>
        </p:nvSpPr>
        <p:spPr>
          <a:xfrm>
            <a:off x="2844800" y="2114551"/>
            <a:ext cx="736600" cy="369332"/>
          </a:xfrm>
          <a:prstGeom prst="rect">
            <a:avLst/>
          </a:prstGeom>
          <a:noFill/>
        </p:spPr>
        <p:txBody>
          <a:bodyPr wrap="square" rtlCol="0">
            <a:spAutoFit/>
          </a:bodyPr>
          <a:lstStyle/>
          <a:p>
            <a:pPr algn="ctr"/>
            <a:r>
              <a:rPr lang="en-GB" b="1" dirty="0"/>
              <a:t>50%</a:t>
            </a:r>
          </a:p>
        </p:txBody>
      </p:sp>
      <p:sp>
        <p:nvSpPr>
          <p:cNvPr id="7" name="TextBox 6">
            <a:extLst>
              <a:ext uri="{FF2B5EF4-FFF2-40B4-BE49-F238E27FC236}">
                <a16:creationId xmlns:a16="http://schemas.microsoft.com/office/drawing/2014/main" id="{6CABFCF1-F12B-3EFE-BD09-A2BB76577DEC}"/>
              </a:ext>
            </a:extLst>
          </p:cNvPr>
          <p:cNvSpPr txBox="1"/>
          <p:nvPr/>
        </p:nvSpPr>
        <p:spPr>
          <a:xfrm>
            <a:off x="4298950" y="2114551"/>
            <a:ext cx="736600" cy="369332"/>
          </a:xfrm>
          <a:prstGeom prst="rect">
            <a:avLst/>
          </a:prstGeom>
          <a:noFill/>
        </p:spPr>
        <p:txBody>
          <a:bodyPr wrap="square" rtlCol="0">
            <a:spAutoFit/>
          </a:bodyPr>
          <a:lstStyle/>
          <a:p>
            <a:pPr algn="ctr"/>
            <a:r>
              <a:rPr lang="en-GB" dirty="0"/>
              <a:t>90%</a:t>
            </a:r>
          </a:p>
        </p:txBody>
      </p:sp>
      <p:sp>
        <p:nvSpPr>
          <p:cNvPr id="8" name="TextBox 7">
            <a:extLst>
              <a:ext uri="{FF2B5EF4-FFF2-40B4-BE49-F238E27FC236}">
                <a16:creationId xmlns:a16="http://schemas.microsoft.com/office/drawing/2014/main" id="{C6458355-6197-057C-E750-1B5B525444FC}"/>
              </a:ext>
            </a:extLst>
          </p:cNvPr>
          <p:cNvSpPr txBox="1"/>
          <p:nvPr/>
        </p:nvSpPr>
        <p:spPr>
          <a:xfrm>
            <a:off x="5753100" y="2114551"/>
            <a:ext cx="736600" cy="369332"/>
          </a:xfrm>
          <a:prstGeom prst="rect">
            <a:avLst/>
          </a:prstGeom>
          <a:noFill/>
        </p:spPr>
        <p:txBody>
          <a:bodyPr wrap="square" rtlCol="0">
            <a:spAutoFit/>
          </a:bodyPr>
          <a:lstStyle/>
          <a:p>
            <a:pPr algn="ctr"/>
            <a:r>
              <a:rPr lang="en-GB" dirty="0"/>
              <a:t>90%</a:t>
            </a:r>
          </a:p>
        </p:txBody>
      </p:sp>
      <p:sp>
        <p:nvSpPr>
          <p:cNvPr id="9" name="TextBox 8">
            <a:extLst>
              <a:ext uri="{FF2B5EF4-FFF2-40B4-BE49-F238E27FC236}">
                <a16:creationId xmlns:a16="http://schemas.microsoft.com/office/drawing/2014/main" id="{A4E710A0-AA32-AAB7-7E28-9B0314F24C77}"/>
              </a:ext>
            </a:extLst>
          </p:cNvPr>
          <p:cNvSpPr txBox="1"/>
          <p:nvPr/>
        </p:nvSpPr>
        <p:spPr>
          <a:xfrm>
            <a:off x="7207250" y="2114551"/>
            <a:ext cx="736600" cy="369332"/>
          </a:xfrm>
          <a:prstGeom prst="rect">
            <a:avLst/>
          </a:prstGeom>
          <a:noFill/>
        </p:spPr>
        <p:txBody>
          <a:bodyPr wrap="square" rtlCol="0">
            <a:spAutoFit/>
          </a:bodyPr>
          <a:lstStyle/>
          <a:p>
            <a:pPr algn="ctr"/>
            <a:r>
              <a:rPr lang="en-GB" dirty="0"/>
              <a:t>90%</a:t>
            </a:r>
          </a:p>
        </p:txBody>
      </p:sp>
      <p:sp>
        <p:nvSpPr>
          <p:cNvPr id="10" name="TextBox 9">
            <a:extLst>
              <a:ext uri="{FF2B5EF4-FFF2-40B4-BE49-F238E27FC236}">
                <a16:creationId xmlns:a16="http://schemas.microsoft.com/office/drawing/2014/main" id="{B9234759-6246-A7BD-F8FF-5B914BD2B7F9}"/>
              </a:ext>
            </a:extLst>
          </p:cNvPr>
          <p:cNvSpPr txBox="1"/>
          <p:nvPr/>
        </p:nvSpPr>
        <p:spPr>
          <a:xfrm>
            <a:off x="8661400" y="2114551"/>
            <a:ext cx="736600" cy="369332"/>
          </a:xfrm>
          <a:prstGeom prst="rect">
            <a:avLst/>
          </a:prstGeom>
          <a:noFill/>
        </p:spPr>
        <p:txBody>
          <a:bodyPr wrap="square" rtlCol="0">
            <a:spAutoFit/>
          </a:bodyPr>
          <a:lstStyle/>
          <a:p>
            <a:pPr algn="ctr"/>
            <a:r>
              <a:rPr lang="en-GB" dirty="0"/>
              <a:t>90%</a:t>
            </a:r>
          </a:p>
        </p:txBody>
      </p:sp>
    </p:spTree>
    <p:extLst>
      <p:ext uri="{BB962C8B-B14F-4D97-AF65-F5344CB8AC3E}">
        <p14:creationId xmlns:p14="http://schemas.microsoft.com/office/powerpoint/2010/main" val="3444734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A75E-5586-6537-D852-A509CDF68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32261-1D28-B308-45FC-F3700EB476C9}"/>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51DEAEA2-DC4F-095C-92C2-9A4EAA6B2BA2}"/>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0.5 x 0.5 x 0.5 x 0.5 x 0.5 x 100% = </a:t>
            </a:r>
            <a:r>
              <a:rPr lang="en-GB" b="1" dirty="0"/>
              <a:t>3%</a:t>
            </a:r>
          </a:p>
          <a:p>
            <a:endParaRPr lang="en-GB" dirty="0"/>
          </a:p>
          <a:p>
            <a:r>
              <a:rPr lang="en-GB" dirty="0"/>
              <a:t>If the yields of all steps are 50% then the overall yield drops to just 3%! This can have a big impact on the cost of manufacturing pharmaceutical products.</a:t>
            </a:r>
          </a:p>
          <a:p>
            <a:endParaRPr lang="en-GB" dirty="0"/>
          </a:p>
          <a:p>
            <a:r>
              <a:rPr lang="en-GB" dirty="0"/>
              <a:t>Convergent syntheses are favourable because they have fewer steps and therefore higher yields.</a:t>
            </a:r>
          </a:p>
        </p:txBody>
      </p:sp>
      <p:graphicFrame>
        <p:nvGraphicFramePr>
          <p:cNvPr id="4" name="Object 3">
            <a:extLst>
              <a:ext uri="{FF2B5EF4-FFF2-40B4-BE49-F238E27FC236}">
                <a16:creationId xmlns:a16="http://schemas.microsoft.com/office/drawing/2014/main" id="{45D68C92-1ED4-091E-3CE0-6E1D03A5537C}"/>
              </a:ext>
            </a:extLst>
          </p:cNvPr>
          <p:cNvGraphicFramePr>
            <a:graphicFrameLocks noChangeAspect="1"/>
          </p:cNvGraphicFramePr>
          <p:nvPr>
            <p:extLst>
              <p:ext uri="{D42A27DB-BD31-4B8C-83A1-F6EECF244321}">
                <p14:modId xmlns:p14="http://schemas.microsoft.com/office/powerpoint/2010/main" val="2243955235"/>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45D68C92-1ED4-091E-3CE0-6E1D03A5537C}"/>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3E625788-3ABE-E69D-F485-5CB44FB51E36}"/>
              </a:ext>
            </a:extLst>
          </p:cNvPr>
          <p:cNvSpPr txBox="1"/>
          <p:nvPr/>
        </p:nvSpPr>
        <p:spPr>
          <a:xfrm>
            <a:off x="2844800" y="2114551"/>
            <a:ext cx="736600" cy="369332"/>
          </a:xfrm>
          <a:prstGeom prst="rect">
            <a:avLst/>
          </a:prstGeom>
          <a:noFill/>
        </p:spPr>
        <p:txBody>
          <a:bodyPr wrap="square" rtlCol="0">
            <a:spAutoFit/>
          </a:bodyPr>
          <a:lstStyle/>
          <a:p>
            <a:pPr algn="ctr"/>
            <a:r>
              <a:rPr lang="en-GB" b="1" dirty="0"/>
              <a:t>50%</a:t>
            </a:r>
          </a:p>
        </p:txBody>
      </p:sp>
      <p:sp>
        <p:nvSpPr>
          <p:cNvPr id="7" name="TextBox 6">
            <a:extLst>
              <a:ext uri="{FF2B5EF4-FFF2-40B4-BE49-F238E27FC236}">
                <a16:creationId xmlns:a16="http://schemas.microsoft.com/office/drawing/2014/main" id="{9B26FDD0-51F3-C488-CBD8-46C57845FF4D}"/>
              </a:ext>
            </a:extLst>
          </p:cNvPr>
          <p:cNvSpPr txBox="1"/>
          <p:nvPr/>
        </p:nvSpPr>
        <p:spPr>
          <a:xfrm>
            <a:off x="4298950" y="2114551"/>
            <a:ext cx="736600" cy="369332"/>
          </a:xfrm>
          <a:prstGeom prst="rect">
            <a:avLst/>
          </a:prstGeom>
          <a:noFill/>
        </p:spPr>
        <p:txBody>
          <a:bodyPr wrap="square" rtlCol="0">
            <a:spAutoFit/>
          </a:bodyPr>
          <a:lstStyle/>
          <a:p>
            <a:pPr algn="ctr"/>
            <a:r>
              <a:rPr lang="en-GB" b="1" dirty="0"/>
              <a:t>50%</a:t>
            </a:r>
          </a:p>
        </p:txBody>
      </p:sp>
      <p:sp>
        <p:nvSpPr>
          <p:cNvPr id="8" name="TextBox 7">
            <a:extLst>
              <a:ext uri="{FF2B5EF4-FFF2-40B4-BE49-F238E27FC236}">
                <a16:creationId xmlns:a16="http://schemas.microsoft.com/office/drawing/2014/main" id="{634BDCAC-C130-0F16-46A7-A0B945DAF2E2}"/>
              </a:ext>
            </a:extLst>
          </p:cNvPr>
          <p:cNvSpPr txBox="1"/>
          <p:nvPr/>
        </p:nvSpPr>
        <p:spPr>
          <a:xfrm>
            <a:off x="5753100" y="2114551"/>
            <a:ext cx="736600" cy="369332"/>
          </a:xfrm>
          <a:prstGeom prst="rect">
            <a:avLst/>
          </a:prstGeom>
          <a:noFill/>
        </p:spPr>
        <p:txBody>
          <a:bodyPr wrap="square" rtlCol="0">
            <a:spAutoFit/>
          </a:bodyPr>
          <a:lstStyle/>
          <a:p>
            <a:pPr algn="ctr"/>
            <a:r>
              <a:rPr lang="en-GB" b="1" dirty="0"/>
              <a:t>50%</a:t>
            </a:r>
          </a:p>
        </p:txBody>
      </p:sp>
      <p:sp>
        <p:nvSpPr>
          <p:cNvPr id="9" name="TextBox 8">
            <a:extLst>
              <a:ext uri="{FF2B5EF4-FFF2-40B4-BE49-F238E27FC236}">
                <a16:creationId xmlns:a16="http://schemas.microsoft.com/office/drawing/2014/main" id="{A930763D-B578-5E2C-A0EC-BA5E9ED82A80}"/>
              </a:ext>
            </a:extLst>
          </p:cNvPr>
          <p:cNvSpPr txBox="1"/>
          <p:nvPr/>
        </p:nvSpPr>
        <p:spPr>
          <a:xfrm>
            <a:off x="7207250" y="2114551"/>
            <a:ext cx="736600" cy="369332"/>
          </a:xfrm>
          <a:prstGeom prst="rect">
            <a:avLst/>
          </a:prstGeom>
          <a:noFill/>
        </p:spPr>
        <p:txBody>
          <a:bodyPr wrap="square" rtlCol="0">
            <a:spAutoFit/>
          </a:bodyPr>
          <a:lstStyle/>
          <a:p>
            <a:pPr algn="ctr"/>
            <a:r>
              <a:rPr lang="en-GB" b="1" dirty="0"/>
              <a:t>50%</a:t>
            </a:r>
          </a:p>
        </p:txBody>
      </p:sp>
      <p:sp>
        <p:nvSpPr>
          <p:cNvPr id="10" name="TextBox 9">
            <a:extLst>
              <a:ext uri="{FF2B5EF4-FFF2-40B4-BE49-F238E27FC236}">
                <a16:creationId xmlns:a16="http://schemas.microsoft.com/office/drawing/2014/main" id="{3408FBB7-F1B3-FAAD-C06E-211CECCA3E72}"/>
              </a:ext>
            </a:extLst>
          </p:cNvPr>
          <p:cNvSpPr txBox="1"/>
          <p:nvPr/>
        </p:nvSpPr>
        <p:spPr>
          <a:xfrm>
            <a:off x="8661400" y="2114551"/>
            <a:ext cx="736600" cy="369332"/>
          </a:xfrm>
          <a:prstGeom prst="rect">
            <a:avLst/>
          </a:prstGeom>
          <a:noFill/>
        </p:spPr>
        <p:txBody>
          <a:bodyPr wrap="square" rtlCol="0">
            <a:spAutoFit/>
          </a:bodyPr>
          <a:lstStyle/>
          <a:p>
            <a:pPr algn="ctr"/>
            <a:r>
              <a:rPr lang="en-GB" b="1" dirty="0"/>
              <a:t>50%</a:t>
            </a:r>
          </a:p>
        </p:txBody>
      </p:sp>
    </p:spTree>
    <p:extLst>
      <p:ext uri="{BB962C8B-B14F-4D97-AF65-F5344CB8AC3E}">
        <p14:creationId xmlns:p14="http://schemas.microsoft.com/office/powerpoint/2010/main" val="641705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5D52-DD5A-FF6F-D3CE-815D00FD5DA4}"/>
              </a:ext>
            </a:extLst>
          </p:cNvPr>
          <p:cNvSpPr>
            <a:spLocks noGrp="1"/>
          </p:cNvSpPr>
          <p:nvPr>
            <p:ph type="title"/>
          </p:nvPr>
        </p:nvSpPr>
        <p:spPr>
          <a:xfrm>
            <a:off x="334962" y="657225"/>
            <a:ext cx="10345737" cy="728663"/>
          </a:xfrm>
        </p:spPr>
        <p:txBody>
          <a:bodyPr/>
          <a:lstStyle/>
          <a:p>
            <a:r>
              <a:rPr lang="en-GB" dirty="0"/>
              <a:t>Atom economy and sustainability in chemistry</a:t>
            </a:r>
          </a:p>
        </p:txBody>
      </p:sp>
      <p:sp>
        <p:nvSpPr>
          <p:cNvPr id="3" name="Table Placeholder 2">
            <a:extLst>
              <a:ext uri="{FF2B5EF4-FFF2-40B4-BE49-F238E27FC236}">
                <a16:creationId xmlns:a16="http://schemas.microsoft.com/office/drawing/2014/main" id="{EBFE0858-9930-3BB5-EF17-7FD7A50C09D8}"/>
              </a:ext>
            </a:extLst>
          </p:cNvPr>
          <p:cNvSpPr>
            <a:spLocks noGrp="1"/>
          </p:cNvSpPr>
          <p:nvPr>
            <p:ph type="tbl" sz="quarter" idx="10"/>
          </p:nvPr>
        </p:nvSpPr>
        <p:spPr/>
        <p:txBody>
          <a:bodyPr/>
          <a:lstStyle/>
          <a:p>
            <a:r>
              <a:rPr lang="en-GB" dirty="0"/>
              <a:t>Atom economy is a concept that measures the efficiency of a chemical reaction in terms of </a:t>
            </a:r>
            <a:r>
              <a:rPr lang="en-GB" b="1" dirty="0"/>
              <a:t>how well atoms are utilised</a:t>
            </a:r>
            <a:r>
              <a:rPr lang="en-GB" dirty="0"/>
              <a:t>.</a:t>
            </a:r>
          </a:p>
          <a:p>
            <a:endParaRPr lang="en-GB" dirty="0"/>
          </a:p>
          <a:p>
            <a:r>
              <a:rPr lang="en-GB" dirty="0"/>
              <a:t>It is calculated from the ratio of the </a:t>
            </a:r>
            <a:r>
              <a:rPr lang="en-GB" b="1" dirty="0"/>
              <a:t>molecular weight </a:t>
            </a:r>
            <a:r>
              <a:rPr lang="en-GB" dirty="0"/>
              <a:t>of the desired product to the total molecular weight of all reactants:</a:t>
            </a:r>
          </a:p>
          <a:p>
            <a:endParaRPr lang="en-GB" dirty="0"/>
          </a:p>
          <a:p>
            <a:endParaRPr lang="en-GB" dirty="0"/>
          </a:p>
          <a:p>
            <a:r>
              <a:rPr lang="en-GB" dirty="0"/>
              <a:t>A higher atom economy indicates a more efficient reaction, where </a:t>
            </a:r>
            <a:r>
              <a:rPr lang="en-GB" b="1" dirty="0"/>
              <a:t>fewer atoms are wasted as by-products</a:t>
            </a:r>
            <a:r>
              <a:rPr lang="en-GB" dirty="0"/>
              <a:t>.</a:t>
            </a:r>
          </a:p>
          <a:p>
            <a:endParaRPr lang="en-GB" dirty="0"/>
          </a:p>
          <a:p>
            <a:r>
              <a:rPr lang="en-GB" dirty="0"/>
              <a:t>This concept is crucial in </a:t>
            </a:r>
            <a:r>
              <a:rPr lang="en-GB" b="1" dirty="0">
                <a:solidFill>
                  <a:schemeClr val="accent2"/>
                </a:solidFill>
              </a:rPr>
              <a:t>green chemistry </a:t>
            </a:r>
            <a:r>
              <a:rPr lang="en-GB" dirty="0"/>
              <a:t>– we try to reduce waste at the molecular level.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01E2CE-D388-AFA5-9045-ED68AE64B4D5}"/>
                  </a:ext>
                </a:extLst>
              </p:cNvPr>
              <p:cNvSpPr txBox="1"/>
              <p:nvPr/>
            </p:nvSpPr>
            <p:spPr>
              <a:xfrm>
                <a:off x="2288704" y="3429000"/>
                <a:ext cx="7614592" cy="667490"/>
              </a:xfrm>
              <a:prstGeom prst="rect">
                <a:avLst/>
              </a:prstGeom>
              <a:noFill/>
            </p:spPr>
            <p:txBody>
              <a:bodyPr wrap="square">
                <a:spAutoFit/>
              </a:bodyPr>
              <a:lstStyle/>
              <a:p>
                <a:pPr/>
                <a14:m>
                  <m:oMathPara xmlns:m="http://schemas.openxmlformats.org/officeDocument/2006/math">
                    <m:oMath>
                      <m:r>
                        <m:rPr>
                          <m:nor/>
                        </m:rPr>
                        <a:rPr lang="en-GB" i="0" smtClean="0">
                          <a:latin typeface="Cambria Math" panose="02040503050406030204" pitchFamily="18" charset="0"/>
                        </a:rPr>
                        <m:t>atom</m:t>
                      </m:r>
                      <m:r>
                        <m:rPr>
                          <m:nor/>
                        </m:rPr>
                        <a:rPr lang="en-GB" i="0">
                          <a:latin typeface="Cambria Math" panose="02040503050406030204" pitchFamily="18" charset="0"/>
                        </a:rPr>
                        <m:t> economy</m:t>
                      </m:r>
                      <m:r>
                        <a:rPr lang="en-GB" i="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molecular weight of product</m:t>
                          </m:r>
                        </m:num>
                        <m:den>
                          <m:r>
                            <m:rPr>
                              <m:nor/>
                            </m:rPr>
                            <a:rPr lang="en-GB" i="0">
                              <a:latin typeface="Cambria Math" panose="02040503050406030204" pitchFamily="18" charset="0"/>
                            </a:rPr>
                            <m:t>total molecular weight of starting materials</m:t>
                          </m:r>
                        </m:den>
                      </m:f>
                      <m:r>
                        <a:rPr lang="en-GB" i="0">
                          <a:latin typeface="Cambria Math" panose="02040503050406030204" pitchFamily="18" charset="0"/>
                        </a:rPr>
                        <m:t>×100%</m:t>
                      </m:r>
                    </m:oMath>
                  </m:oMathPara>
                </a14:m>
                <a:endParaRPr lang="en-GB" dirty="0"/>
              </a:p>
            </p:txBody>
          </p:sp>
        </mc:Choice>
        <mc:Fallback xmlns="">
          <p:sp>
            <p:nvSpPr>
              <p:cNvPr id="4" name="TextBox 3">
                <a:extLst>
                  <a:ext uri="{FF2B5EF4-FFF2-40B4-BE49-F238E27FC236}">
                    <a16:creationId xmlns:a16="http://schemas.microsoft.com/office/drawing/2014/main" id="{9501E2CE-D388-AFA5-9045-ED68AE64B4D5}"/>
                  </a:ext>
                </a:extLst>
              </p:cNvPr>
              <p:cNvSpPr txBox="1">
                <a:spLocks noRot="1" noChangeAspect="1" noMove="1" noResize="1" noEditPoints="1" noAdjustHandles="1" noChangeArrowheads="1" noChangeShapeType="1" noTextEdit="1"/>
              </p:cNvSpPr>
              <p:nvPr/>
            </p:nvSpPr>
            <p:spPr>
              <a:xfrm>
                <a:off x="2288704" y="3429000"/>
                <a:ext cx="7614592" cy="667490"/>
              </a:xfrm>
              <a:prstGeom prst="rect">
                <a:avLst/>
              </a:prstGeom>
              <a:blipFill>
                <a:blip r:embed="rId2"/>
                <a:stretch>
                  <a:fillRect b="-9434"/>
                </a:stretch>
              </a:blipFill>
            </p:spPr>
            <p:txBody>
              <a:bodyPr/>
              <a:lstStyle/>
              <a:p>
                <a:r>
                  <a:rPr lang="en-GB">
                    <a:noFill/>
                  </a:rPr>
                  <a:t> </a:t>
                </a:r>
              </a:p>
            </p:txBody>
          </p:sp>
        </mc:Fallback>
      </mc:AlternateContent>
    </p:spTree>
    <p:extLst>
      <p:ext uri="{BB962C8B-B14F-4D97-AF65-F5344CB8AC3E}">
        <p14:creationId xmlns:p14="http://schemas.microsoft.com/office/powerpoint/2010/main" val="393056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617C7-7514-D276-A52F-0AC172DC90CA}"/>
              </a:ext>
            </a:extLst>
          </p:cNvPr>
          <p:cNvSpPr>
            <a:spLocks noGrp="1"/>
          </p:cNvSpPr>
          <p:nvPr>
            <p:ph type="title"/>
          </p:nvPr>
        </p:nvSpPr>
        <p:spPr/>
        <p:txBody>
          <a:bodyPr/>
          <a:lstStyle/>
          <a:p>
            <a:r>
              <a:rPr lang="en-GB" dirty="0"/>
              <a:t>Example: synthesis of ibuprofen</a:t>
            </a:r>
          </a:p>
        </p:txBody>
      </p:sp>
      <p:sp>
        <p:nvSpPr>
          <p:cNvPr id="3" name="Table Placeholder 2">
            <a:extLst>
              <a:ext uri="{FF2B5EF4-FFF2-40B4-BE49-F238E27FC236}">
                <a16:creationId xmlns:a16="http://schemas.microsoft.com/office/drawing/2014/main" id="{C3DE2532-6A96-ACAE-6318-779FD95D74D6}"/>
              </a:ext>
            </a:extLst>
          </p:cNvPr>
          <p:cNvSpPr>
            <a:spLocks noGrp="1"/>
          </p:cNvSpPr>
          <p:nvPr>
            <p:ph type="tbl" sz="quarter" idx="10"/>
          </p:nvPr>
        </p:nvSpPr>
        <p:spPr>
          <a:xfrm>
            <a:off x="334963" y="1385888"/>
            <a:ext cx="6472237" cy="5103812"/>
          </a:xfrm>
        </p:spPr>
        <p:txBody>
          <a:bodyPr/>
          <a:lstStyle/>
          <a:p>
            <a:r>
              <a:rPr lang="en-GB" dirty="0"/>
              <a:t>Ibuprofen can be synthesised industrially by a six-step process.</a:t>
            </a:r>
          </a:p>
          <a:p>
            <a:pPr marL="285750" indent="-285750">
              <a:buFont typeface="Arial" panose="020B0604020202020204" pitchFamily="34" charset="0"/>
              <a:buChar char="•"/>
            </a:pPr>
            <a:r>
              <a:rPr lang="en-GB" dirty="0"/>
              <a:t>You don’t need to understand the details of individual steps!</a:t>
            </a:r>
          </a:p>
          <a:p>
            <a:pPr marL="285750" indent="-285750">
              <a:buFont typeface="Arial" panose="020B0604020202020204" pitchFamily="34" charset="0"/>
              <a:buChar char="•"/>
            </a:pPr>
            <a:endParaRPr lang="en-GB" dirty="0"/>
          </a:p>
          <a:p>
            <a:r>
              <a:rPr lang="en-GB" dirty="0"/>
              <a:t>Molecular weight of reactants = 134.22 + 102.09 + 122.55 + 68.05 + 19.02 + 33.03 + 36.04 = </a:t>
            </a:r>
            <a:r>
              <a:rPr lang="en-GB" b="1" dirty="0"/>
              <a:t>515.00</a:t>
            </a:r>
          </a:p>
          <a:p>
            <a:endParaRPr lang="en-GB" dirty="0"/>
          </a:p>
          <a:p>
            <a:r>
              <a:rPr lang="en-GB" dirty="0"/>
              <a:t>Molecular weight of product = 206.29</a:t>
            </a:r>
          </a:p>
          <a:p>
            <a:endParaRPr lang="en-GB" dirty="0"/>
          </a:p>
          <a:p>
            <a:r>
              <a:rPr lang="en-GB" dirty="0"/>
              <a:t>Atom efficiency = 206.29 / 515.00 x 100% = </a:t>
            </a:r>
            <a:r>
              <a:rPr lang="en-GB" b="1" dirty="0"/>
              <a:t>40%</a:t>
            </a:r>
          </a:p>
          <a:p>
            <a:endParaRPr lang="en-GB" b="1" dirty="0"/>
          </a:p>
          <a:p>
            <a:r>
              <a:rPr lang="en-GB" b="1" dirty="0"/>
              <a:t>60% of atoms using in the synthesis are wasted!</a:t>
            </a:r>
          </a:p>
        </p:txBody>
      </p:sp>
      <p:pic>
        <p:nvPicPr>
          <p:cNvPr id="4" name="Picture 1">
            <a:extLst>
              <a:ext uri="{FF2B5EF4-FFF2-40B4-BE49-F238E27FC236}">
                <a16:creationId xmlns:a16="http://schemas.microsoft.com/office/drawing/2014/main" id="{7CFDD365-EBED-D354-9203-8872569F7495}"/>
              </a:ext>
            </a:extLst>
          </p:cNvPr>
          <p:cNvPicPr>
            <a:picLocks noChangeAspect="1" noChangeArrowheads="1"/>
          </p:cNvPicPr>
          <p:nvPr/>
        </p:nvPicPr>
        <p:blipFill>
          <a:blip r:embed="rId2" r:link="rId3">
            <a:clrChange>
              <a:clrFrom>
                <a:srgbClr val="FFFFFF"/>
              </a:clrFrom>
              <a:clrTo>
                <a:srgbClr val="FFFFFF">
                  <a:alpha val="0"/>
                </a:srgbClr>
              </a:clrTo>
            </a:clrChange>
            <a:extLst>
              <a:ext uri="{28A0092B-C50C-407E-A947-70E740481C1C}">
                <a14:useLocalDpi xmlns:a14="http://schemas.microsoft.com/office/drawing/2010/main" val="0"/>
              </a:ext>
            </a:extLst>
          </a:blip>
          <a:srcRect t="4529"/>
          <a:stretch>
            <a:fillRect/>
          </a:stretch>
        </p:blipFill>
        <p:spPr bwMode="auto">
          <a:xfrm>
            <a:off x="7009266" y="657225"/>
            <a:ext cx="4847772" cy="583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4378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1451-8B22-FD04-0576-A0794FB37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778F0-94CE-A5DD-FCD0-659AA2E6EC33}"/>
              </a:ext>
            </a:extLst>
          </p:cNvPr>
          <p:cNvSpPr>
            <a:spLocks noGrp="1"/>
          </p:cNvSpPr>
          <p:nvPr>
            <p:ph type="title"/>
          </p:nvPr>
        </p:nvSpPr>
        <p:spPr/>
        <p:txBody>
          <a:bodyPr/>
          <a:lstStyle/>
          <a:p>
            <a:r>
              <a:rPr lang="en-GB" dirty="0"/>
              <a:t>Example: synthesis of ibuprofen</a:t>
            </a:r>
          </a:p>
        </p:txBody>
      </p:sp>
      <p:sp>
        <p:nvSpPr>
          <p:cNvPr id="3" name="Table Placeholder 2">
            <a:extLst>
              <a:ext uri="{FF2B5EF4-FFF2-40B4-BE49-F238E27FC236}">
                <a16:creationId xmlns:a16="http://schemas.microsoft.com/office/drawing/2014/main" id="{94A6DDFA-24F8-C1A0-70CB-22AA2BDF8841}"/>
              </a:ext>
            </a:extLst>
          </p:cNvPr>
          <p:cNvSpPr>
            <a:spLocks noGrp="1"/>
          </p:cNvSpPr>
          <p:nvPr>
            <p:ph type="tbl" sz="quarter" idx="10"/>
          </p:nvPr>
        </p:nvSpPr>
        <p:spPr>
          <a:xfrm>
            <a:off x="334963" y="1385888"/>
            <a:ext cx="6472237" cy="5103812"/>
          </a:xfrm>
        </p:spPr>
        <p:txBody>
          <a:bodyPr/>
          <a:lstStyle/>
          <a:p>
            <a:r>
              <a:rPr lang="en-GB" dirty="0"/>
              <a:t>Modern synthetic routes are often </a:t>
            </a:r>
            <a:r>
              <a:rPr lang="en-GB" b="1" dirty="0"/>
              <a:t>designed to have greater atom economy</a:t>
            </a:r>
            <a:r>
              <a:rPr lang="en-GB" dirty="0"/>
              <a:t>.</a:t>
            </a:r>
          </a:p>
          <a:p>
            <a:endParaRPr lang="en-GB" dirty="0"/>
          </a:p>
          <a:p>
            <a:r>
              <a:rPr lang="en-GB" dirty="0"/>
              <a:t>This reduces waste on the molecular level!</a:t>
            </a:r>
          </a:p>
          <a:p>
            <a:endParaRPr lang="en-GB" dirty="0"/>
          </a:p>
          <a:p>
            <a:r>
              <a:rPr lang="en-GB" dirty="0"/>
              <a:t>On an industrial scale, this can have a </a:t>
            </a:r>
            <a:r>
              <a:rPr lang="en-GB" b="1" dirty="0"/>
              <a:t>large impact on waste</a:t>
            </a:r>
            <a:r>
              <a:rPr lang="en-GB" dirty="0"/>
              <a:t>.</a:t>
            </a:r>
          </a:p>
          <a:p>
            <a:endParaRPr lang="en-GB" dirty="0"/>
          </a:p>
          <a:p>
            <a:r>
              <a:rPr lang="en-GB" b="1" dirty="0"/>
              <a:t>Exercise:</a:t>
            </a:r>
            <a:r>
              <a:rPr lang="en-GB" dirty="0"/>
              <a:t> calculate the atom efficiency of this more modern synthesis of ibuprofen and compare with the last slide.</a:t>
            </a:r>
          </a:p>
        </p:txBody>
      </p:sp>
      <p:pic>
        <p:nvPicPr>
          <p:cNvPr id="5" name="Picture 3" descr="A diagram of chemical formulas&#10;&#10;Description automatically generated">
            <a:extLst>
              <a:ext uri="{FF2B5EF4-FFF2-40B4-BE49-F238E27FC236}">
                <a16:creationId xmlns:a16="http://schemas.microsoft.com/office/drawing/2014/main" id="{C6708D4A-D128-1F9D-EAB4-2C63F8E7E371}"/>
              </a:ext>
            </a:extLst>
          </p:cNvPr>
          <p:cNvPicPr>
            <a:picLocks noChangeAspect="1" noChangeArrowheads="1"/>
          </p:cNvPicPr>
          <p:nvPr/>
        </p:nvPicPr>
        <p:blipFill>
          <a:blip r:embed="rId2" r:link="rId3">
            <a:clrChange>
              <a:clrFrom>
                <a:srgbClr val="FFFFFF"/>
              </a:clrFrom>
              <a:clrTo>
                <a:srgbClr val="FFFFFF">
                  <a:alpha val="0"/>
                </a:srgbClr>
              </a:clrTo>
            </a:clrChange>
            <a:extLst>
              <a:ext uri="{28A0092B-C50C-407E-A947-70E740481C1C}">
                <a14:useLocalDpi xmlns:a14="http://schemas.microsoft.com/office/drawing/2010/main" val="0"/>
              </a:ext>
            </a:extLst>
          </a:blip>
          <a:srcRect t="5511"/>
          <a:stretch>
            <a:fillRect/>
          </a:stretch>
        </p:blipFill>
        <p:spPr bwMode="auto">
          <a:xfrm>
            <a:off x="7774823" y="265460"/>
            <a:ext cx="2642351" cy="6591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499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05EA5-21C5-914C-CB0F-5A44561FB51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C0D14-B9D1-FFFB-CFC4-33F4F07A8945}"/>
              </a:ext>
            </a:extLst>
          </p:cNvPr>
          <p:cNvSpPr>
            <a:spLocks noGrp="1"/>
          </p:cNvSpPr>
          <p:nvPr>
            <p:ph type="title"/>
          </p:nvPr>
        </p:nvSpPr>
        <p:spPr/>
        <p:txBody>
          <a:bodyPr/>
          <a:lstStyle/>
          <a:p>
            <a:r>
              <a:rPr lang="en-GB" dirty="0"/>
              <a:t>PHAY0002</a:t>
            </a:r>
            <a:br>
              <a:rPr lang="en-GB" dirty="0"/>
            </a:br>
            <a:r>
              <a:rPr lang="en-GB" dirty="0"/>
              <a:t>Pharmaceutical Analysis</a:t>
            </a:r>
          </a:p>
        </p:txBody>
      </p:sp>
      <p:sp>
        <p:nvSpPr>
          <p:cNvPr id="8" name="Subtitle 7">
            <a:extLst>
              <a:ext uri="{FF2B5EF4-FFF2-40B4-BE49-F238E27FC236}">
                <a16:creationId xmlns:a16="http://schemas.microsoft.com/office/drawing/2014/main" id="{B4EEF720-CD84-2A9B-BB66-AB15A8417E4F}"/>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434A1B75-1F71-B421-582A-B661EBA210E3}"/>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851766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BD47-40EB-70CE-50DD-C8233B79B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AE662-B018-A20C-C98B-66D045264CF8}"/>
              </a:ext>
            </a:extLst>
          </p:cNvPr>
          <p:cNvSpPr>
            <a:spLocks noGrp="1"/>
          </p:cNvSpPr>
          <p:nvPr>
            <p:ph type="title"/>
          </p:nvPr>
        </p:nvSpPr>
        <p:spPr/>
        <p:txBody>
          <a:bodyPr/>
          <a:lstStyle/>
          <a:p>
            <a:r>
              <a:rPr lang="en-GB" dirty="0"/>
              <a:t>Introduction and learning objectives</a:t>
            </a:r>
          </a:p>
        </p:txBody>
      </p:sp>
      <p:sp>
        <p:nvSpPr>
          <p:cNvPr id="3" name="Table Placeholder 2">
            <a:extLst>
              <a:ext uri="{FF2B5EF4-FFF2-40B4-BE49-F238E27FC236}">
                <a16:creationId xmlns:a16="http://schemas.microsoft.com/office/drawing/2014/main" id="{2B1ECD2C-4EF1-6507-EA2D-DEE31003F561}"/>
              </a:ext>
            </a:extLst>
          </p:cNvPr>
          <p:cNvSpPr>
            <a:spLocks noGrp="1"/>
          </p:cNvSpPr>
          <p:nvPr>
            <p:ph type="tbl" sz="quarter" idx="10"/>
          </p:nvPr>
        </p:nvSpPr>
        <p:spPr/>
        <p:txBody>
          <a:bodyPr>
            <a:normAutofit lnSpcReduction="10000"/>
          </a:bodyPr>
          <a:lstStyle/>
          <a:p>
            <a:pPr>
              <a:lnSpc>
                <a:spcPct val="160000"/>
              </a:lnSpc>
              <a:spcBef>
                <a:spcPts val="0"/>
              </a:spcBef>
              <a:spcAft>
                <a:spcPts val="0"/>
              </a:spcAft>
            </a:pPr>
            <a:r>
              <a:rPr lang="en-GB" dirty="0"/>
              <a:t>Pharmaceutical analysis ensures medicines are </a:t>
            </a:r>
            <a:r>
              <a:rPr lang="en-GB" b="1" dirty="0"/>
              <a:t>safe</a:t>
            </a:r>
            <a:r>
              <a:rPr lang="en-GB" dirty="0"/>
              <a:t>, </a:t>
            </a:r>
            <a:r>
              <a:rPr lang="en-GB" b="1" dirty="0"/>
              <a:t>effective</a:t>
            </a:r>
            <a:r>
              <a:rPr lang="en-GB" dirty="0"/>
              <a:t>, and </a:t>
            </a:r>
            <a:r>
              <a:rPr lang="en-GB" b="1" dirty="0"/>
              <a:t>contain the correct amount of active ingredient</a:t>
            </a:r>
            <a:r>
              <a:rPr lang="en-GB" dirty="0"/>
              <a:t>. Without reliable analytical methods, we cannot guarantee drug quality or patient safety.</a:t>
            </a:r>
          </a:p>
          <a:p>
            <a:pPr>
              <a:lnSpc>
                <a:spcPct val="160000"/>
              </a:lnSpc>
              <a:spcBef>
                <a:spcPts val="0"/>
              </a:spcBef>
              <a:spcAft>
                <a:spcPts val="0"/>
              </a:spcAft>
            </a:pPr>
            <a:endParaRPr lang="en-GB" dirty="0"/>
          </a:p>
          <a:p>
            <a:pPr>
              <a:lnSpc>
                <a:spcPct val="160000"/>
              </a:lnSpc>
              <a:spcBef>
                <a:spcPts val="0"/>
              </a:spcBef>
              <a:spcAft>
                <a:spcPts val="0"/>
              </a:spcAft>
            </a:pPr>
            <a:r>
              <a:rPr lang="en-GB" b="1" dirty="0"/>
              <a:t>You should understand:</a:t>
            </a:r>
          </a:p>
          <a:p>
            <a:pPr marL="285750" indent="-285750">
              <a:lnSpc>
                <a:spcPct val="160000"/>
              </a:lnSpc>
              <a:spcBef>
                <a:spcPts val="0"/>
              </a:spcBef>
              <a:spcAft>
                <a:spcPts val="0"/>
              </a:spcAft>
              <a:buFont typeface="Arial" panose="020B0604020202020204" pitchFamily="34" charset="0"/>
              <a:buChar char="•"/>
            </a:pPr>
            <a:r>
              <a:rPr lang="en-GB" dirty="0"/>
              <a:t>How chemical reactivity enables quantitative analysis of pharmaceuticals</a:t>
            </a:r>
          </a:p>
          <a:p>
            <a:pPr marL="285750" indent="-285750">
              <a:lnSpc>
                <a:spcPct val="160000"/>
              </a:lnSpc>
              <a:spcBef>
                <a:spcPts val="0"/>
              </a:spcBef>
              <a:spcAft>
                <a:spcPts val="0"/>
              </a:spcAft>
              <a:buFont typeface="Arial" panose="020B0604020202020204" pitchFamily="34" charset="0"/>
              <a:buChar char="•"/>
            </a:pPr>
            <a:r>
              <a:rPr lang="en-GB" dirty="0"/>
              <a:t>When and why different titration methods and indicators are used</a:t>
            </a:r>
          </a:p>
          <a:p>
            <a:pPr marL="285750" indent="-285750">
              <a:lnSpc>
                <a:spcPct val="160000"/>
              </a:lnSpc>
              <a:spcBef>
                <a:spcPts val="0"/>
              </a:spcBef>
              <a:spcAft>
                <a:spcPts val="0"/>
              </a:spcAft>
              <a:buFont typeface="Arial" panose="020B0604020202020204" pitchFamily="34" charset="0"/>
              <a:buChar char="•"/>
            </a:pPr>
            <a:r>
              <a:rPr lang="en-GB" dirty="0"/>
              <a:t>The role of analytical standards in ensuring measurement accuracy</a:t>
            </a:r>
          </a:p>
          <a:p>
            <a:pPr marL="285750" indent="-285750">
              <a:lnSpc>
                <a:spcPct val="160000"/>
              </a:lnSpc>
              <a:spcBef>
                <a:spcPts val="0"/>
              </a:spcBef>
              <a:spcAft>
                <a:spcPts val="0"/>
              </a:spcAft>
              <a:buFont typeface="Arial" panose="020B0604020202020204" pitchFamily="34" charset="0"/>
              <a:buChar char="•"/>
            </a:pPr>
            <a:r>
              <a:rPr lang="en-GB" dirty="0"/>
              <a:t>Why some analyses require back titration procedures</a:t>
            </a:r>
          </a:p>
          <a:p>
            <a:pPr marL="285750" indent="-285750">
              <a:lnSpc>
                <a:spcPct val="160000"/>
              </a:lnSpc>
              <a:spcBef>
                <a:spcPts val="0"/>
              </a:spcBef>
              <a:spcAft>
                <a:spcPts val="0"/>
              </a:spcAft>
              <a:buFont typeface="Arial" panose="020B0604020202020204" pitchFamily="34" charset="0"/>
              <a:buChar char="•"/>
            </a:pPr>
            <a:endParaRPr lang="en-GB" dirty="0"/>
          </a:p>
          <a:p>
            <a:pPr>
              <a:lnSpc>
                <a:spcPct val="160000"/>
              </a:lnSpc>
              <a:spcBef>
                <a:spcPts val="0"/>
              </a:spcBef>
              <a:spcAft>
                <a:spcPts val="0"/>
              </a:spcAft>
            </a:pPr>
            <a:r>
              <a:rPr lang="en-GB" b="1" dirty="0"/>
              <a:t>You should be able to:</a:t>
            </a:r>
          </a:p>
          <a:p>
            <a:pPr marL="285750" indent="-285750">
              <a:lnSpc>
                <a:spcPct val="160000"/>
              </a:lnSpc>
              <a:spcBef>
                <a:spcPts val="0"/>
              </a:spcBef>
              <a:spcAft>
                <a:spcPts val="0"/>
              </a:spcAft>
              <a:buFont typeface="Arial" panose="020B0604020202020204" pitchFamily="34" charset="0"/>
              <a:buChar char="•"/>
            </a:pPr>
            <a:r>
              <a:rPr lang="en-GB" dirty="0"/>
              <a:t>Calculate drug purity and content from titration data</a:t>
            </a:r>
          </a:p>
          <a:p>
            <a:pPr marL="285750" indent="-285750">
              <a:lnSpc>
                <a:spcPct val="160000"/>
              </a:lnSpc>
              <a:spcBef>
                <a:spcPts val="0"/>
              </a:spcBef>
              <a:spcAft>
                <a:spcPts val="0"/>
              </a:spcAft>
              <a:buFont typeface="Arial" panose="020B0604020202020204" pitchFamily="34" charset="0"/>
              <a:buChar char="•"/>
            </a:pPr>
            <a:r>
              <a:rPr lang="en-GB" dirty="0"/>
              <a:t>Analyse gravimetric and loss-on-drying results to determine substance quality</a:t>
            </a:r>
          </a:p>
        </p:txBody>
      </p:sp>
    </p:spTree>
    <p:extLst>
      <p:ext uri="{BB962C8B-B14F-4D97-AF65-F5344CB8AC3E}">
        <p14:creationId xmlns:p14="http://schemas.microsoft.com/office/powerpoint/2010/main" val="721367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CC01-3F87-25E5-76FB-680BE3E8AE1F}"/>
              </a:ext>
            </a:extLst>
          </p:cNvPr>
          <p:cNvSpPr>
            <a:spLocks noGrp="1"/>
          </p:cNvSpPr>
          <p:nvPr>
            <p:ph type="title"/>
          </p:nvPr>
        </p:nvSpPr>
        <p:spPr/>
        <p:txBody>
          <a:bodyPr/>
          <a:lstStyle/>
          <a:p>
            <a:r>
              <a:rPr lang="en-GB" dirty="0"/>
              <a:t>Chemistry in pharmaceutical analysis</a:t>
            </a:r>
          </a:p>
        </p:txBody>
      </p:sp>
      <p:sp>
        <p:nvSpPr>
          <p:cNvPr id="3" name="Table Placeholder 2">
            <a:extLst>
              <a:ext uri="{FF2B5EF4-FFF2-40B4-BE49-F238E27FC236}">
                <a16:creationId xmlns:a16="http://schemas.microsoft.com/office/drawing/2014/main" id="{DBB2000C-7AF7-1716-8538-A9E3D04FD948}"/>
              </a:ext>
            </a:extLst>
          </p:cNvPr>
          <p:cNvSpPr>
            <a:spLocks noGrp="1"/>
          </p:cNvSpPr>
          <p:nvPr>
            <p:ph type="tbl" sz="quarter" idx="10"/>
          </p:nvPr>
        </p:nvSpPr>
        <p:spPr/>
        <p:txBody>
          <a:bodyPr/>
          <a:lstStyle/>
          <a:p>
            <a:r>
              <a:rPr lang="en-GB" dirty="0"/>
              <a:t>Compounds can be assayed for amount or purity by chemical analysis:</a:t>
            </a:r>
          </a:p>
          <a:p>
            <a:endParaRPr lang="en-GB" dirty="0"/>
          </a:p>
          <a:p>
            <a:r>
              <a:rPr lang="en-GB" dirty="0"/>
              <a:t>		</a:t>
            </a:r>
            <a:r>
              <a:rPr lang="en-GB" b="1" dirty="0"/>
              <a:t>A + B → C + D</a:t>
            </a:r>
          </a:p>
          <a:p>
            <a:endParaRPr lang="en-GB" dirty="0"/>
          </a:p>
          <a:p>
            <a:r>
              <a:rPr lang="en-GB" dirty="0"/>
              <a:t>Chemical processes used in analysis should be:</a:t>
            </a:r>
          </a:p>
          <a:p>
            <a:pPr marL="285750" indent="-285750">
              <a:buFont typeface="Arial" panose="020B0604020202020204" pitchFamily="34" charset="0"/>
              <a:buChar char="•"/>
            </a:pPr>
            <a:r>
              <a:rPr lang="en-GB" b="1" dirty="0"/>
              <a:t>Specific </a:t>
            </a:r>
            <a:r>
              <a:rPr lang="en-GB" dirty="0"/>
              <a:t>for the substance being analysed</a:t>
            </a:r>
          </a:p>
          <a:p>
            <a:pPr marL="285750" indent="-285750">
              <a:buFont typeface="Arial" panose="020B0604020202020204" pitchFamily="34" charset="0"/>
              <a:buChar char="•"/>
            </a:pPr>
            <a:r>
              <a:rPr lang="en-GB" dirty="0"/>
              <a:t>React </a:t>
            </a:r>
            <a:r>
              <a:rPr lang="en-GB" b="1" dirty="0"/>
              <a:t>quantitatively</a:t>
            </a:r>
          </a:p>
          <a:p>
            <a:pPr marL="285750" indent="-285750">
              <a:buFont typeface="Arial" panose="020B0604020202020204" pitchFamily="34" charset="0"/>
              <a:buChar char="•"/>
            </a:pPr>
            <a:r>
              <a:rPr lang="en-GB" dirty="0"/>
              <a:t>React at a rate that is </a:t>
            </a:r>
            <a:r>
              <a:rPr lang="en-GB" b="1" dirty="0"/>
              <a:t>fast </a:t>
            </a:r>
            <a:r>
              <a:rPr lang="en-GB" dirty="0"/>
              <a:t>compared to the rate of addition</a:t>
            </a:r>
          </a:p>
          <a:p>
            <a:pPr marL="285750" indent="-285750">
              <a:buFont typeface="Arial" panose="020B0604020202020204" pitchFamily="34" charset="0"/>
              <a:buChar char="•"/>
            </a:pPr>
            <a:r>
              <a:rPr lang="en-GB" dirty="0"/>
              <a:t>Have a suitable </a:t>
            </a:r>
            <a:r>
              <a:rPr lang="en-GB" b="1" dirty="0"/>
              <a:t>indicator </a:t>
            </a:r>
            <a:r>
              <a:rPr lang="en-GB" dirty="0"/>
              <a:t>to show when the reaction is complete</a:t>
            </a:r>
          </a:p>
          <a:p>
            <a:pPr marL="285750" indent="-285750">
              <a:buFont typeface="Arial" panose="020B0604020202020204" pitchFamily="34" charset="0"/>
              <a:buChar char="•"/>
            </a:pPr>
            <a:r>
              <a:rPr lang="en-GB" dirty="0"/>
              <a:t>Be referenced to a suitable </a:t>
            </a:r>
            <a:r>
              <a:rPr lang="en-GB" b="1" dirty="0"/>
              <a:t>standard</a:t>
            </a:r>
          </a:p>
        </p:txBody>
      </p:sp>
    </p:spTree>
    <p:extLst>
      <p:ext uri="{BB962C8B-B14F-4D97-AF65-F5344CB8AC3E}">
        <p14:creationId xmlns:p14="http://schemas.microsoft.com/office/powerpoint/2010/main" val="4638341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891A-DBD4-18B3-56A9-C6A1ED300462}"/>
              </a:ext>
            </a:extLst>
          </p:cNvPr>
          <p:cNvSpPr>
            <a:spLocks noGrp="1"/>
          </p:cNvSpPr>
          <p:nvPr>
            <p:ph type="title"/>
          </p:nvPr>
        </p:nvSpPr>
        <p:spPr/>
        <p:txBody>
          <a:bodyPr/>
          <a:lstStyle/>
          <a:p>
            <a:r>
              <a:rPr lang="en-GB" dirty="0"/>
              <a:t>Outline</a:t>
            </a:r>
          </a:p>
        </p:txBody>
      </p:sp>
      <p:sp>
        <p:nvSpPr>
          <p:cNvPr id="3" name="Table Placeholder 2">
            <a:extLst>
              <a:ext uri="{FF2B5EF4-FFF2-40B4-BE49-F238E27FC236}">
                <a16:creationId xmlns:a16="http://schemas.microsoft.com/office/drawing/2014/main" id="{6DB1B951-F0E1-6075-ACA2-180A9E9989F6}"/>
              </a:ext>
            </a:extLst>
          </p:cNvPr>
          <p:cNvSpPr>
            <a:spLocks noGrp="1"/>
          </p:cNvSpPr>
          <p:nvPr>
            <p:ph type="tbl" sz="quarter" idx="10"/>
          </p:nvPr>
        </p:nvSpPr>
        <p:spPr/>
        <p:txBody>
          <a:bodyPr/>
          <a:lstStyle/>
          <a:p>
            <a:pPr marL="342900" indent="-342900">
              <a:buFont typeface="+mj-lt"/>
              <a:buAutoNum type="arabicPeriod"/>
            </a:pPr>
            <a:r>
              <a:rPr lang="en-GB" sz="1400" dirty="0"/>
              <a:t>Volumetric analysis – titrations</a:t>
            </a:r>
          </a:p>
          <a:p>
            <a:pPr marL="918900" lvl="1" indent="-342900">
              <a:buFont typeface="+mj-lt"/>
              <a:buAutoNum type="arabicPeriod"/>
            </a:pPr>
            <a:r>
              <a:rPr lang="en-GB" sz="1400" dirty="0"/>
              <a:t>How to calculate</a:t>
            </a:r>
          </a:p>
          <a:p>
            <a:pPr marL="342900" indent="-342900">
              <a:buFont typeface="+mj-lt"/>
              <a:buAutoNum type="arabicPeriod"/>
            </a:pPr>
            <a:r>
              <a:rPr lang="en-GB" sz="1400" dirty="0"/>
              <a:t>BP and standards</a:t>
            </a:r>
          </a:p>
          <a:p>
            <a:pPr marL="918900" lvl="1" indent="-342900">
              <a:buFont typeface="+mj-lt"/>
              <a:buAutoNum type="arabicPeriod"/>
            </a:pPr>
            <a:r>
              <a:rPr lang="en-GB" sz="1400" dirty="0"/>
              <a:t>Primary standards</a:t>
            </a:r>
          </a:p>
          <a:p>
            <a:pPr marL="918900" lvl="1" indent="-342900">
              <a:buFont typeface="+mj-lt"/>
              <a:buAutoNum type="arabicPeriod"/>
            </a:pPr>
            <a:r>
              <a:rPr lang="en-GB" sz="1400" dirty="0"/>
              <a:t>Secondary standards</a:t>
            </a:r>
          </a:p>
          <a:p>
            <a:pPr marL="342900" indent="-342900">
              <a:buFont typeface="+mj-lt"/>
              <a:buAutoNum type="arabicPeriod"/>
            </a:pPr>
            <a:r>
              <a:rPr lang="en-GB" sz="1400" dirty="0"/>
              <a:t>Volumetric analysis – indirect ‘back’ titrations</a:t>
            </a:r>
          </a:p>
          <a:p>
            <a:pPr marL="918900" lvl="1" indent="-342900">
              <a:buFont typeface="+mj-lt"/>
              <a:buAutoNum type="arabicPeriod"/>
            </a:pPr>
            <a:r>
              <a:rPr lang="en-GB" sz="1400" dirty="0"/>
              <a:t>Motivation – why are these necessary?</a:t>
            </a:r>
          </a:p>
          <a:p>
            <a:pPr marL="918900" lvl="1" indent="-342900">
              <a:buFont typeface="+mj-lt"/>
              <a:buAutoNum type="arabicPeriod"/>
            </a:pPr>
            <a:r>
              <a:rPr lang="en-GB" sz="1400" dirty="0"/>
              <a:t>Calculation example</a:t>
            </a:r>
          </a:p>
          <a:p>
            <a:pPr marL="342900" indent="-342900">
              <a:buFont typeface="+mj-lt"/>
              <a:buAutoNum type="arabicPeriod"/>
            </a:pPr>
            <a:r>
              <a:rPr lang="en-GB" sz="1400" dirty="0"/>
              <a:t>Volumetric analysis – blank titrations</a:t>
            </a:r>
          </a:p>
          <a:p>
            <a:pPr marL="918900" lvl="1" indent="-342900">
              <a:buFont typeface="+mj-lt"/>
              <a:buAutoNum type="arabicPeriod"/>
            </a:pPr>
            <a:r>
              <a:rPr lang="en-GB" sz="1400" dirty="0"/>
              <a:t>Motivation – when you don’t know the exact concentration of your titrant</a:t>
            </a:r>
          </a:p>
          <a:p>
            <a:pPr marL="918900" lvl="1" indent="-342900">
              <a:buFont typeface="+mj-lt"/>
              <a:buAutoNum type="arabicPeriod"/>
            </a:pPr>
            <a:r>
              <a:rPr lang="en-GB" sz="1400" dirty="0"/>
              <a:t>Calculation example</a:t>
            </a:r>
          </a:p>
          <a:p>
            <a:endParaRPr lang="en-GB" sz="1400" dirty="0"/>
          </a:p>
        </p:txBody>
      </p:sp>
    </p:spTree>
    <p:extLst>
      <p:ext uri="{BB962C8B-B14F-4D97-AF65-F5344CB8AC3E}">
        <p14:creationId xmlns:p14="http://schemas.microsoft.com/office/powerpoint/2010/main" val="276394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9DFB7-FC01-351E-F7E0-5C5A49DD7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F9672-B56B-90A0-B53A-AACEE0BF58DD}"/>
              </a:ext>
            </a:extLst>
          </p:cNvPr>
          <p:cNvSpPr>
            <a:spLocks noGrp="1"/>
          </p:cNvSpPr>
          <p:nvPr>
            <p:ph type="title"/>
          </p:nvPr>
        </p:nvSpPr>
        <p:spPr/>
        <p:txBody>
          <a:bodyPr/>
          <a:lstStyle/>
          <a:p>
            <a:r>
              <a:rPr lang="en-GB" dirty="0"/>
              <a:t>Outline</a:t>
            </a:r>
          </a:p>
        </p:txBody>
      </p:sp>
      <p:sp>
        <p:nvSpPr>
          <p:cNvPr id="3" name="Table Placeholder 2">
            <a:extLst>
              <a:ext uri="{FF2B5EF4-FFF2-40B4-BE49-F238E27FC236}">
                <a16:creationId xmlns:a16="http://schemas.microsoft.com/office/drawing/2014/main" id="{6959D5CC-E06E-74C0-2D17-89EBA19B0F9E}"/>
              </a:ext>
            </a:extLst>
          </p:cNvPr>
          <p:cNvSpPr>
            <a:spLocks noGrp="1"/>
          </p:cNvSpPr>
          <p:nvPr>
            <p:ph type="tbl" sz="quarter" idx="10"/>
          </p:nvPr>
        </p:nvSpPr>
        <p:spPr/>
        <p:txBody>
          <a:bodyPr/>
          <a:lstStyle/>
          <a:p>
            <a:pPr marL="342900" indent="-342900">
              <a:buFont typeface="+mj-lt"/>
              <a:buAutoNum type="arabicPeriod"/>
            </a:pPr>
            <a:r>
              <a:rPr lang="en-GB" sz="1400" dirty="0" err="1"/>
              <a:t>Acidometric</a:t>
            </a:r>
            <a:r>
              <a:rPr lang="en-GB" sz="1400" dirty="0"/>
              <a:t> and alkalimetric titrations</a:t>
            </a:r>
          </a:p>
          <a:p>
            <a:pPr marL="918900" lvl="1" indent="-342900">
              <a:buFont typeface="+mj-lt"/>
              <a:buAutoNum type="arabicPeriod"/>
            </a:pPr>
            <a:r>
              <a:rPr lang="en-GB" sz="1400" dirty="0"/>
              <a:t>Indicators</a:t>
            </a:r>
          </a:p>
          <a:p>
            <a:pPr marL="918900" lvl="1" indent="-342900">
              <a:buFont typeface="+mj-lt"/>
              <a:buAutoNum type="arabicPeriod"/>
            </a:pPr>
            <a:r>
              <a:rPr lang="en-GB" sz="1400" dirty="0"/>
              <a:t>Non-aqueous titrations</a:t>
            </a:r>
          </a:p>
          <a:p>
            <a:pPr marL="342900" indent="-342900">
              <a:buFont typeface="+mj-lt"/>
              <a:buAutoNum type="arabicPeriod"/>
            </a:pPr>
            <a:r>
              <a:rPr lang="en-GB" sz="1400" dirty="0"/>
              <a:t>Other types of titration reaction</a:t>
            </a:r>
          </a:p>
          <a:p>
            <a:pPr marL="918900" lvl="1" indent="-342900">
              <a:buFont typeface="+mj-lt"/>
              <a:buAutoNum type="arabicPeriod"/>
            </a:pPr>
            <a:r>
              <a:rPr lang="en-GB" sz="1400" dirty="0"/>
              <a:t>Redox</a:t>
            </a:r>
          </a:p>
          <a:p>
            <a:pPr marL="918900" lvl="1" indent="-342900">
              <a:buFont typeface="+mj-lt"/>
              <a:buAutoNum type="arabicPeriod"/>
            </a:pPr>
            <a:r>
              <a:rPr lang="en-GB" sz="1400" dirty="0"/>
              <a:t>Complexation</a:t>
            </a:r>
          </a:p>
          <a:p>
            <a:pPr marL="918900" lvl="1" indent="-342900">
              <a:buFont typeface="+mj-lt"/>
              <a:buAutoNum type="arabicPeriod"/>
            </a:pPr>
            <a:r>
              <a:rPr lang="en-GB" sz="1400" dirty="0"/>
              <a:t>Precipitation</a:t>
            </a:r>
          </a:p>
          <a:p>
            <a:pPr marL="342900" indent="-342900">
              <a:buFont typeface="+mj-lt"/>
              <a:buAutoNum type="arabicPeriod"/>
            </a:pPr>
            <a:r>
              <a:rPr lang="en-GB" sz="1400" dirty="0"/>
              <a:t>Gravimetric analysis (brief)</a:t>
            </a:r>
          </a:p>
          <a:p>
            <a:pPr marL="342900" indent="-342900">
              <a:buFont typeface="+mj-lt"/>
              <a:buAutoNum type="arabicPeriod"/>
            </a:pPr>
            <a:r>
              <a:rPr lang="en-GB" sz="1400" dirty="0"/>
              <a:t>Loss on drying</a:t>
            </a:r>
          </a:p>
          <a:p>
            <a:pPr marL="342900" indent="-342900">
              <a:buFont typeface="+mj-lt"/>
              <a:buAutoNum type="arabicPeriod"/>
            </a:pPr>
            <a:r>
              <a:rPr lang="en-GB" sz="1400" dirty="0"/>
              <a:t>Conversion factors</a:t>
            </a:r>
          </a:p>
        </p:txBody>
      </p:sp>
    </p:spTree>
    <p:extLst>
      <p:ext uri="{BB962C8B-B14F-4D97-AF65-F5344CB8AC3E}">
        <p14:creationId xmlns:p14="http://schemas.microsoft.com/office/powerpoint/2010/main" val="20598822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4D3F-A213-CD90-EA25-970E45BC4C56}"/>
              </a:ext>
            </a:extLst>
          </p:cNvPr>
          <p:cNvSpPr>
            <a:spLocks noGrp="1"/>
          </p:cNvSpPr>
          <p:nvPr>
            <p:ph type="title"/>
          </p:nvPr>
        </p:nvSpPr>
        <p:spPr/>
        <p:txBody>
          <a:bodyPr/>
          <a:lstStyle/>
          <a:p>
            <a:r>
              <a:rPr lang="en-GB" dirty="0"/>
              <a:t>Volumetric analysis – practical aspects</a:t>
            </a:r>
          </a:p>
        </p:txBody>
      </p:sp>
      <p:sp>
        <p:nvSpPr>
          <p:cNvPr id="3" name="Table Placeholder 2">
            <a:extLst>
              <a:ext uri="{FF2B5EF4-FFF2-40B4-BE49-F238E27FC236}">
                <a16:creationId xmlns:a16="http://schemas.microsoft.com/office/drawing/2014/main" id="{0C7CCDEF-AC04-C3E0-B02A-D7410BE673CF}"/>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involves measuring, by volume, the amount of a reagent of known concentration (the </a:t>
            </a:r>
            <a:r>
              <a:rPr lang="en-GB" b="1" dirty="0"/>
              <a:t>titrant</a:t>
            </a:r>
            <a:r>
              <a:rPr lang="en-GB" dirty="0"/>
              <a:t>) which will react with the substance being determined (the </a:t>
            </a:r>
            <a:r>
              <a:rPr lang="en-GB" b="1" dirty="0" err="1"/>
              <a:t>titrand</a:t>
            </a:r>
            <a:r>
              <a:rPr lang="en-GB" b="1" dirty="0"/>
              <a:t> </a:t>
            </a:r>
            <a:r>
              <a:rPr lang="en-GB" dirty="0"/>
              <a:t>or </a:t>
            </a:r>
            <a:r>
              <a:rPr lang="en-GB" b="1" dirty="0"/>
              <a:t>analyte</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If the reaction proceeds according to a definite chemical equation, then from the volume of titrant used the amount of substance originally present may be calculated.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typical titration involves the following steps:</a:t>
            </a:r>
          </a:p>
          <a:p>
            <a:pPr marL="918900" lvl="1" indent="-342900">
              <a:buFont typeface="+mj-lt"/>
              <a:buAutoNum type="arabicPeriod"/>
            </a:pPr>
            <a:r>
              <a:rPr lang="en-GB" dirty="0"/>
              <a:t>A known mass or volume of the analyte is measured into a conical flask, then dissolved in water (or other suitable reagent)</a:t>
            </a:r>
          </a:p>
          <a:p>
            <a:pPr marL="918900" lvl="1" indent="-342900">
              <a:buFont typeface="+mj-lt"/>
              <a:buAutoNum type="arabicPeriod"/>
            </a:pPr>
            <a:r>
              <a:rPr lang="en-GB" dirty="0"/>
              <a:t>An </a:t>
            </a:r>
            <a:r>
              <a:rPr lang="en-GB" b="1" dirty="0"/>
              <a:t>indicator </a:t>
            </a:r>
            <a:r>
              <a:rPr lang="en-GB" dirty="0"/>
              <a:t>is added</a:t>
            </a:r>
          </a:p>
          <a:p>
            <a:pPr marL="918900" lvl="1" indent="-342900">
              <a:buFont typeface="+mj-lt"/>
              <a:buAutoNum type="arabicPeriod"/>
            </a:pPr>
            <a:r>
              <a:rPr lang="en-GB" dirty="0"/>
              <a:t>The titrant is added from a burette until the indicator changes colour – the </a:t>
            </a:r>
            <a:r>
              <a:rPr lang="en-GB" b="1" dirty="0"/>
              <a:t>end-point</a:t>
            </a:r>
          </a:p>
          <a:p>
            <a:pPr marL="918900" lvl="1" indent="-342900">
              <a:buFont typeface="+mj-lt"/>
              <a:buAutoNum type="arabicPeriod"/>
            </a:pPr>
            <a:r>
              <a:rPr lang="en-GB" dirty="0"/>
              <a:t>From the volume of titrant added the amount of substance of interest is calculated</a:t>
            </a:r>
          </a:p>
        </p:txBody>
      </p:sp>
      <p:grpSp>
        <p:nvGrpSpPr>
          <p:cNvPr id="6" name="Group 5">
            <a:extLst>
              <a:ext uri="{FF2B5EF4-FFF2-40B4-BE49-F238E27FC236}">
                <a16:creationId xmlns:a16="http://schemas.microsoft.com/office/drawing/2014/main" id="{D9EC5C16-E627-760C-706A-5563471399C9}"/>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B8285A45-98C4-A07E-3B77-4AA6AD75F9CE}"/>
                </a:ext>
              </a:extLst>
            </p:cNvPr>
            <p:cNvPicPr/>
            <p:nvPr/>
          </p:nvPicPr>
          <p:blipFill>
            <a:blip r:embed="rId2"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DD37C9B8-218B-A95A-FCB5-9234A59ED36F}"/>
                </a:ext>
              </a:extLst>
            </p:cNvPr>
            <p:cNvPicPr/>
            <p:nvPr/>
          </p:nvPicPr>
          <p:blipFill>
            <a:blip r:embed="rId3"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420757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FAF5-260E-9E2B-8884-DF756C483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43B4B-CA6A-DDDD-0E58-47E6D7EA31F9}"/>
              </a:ext>
            </a:extLst>
          </p:cNvPr>
          <p:cNvSpPr>
            <a:spLocks noGrp="1"/>
          </p:cNvSpPr>
          <p:nvPr>
            <p:ph type="title"/>
          </p:nvPr>
        </p:nvSpPr>
        <p:spPr/>
        <p:txBody>
          <a:bodyPr/>
          <a:lstStyle/>
          <a:p>
            <a:r>
              <a:rPr lang="en-GB" dirty="0"/>
              <a:t>Volumetric analysis – indicators</a:t>
            </a:r>
          </a:p>
        </p:txBody>
      </p:sp>
      <p:sp>
        <p:nvSpPr>
          <p:cNvPr id="3" name="Table Placeholder 2">
            <a:extLst>
              <a:ext uri="{FF2B5EF4-FFF2-40B4-BE49-F238E27FC236}">
                <a16:creationId xmlns:a16="http://schemas.microsoft.com/office/drawing/2014/main" id="{0649F699-4527-A6F8-F225-51A178DFD46A}"/>
              </a:ext>
            </a:extLst>
          </p:cNvPr>
          <p:cNvSpPr>
            <a:spLocks noGrp="1"/>
          </p:cNvSpPr>
          <p:nvPr>
            <p:ph type="tbl" sz="quarter" idx="10"/>
          </p:nvPr>
        </p:nvSpPr>
        <p:spPr>
          <a:xfrm>
            <a:off x="334962" y="1385888"/>
            <a:ext cx="11405933" cy="5103812"/>
          </a:xfrm>
        </p:spPr>
        <p:txBody>
          <a:bodyPr/>
          <a:lstStyle/>
          <a:p>
            <a:pPr marL="285750" indent="-285750">
              <a:buFont typeface="Arial" panose="020B0604020202020204" pitchFamily="34" charset="0"/>
              <a:buChar char="•"/>
            </a:pPr>
            <a:r>
              <a:rPr lang="en-GB" dirty="0"/>
              <a:t>Indicators </a:t>
            </a:r>
            <a:r>
              <a:rPr lang="en-GB" b="1" dirty="0"/>
              <a:t>show visibly when a reaction is complete</a:t>
            </a:r>
            <a:r>
              <a:rPr lang="en-GB" dirty="0"/>
              <a:t>, by giving a colour reaction with the reagent being added, or substance being determined, so that a small excess of either may be detected.</a:t>
            </a:r>
          </a:p>
          <a:p>
            <a:pPr marL="285750" indent="-285750">
              <a:buFont typeface="Arial" panose="020B0604020202020204" pitchFamily="34" charset="0"/>
              <a:buChar char="•"/>
            </a:pPr>
            <a:r>
              <a:rPr lang="en-GB" dirty="0"/>
              <a:t>Ideally, an indicator should change colour when the amount of reagent added equals that required by the stoichiometry of the reaction.</a:t>
            </a:r>
          </a:p>
          <a:p>
            <a:pPr marL="861750" lvl="1" indent="-285750">
              <a:buFont typeface="Arial" panose="020B0604020202020204" pitchFamily="34" charset="0"/>
              <a:buChar char="•"/>
            </a:pPr>
            <a:r>
              <a:rPr lang="en-GB" dirty="0"/>
              <a:t>This is the stoichiometric point or </a:t>
            </a:r>
            <a:r>
              <a:rPr lang="en-GB" b="1" dirty="0"/>
              <a:t>equivalence point </a:t>
            </a:r>
            <a:r>
              <a:rPr lang="en-GB" dirty="0"/>
              <a:t>of the titration.</a:t>
            </a:r>
          </a:p>
          <a:p>
            <a:pPr marL="285750" indent="-285750">
              <a:buFont typeface="Arial" panose="020B0604020202020204" pitchFamily="34" charset="0"/>
              <a:buChar char="•"/>
            </a:pPr>
            <a:r>
              <a:rPr lang="en-GB" dirty="0"/>
              <a:t>The point in the titration when the colour change </a:t>
            </a:r>
            <a:r>
              <a:rPr lang="en-GB" b="1" dirty="0"/>
              <a:t>actually </a:t>
            </a:r>
            <a:r>
              <a:rPr lang="en-GB" dirty="0"/>
              <a:t>occurs is known as the </a:t>
            </a:r>
            <a:r>
              <a:rPr lang="en-GB" b="1" dirty="0"/>
              <a:t>end-point </a:t>
            </a:r>
            <a:r>
              <a:rPr lang="en-GB" dirty="0"/>
              <a:t>of the titration.</a:t>
            </a:r>
          </a:p>
          <a:p>
            <a:pPr marL="285750" indent="-285750">
              <a:buFont typeface="Arial" panose="020B0604020202020204" pitchFamily="34" charset="0"/>
              <a:buChar char="•"/>
            </a:pPr>
            <a:r>
              <a:rPr lang="en-GB" dirty="0"/>
              <a:t>The indicator used should be chosen so that the difference between the equivalence point and the end­point is as small as possible.</a:t>
            </a:r>
          </a:p>
          <a:p>
            <a:pPr marL="285750" indent="-285750">
              <a:buFont typeface="Arial" panose="020B0604020202020204" pitchFamily="34" charset="0"/>
              <a:buChar char="•"/>
            </a:pPr>
            <a:r>
              <a:rPr lang="en-GB" dirty="0"/>
              <a:t>This difference is known as the </a:t>
            </a:r>
            <a:r>
              <a:rPr lang="en-GB" b="1" dirty="0"/>
              <a:t>titration error</a:t>
            </a:r>
            <a:r>
              <a:rPr lang="en-GB" dirty="0"/>
              <a:t>.</a:t>
            </a:r>
          </a:p>
          <a:p>
            <a:endParaRPr lang="en-GB" dirty="0"/>
          </a:p>
        </p:txBody>
      </p:sp>
    </p:spTree>
    <p:extLst>
      <p:ext uri="{BB962C8B-B14F-4D97-AF65-F5344CB8AC3E}">
        <p14:creationId xmlns:p14="http://schemas.microsoft.com/office/powerpoint/2010/main" val="115212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4B1FC-0267-1D27-AF29-C163B4774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56D96-6886-EC42-5156-044651900837}"/>
              </a:ext>
            </a:extLst>
          </p:cNvPr>
          <p:cNvSpPr>
            <a:spLocks noGrp="1"/>
          </p:cNvSpPr>
          <p:nvPr>
            <p:ph type="title"/>
          </p:nvPr>
        </p:nvSpPr>
        <p:spPr/>
        <p:txBody>
          <a:bodyPr/>
          <a:lstStyle/>
          <a:p>
            <a:r>
              <a:rPr lang="en-GB" dirty="0"/>
              <a:t>Volumetric analysis – calculation principles</a:t>
            </a:r>
          </a:p>
        </p:txBody>
      </p:sp>
      <p:sp>
        <p:nvSpPr>
          <p:cNvPr id="3" name="Table Placeholder 2">
            <a:extLst>
              <a:ext uri="{FF2B5EF4-FFF2-40B4-BE49-F238E27FC236}">
                <a16:creationId xmlns:a16="http://schemas.microsoft.com/office/drawing/2014/main" id="{7FD13202-F2E8-4C05-8071-BB667B97F36B}"/>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determines the amount of one substance by measuring how much of another substance is needed to react with it completely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key principle is reaching the </a:t>
            </a:r>
            <a:r>
              <a:rPr lang="en-GB" b="1" dirty="0"/>
              <a:t>equivalence point </a:t>
            </a:r>
            <a:r>
              <a:rPr lang="en-GB" dirty="0"/>
              <a:t>– where the number of moles of titrant added exactly matches the number of moles of analyte present </a:t>
            </a:r>
            <a:r>
              <a:rPr lang="en-GB" b="1" dirty="0"/>
              <a:t>(accounting for the reaction stoichiometry)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in a </a:t>
            </a:r>
            <a:r>
              <a:rPr lang="en-GB" b="1" dirty="0"/>
              <a:t>1:1 reaction </a:t>
            </a:r>
            <a:r>
              <a:rPr lang="en-GB" dirty="0"/>
              <a:t>like HCl + NaOH → NaCl + H₂O</a:t>
            </a:r>
            <a:br>
              <a:rPr lang="en-GB" dirty="0"/>
            </a:br>
            <a:r>
              <a:rPr lang="en-GB" dirty="0"/>
              <a:t>equivalence occurs when </a:t>
            </a:r>
            <a:r>
              <a:rPr lang="en-GB" b="1" dirty="0"/>
              <a:t>number of moles </a:t>
            </a:r>
            <a:r>
              <a:rPr lang="en-GB" dirty="0"/>
              <a:t>of HCl = </a:t>
            </a:r>
            <a:r>
              <a:rPr lang="en-GB" b="1" dirty="0"/>
              <a:t>number of moles </a:t>
            </a:r>
            <a:r>
              <a:rPr lang="en-GB" dirty="0"/>
              <a:t>of NaOH added</a:t>
            </a:r>
          </a:p>
        </p:txBody>
      </p:sp>
      <p:grpSp>
        <p:nvGrpSpPr>
          <p:cNvPr id="6" name="Group 5">
            <a:extLst>
              <a:ext uri="{FF2B5EF4-FFF2-40B4-BE49-F238E27FC236}">
                <a16:creationId xmlns:a16="http://schemas.microsoft.com/office/drawing/2014/main" id="{EC265C51-7797-8743-4F21-2C2BD5C1F3E0}"/>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FBF76ADD-81FD-D6B3-819C-21620C4E918D}"/>
                </a:ext>
              </a:extLst>
            </p:cNvPr>
            <p:cNvPicPr/>
            <p:nvPr/>
          </p:nvPicPr>
          <p:blipFill>
            <a:blip r:embed="rId3"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F4457092-CFEF-7EC0-6111-104B0234551D}"/>
                </a:ext>
              </a:extLst>
            </p:cNvPr>
            <p:cNvPicPr/>
            <p:nvPr/>
          </p:nvPicPr>
          <p:blipFill>
            <a:blip r:embed="rId4"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2656072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91F5-FFFE-FA1E-7249-0B8736ED4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2AA24-718F-D7A1-4B3C-7CE8C00F9CD5}"/>
              </a:ext>
            </a:extLst>
          </p:cNvPr>
          <p:cNvSpPr>
            <a:spLocks noGrp="1"/>
          </p:cNvSpPr>
          <p:nvPr>
            <p:ph type="title"/>
          </p:nvPr>
        </p:nvSpPr>
        <p:spPr/>
        <p:txBody>
          <a:bodyPr/>
          <a:lstStyle/>
          <a:p>
            <a:r>
              <a:rPr lang="en-GB" dirty="0"/>
              <a:t>Volumetric analysis – calculation principles</a:t>
            </a:r>
          </a:p>
        </p:txBody>
      </p:sp>
      <p:sp>
        <p:nvSpPr>
          <p:cNvPr id="3" name="Table Placeholder 2">
            <a:extLst>
              <a:ext uri="{FF2B5EF4-FFF2-40B4-BE49-F238E27FC236}">
                <a16:creationId xmlns:a16="http://schemas.microsoft.com/office/drawing/2014/main" id="{F3F14A02-0347-E24B-A759-E4D4E66DBE82}"/>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determines the amount of one substance by measuring how much of another substance is needed to react with it completely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key principle is reaching the </a:t>
            </a:r>
            <a:r>
              <a:rPr lang="en-GB" b="1" dirty="0"/>
              <a:t>equivalence point </a:t>
            </a:r>
            <a:r>
              <a:rPr lang="en-GB" dirty="0"/>
              <a:t>– where the number of moles of titrant added exactly matches the number of moles of analyte present </a:t>
            </a:r>
            <a:r>
              <a:rPr lang="en-GB" b="1" dirty="0"/>
              <a:t>(accounting for the reaction stoichiometry)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 reactions with </a:t>
            </a:r>
            <a:r>
              <a:rPr lang="en-GB" b="1" dirty="0"/>
              <a:t>different stoichiometries </a:t>
            </a:r>
            <a:r>
              <a:rPr lang="en-GB" dirty="0"/>
              <a:t>(e.g. 2HCl + </a:t>
            </a:r>
            <a:r>
              <a:rPr lang="en-GB" dirty="0" err="1"/>
              <a:t>Na₂CO</a:t>
            </a:r>
            <a:r>
              <a:rPr lang="en-GB" dirty="0"/>
              <a:t>₃ → 2NaCl + CO₂ + H₂O),</a:t>
            </a:r>
            <a:br>
              <a:rPr lang="en-GB" dirty="0"/>
            </a:br>
            <a:r>
              <a:rPr lang="en-GB" dirty="0"/>
              <a:t>equivalence occurs when the ratio of amounts matches the balanced equation</a:t>
            </a:r>
            <a:br>
              <a:rPr lang="en-GB" dirty="0"/>
            </a:br>
            <a:r>
              <a:rPr lang="en-GB" dirty="0"/>
              <a:t>(here, 2 moles HCl for every 1 mole </a:t>
            </a:r>
            <a:r>
              <a:rPr lang="en-GB" dirty="0" err="1"/>
              <a:t>Na₂CO</a:t>
            </a:r>
            <a:r>
              <a:rPr lang="en-GB" dirty="0"/>
              <a:t>₃)</a:t>
            </a:r>
          </a:p>
          <a:p>
            <a:pPr marL="285750" indent="-285750">
              <a:buFont typeface="Arial" panose="020B0604020202020204" pitchFamily="34" charset="0"/>
              <a:buChar char="•"/>
            </a:pPr>
            <a:endParaRPr lang="en-GB" dirty="0"/>
          </a:p>
        </p:txBody>
      </p:sp>
      <p:grpSp>
        <p:nvGrpSpPr>
          <p:cNvPr id="6" name="Group 5">
            <a:extLst>
              <a:ext uri="{FF2B5EF4-FFF2-40B4-BE49-F238E27FC236}">
                <a16:creationId xmlns:a16="http://schemas.microsoft.com/office/drawing/2014/main" id="{1F7A79D2-23DC-1AC5-FA2C-678951E9775E}"/>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ECF396BF-5C38-F784-F88A-8EA4D98EEE2E}"/>
                </a:ext>
              </a:extLst>
            </p:cNvPr>
            <p:cNvPicPr/>
            <p:nvPr/>
          </p:nvPicPr>
          <p:blipFill>
            <a:blip r:embed="rId2"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985CCCCE-5F47-9012-971D-F60082A98686}"/>
                </a:ext>
              </a:extLst>
            </p:cNvPr>
            <p:cNvPicPr/>
            <p:nvPr/>
          </p:nvPicPr>
          <p:blipFill>
            <a:blip r:embed="rId3"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689041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A3308-C6F4-816D-5448-D53E5FCA8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99383-C759-C8D9-AC92-47721673E88F}"/>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9508CBF3-E937-95AB-1F80-A32E882423B6}"/>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p:txBody>
      </p:sp>
    </p:spTree>
    <p:extLst>
      <p:ext uri="{BB962C8B-B14F-4D97-AF65-F5344CB8AC3E}">
        <p14:creationId xmlns:p14="http://schemas.microsoft.com/office/powerpoint/2010/main" val="3801084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D8F5-07CA-F4A8-2FCA-DE3996420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1CF61-14BC-098C-E402-D7528324F43D}"/>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799AC70D-D044-C62E-84A9-AC066E1C37EE}"/>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a:p>
            <a:pPr marL="918900" lvl="1" indent="-342900"/>
            <a:r>
              <a:rPr lang="en-GB" dirty="0"/>
              <a:t>Knowledge: </a:t>
            </a:r>
            <a:r>
              <a:rPr lang="en-GB" i="1" dirty="0"/>
              <a:t>Write a balanced equation for the chemical reaction that’s taking place</a:t>
            </a:r>
          </a:p>
        </p:txBody>
      </p:sp>
      <p:sp>
        <p:nvSpPr>
          <p:cNvPr id="4" name="TextBox 3">
            <a:extLst>
              <a:ext uri="{FF2B5EF4-FFF2-40B4-BE49-F238E27FC236}">
                <a16:creationId xmlns:a16="http://schemas.microsoft.com/office/drawing/2014/main" id="{424D4473-4817-3FA0-45B5-0FDEDF850EC8}"/>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105356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20BB-3467-CA1E-BADE-5B955AEEB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19744-7ACA-8717-C662-D85E1D08C46D}"/>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FB6B2836-96D0-B276-B114-E7F7C3AF3F8A}"/>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a:p>
            <a:pPr marL="918900" lvl="1" indent="-342900"/>
            <a:r>
              <a:rPr lang="en-GB" dirty="0"/>
              <a:t>Knowledge: </a:t>
            </a:r>
            <a:r>
              <a:rPr lang="en-GB" i="1" dirty="0"/>
              <a:t>Write a balanced equation for the chemical reaction that’s taking place</a:t>
            </a:r>
          </a:p>
          <a:p>
            <a:pPr marL="342900" indent="-342900">
              <a:buFont typeface="+mj-lt"/>
              <a:buAutoNum type="arabicPeriod"/>
            </a:pPr>
            <a:r>
              <a:rPr lang="en-GB" b="1" dirty="0"/>
              <a:t>Estimate:</a:t>
            </a:r>
          </a:p>
          <a:p>
            <a:pPr marL="918900" lvl="1" indent="-342900"/>
            <a:r>
              <a:rPr lang="en-GB" dirty="0"/>
              <a:t>Only roughly half the volume of base solution was needed compared to the acid solution, so the base must have about twice the neutralising ability per mL</a:t>
            </a:r>
          </a:p>
          <a:p>
            <a:pPr marL="918900" lvl="1" indent="-342900"/>
            <a:r>
              <a:rPr lang="en-GB" dirty="0"/>
              <a:t>But – each carbonate ion can neutralise two HCl molecules, which doubles its neutralising power!</a:t>
            </a:r>
          </a:p>
          <a:p>
            <a:pPr marL="918900" lvl="1" indent="-342900"/>
            <a:r>
              <a:rPr lang="en-GB" dirty="0"/>
              <a:t>So we estimate the acid concentration is actually about the same as the base, roughly 0.09 M</a:t>
            </a:r>
          </a:p>
        </p:txBody>
      </p:sp>
      <p:sp>
        <p:nvSpPr>
          <p:cNvPr id="4" name="TextBox 3">
            <a:extLst>
              <a:ext uri="{FF2B5EF4-FFF2-40B4-BE49-F238E27FC236}">
                <a16:creationId xmlns:a16="http://schemas.microsoft.com/office/drawing/2014/main" id="{19225FA7-B8C7-B2E5-74D3-0BD3756BE20D}"/>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937393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8F82D-30CD-A59C-E6D6-7E15610ABB25}"/>
            </a:ext>
          </a:extLst>
        </p:cNvPr>
        <p:cNvGrpSpPr/>
        <p:nvPr/>
      </p:nvGrpSpPr>
      <p:grpSpPr>
        <a:xfrm>
          <a:off x="0" y="0"/>
          <a:ext cx="0" cy="0"/>
          <a:chOff x="0" y="0"/>
          <a:chExt cx="0" cy="0"/>
        </a:xfrm>
      </p:grpSpPr>
      <p:sp>
        <p:nvSpPr>
          <p:cNvPr id="3" name="Table Placeholder 2">
            <a:extLst>
              <a:ext uri="{FF2B5EF4-FFF2-40B4-BE49-F238E27FC236}">
                <a16:creationId xmlns:a16="http://schemas.microsoft.com/office/drawing/2014/main" id="{F8865047-7A82-73A0-D75B-34EAE99A6D69}"/>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endParaRPr lang="en-GB" dirty="0"/>
          </a:p>
          <a:p>
            <a:r>
              <a:rPr lang="en-GB" b="1" dirty="0"/>
              <a:t>3. Plan</a:t>
            </a:r>
          </a:p>
          <a:p>
            <a:r>
              <a:rPr lang="en-GB" b="1" dirty="0"/>
              <a:t>4. Execute</a:t>
            </a:r>
          </a:p>
          <a:p>
            <a:r>
              <a:rPr lang="en-GB" b="1" dirty="0"/>
              <a:t>5. Check</a:t>
            </a:r>
          </a:p>
        </p:txBody>
      </p:sp>
      <p:pic>
        <p:nvPicPr>
          <p:cNvPr id="5" name="Picture 4">
            <a:extLst>
              <a:ext uri="{FF2B5EF4-FFF2-40B4-BE49-F238E27FC236}">
                <a16:creationId xmlns:a16="http://schemas.microsoft.com/office/drawing/2014/main" id="{8050A8AD-1EBD-3BE1-86B1-3E2421C9CD74}"/>
              </a:ext>
            </a:extLst>
          </p:cNvPr>
          <p:cNvPicPr>
            <a:picLocks noChangeAspect="1"/>
          </p:cNvPicPr>
          <p:nvPr/>
        </p:nvPicPr>
        <p:blipFill>
          <a:blip r:embed="rId2"/>
          <a:stretch>
            <a:fillRect/>
          </a:stretch>
        </p:blipFill>
        <p:spPr>
          <a:xfrm>
            <a:off x="2060120" y="2408459"/>
            <a:ext cx="9491414" cy="3642329"/>
          </a:xfrm>
          <a:prstGeom prst="rect">
            <a:avLst/>
          </a:prstGeom>
        </p:spPr>
      </p:pic>
      <p:sp>
        <p:nvSpPr>
          <p:cNvPr id="2" name="Title 1">
            <a:extLst>
              <a:ext uri="{FF2B5EF4-FFF2-40B4-BE49-F238E27FC236}">
                <a16:creationId xmlns:a16="http://schemas.microsoft.com/office/drawing/2014/main" id="{E192D440-B03C-7B4E-FA39-8B897CFB9926}"/>
              </a:ext>
            </a:extLst>
          </p:cNvPr>
          <p:cNvSpPr>
            <a:spLocks noGrp="1"/>
          </p:cNvSpPr>
          <p:nvPr>
            <p:ph type="title"/>
          </p:nvPr>
        </p:nvSpPr>
        <p:spPr/>
        <p:txBody>
          <a:bodyPr/>
          <a:lstStyle/>
          <a:p>
            <a:r>
              <a:rPr lang="en-GB" dirty="0"/>
              <a:t>Example: acid-base titration</a:t>
            </a:r>
          </a:p>
        </p:txBody>
      </p:sp>
      <p:sp>
        <p:nvSpPr>
          <p:cNvPr id="4" name="TextBox 3">
            <a:extLst>
              <a:ext uri="{FF2B5EF4-FFF2-40B4-BE49-F238E27FC236}">
                <a16:creationId xmlns:a16="http://schemas.microsoft.com/office/drawing/2014/main" id="{4D0E55CA-21C1-20C5-27D5-CC809B7794D4}"/>
              </a:ext>
            </a:extLst>
          </p:cNvPr>
          <p:cNvSpPr txBox="1"/>
          <p:nvPr/>
        </p:nvSpPr>
        <p:spPr>
          <a:xfrm>
            <a:off x="2336800" y="3340687"/>
            <a:ext cx="1210588" cy="369332"/>
          </a:xfrm>
          <a:prstGeom prst="rect">
            <a:avLst/>
          </a:prstGeom>
          <a:noFill/>
        </p:spPr>
        <p:txBody>
          <a:bodyPr wrap="none" rtlCol="0">
            <a:spAutoFit/>
          </a:bodyPr>
          <a:lstStyle/>
          <a:p>
            <a:pPr algn="ctr"/>
            <a:r>
              <a:rPr lang="en-GB" dirty="0"/>
              <a:t>0.03031 L</a:t>
            </a:r>
          </a:p>
        </p:txBody>
      </p:sp>
      <p:sp>
        <p:nvSpPr>
          <p:cNvPr id="6" name="TextBox 5">
            <a:extLst>
              <a:ext uri="{FF2B5EF4-FFF2-40B4-BE49-F238E27FC236}">
                <a16:creationId xmlns:a16="http://schemas.microsoft.com/office/drawing/2014/main" id="{496A0A47-E023-87AD-A8A1-B68E7ED7B903}"/>
              </a:ext>
            </a:extLst>
          </p:cNvPr>
          <p:cNvSpPr txBox="1"/>
          <p:nvPr/>
        </p:nvSpPr>
        <p:spPr>
          <a:xfrm>
            <a:off x="2368862" y="4717931"/>
            <a:ext cx="1146469" cy="369332"/>
          </a:xfrm>
          <a:prstGeom prst="rect">
            <a:avLst/>
          </a:prstGeom>
          <a:noFill/>
        </p:spPr>
        <p:txBody>
          <a:bodyPr wrap="none" rtlCol="0">
            <a:spAutoFit/>
          </a:bodyPr>
          <a:lstStyle/>
          <a:p>
            <a:pPr algn="ctr"/>
            <a:r>
              <a:rPr lang="en-GB" dirty="0"/>
              <a:t>0.0847 M</a:t>
            </a:r>
          </a:p>
        </p:txBody>
      </p:sp>
      <p:sp>
        <p:nvSpPr>
          <p:cNvPr id="8" name="TextBox 7">
            <a:extLst>
              <a:ext uri="{FF2B5EF4-FFF2-40B4-BE49-F238E27FC236}">
                <a16:creationId xmlns:a16="http://schemas.microsoft.com/office/drawing/2014/main" id="{F8D480DD-B068-0C90-ABA4-197FD5D02E71}"/>
              </a:ext>
            </a:extLst>
          </p:cNvPr>
          <p:cNvSpPr txBox="1"/>
          <p:nvPr/>
        </p:nvSpPr>
        <p:spPr>
          <a:xfrm>
            <a:off x="4510234" y="4018020"/>
            <a:ext cx="1582486" cy="369332"/>
          </a:xfrm>
          <a:prstGeom prst="rect">
            <a:avLst/>
          </a:prstGeom>
          <a:noFill/>
        </p:spPr>
        <p:txBody>
          <a:bodyPr wrap="none" rtlCol="0">
            <a:spAutoFit/>
          </a:bodyPr>
          <a:lstStyle/>
          <a:p>
            <a:pPr algn="ctr"/>
            <a:r>
              <a:rPr lang="en-GB" dirty="0"/>
              <a:t>0.002567 mol</a:t>
            </a:r>
          </a:p>
        </p:txBody>
      </p:sp>
      <p:sp>
        <p:nvSpPr>
          <p:cNvPr id="9" name="TextBox 8">
            <a:extLst>
              <a:ext uri="{FF2B5EF4-FFF2-40B4-BE49-F238E27FC236}">
                <a16:creationId xmlns:a16="http://schemas.microsoft.com/office/drawing/2014/main" id="{9F79B752-1E31-9FD9-12D6-15F9C18F4FDD}"/>
              </a:ext>
            </a:extLst>
          </p:cNvPr>
          <p:cNvSpPr txBox="1"/>
          <p:nvPr/>
        </p:nvSpPr>
        <p:spPr>
          <a:xfrm>
            <a:off x="6904626" y="4545564"/>
            <a:ext cx="1909497" cy="646331"/>
          </a:xfrm>
          <a:prstGeom prst="rect">
            <a:avLst/>
          </a:prstGeom>
          <a:noFill/>
        </p:spPr>
        <p:txBody>
          <a:bodyPr wrap="none" rtlCol="0">
            <a:spAutoFit/>
          </a:bodyPr>
          <a:lstStyle/>
          <a:p>
            <a:pPr algn="ctr"/>
            <a:r>
              <a:rPr lang="en-GB" dirty="0"/>
              <a:t>2 x 0.002567</a:t>
            </a:r>
          </a:p>
          <a:p>
            <a:pPr algn="ctr"/>
            <a:r>
              <a:rPr lang="en-GB" dirty="0"/>
              <a:t>= 0.0051345 mol</a:t>
            </a:r>
          </a:p>
        </p:txBody>
      </p:sp>
      <p:sp>
        <p:nvSpPr>
          <p:cNvPr id="10" name="TextBox 9">
            <a:extLst>
              <a:ext uri="{FF2B5EF4-FFF2-40B4-BE49-F238E27FC236}">
                <a16:creationId xmlns:a16="http://schemas.microsoft.com/office/drawing/2014/main" id="{F5EBBBA9-A4DB-ABCD-E4BD-F76A2A49CE69}"/>
              </a:ext>
            </a:extLst>
          </p:cNvPr>
          <p:cNvSpPr txBox="1"/>
          <p:nvPr/>
        </p:nvSpPr>
        <p:spPr>
          <a:xfrm>
            <a:off x="7318199" y="5931881"/>
            <a:ext cx="1082349" cy="369332"/>
          </a:xfrm>
          <a:prstGeom prst="rect">
            <a:avLst/>
          </a:prstGeom>
          <a:noFill/>
        </p:spPr>
        <p:txBody>
          <a:bodyPr wrap="none" rtlCol="0">
            <a:spAutoFit/>
          </a:bodyPr>
          <a:lstStyle/>
          <a:p>
            <a:pPr algn="ctr"/>
            <a:r>
              <a:rPr lang="en-GB" dirty="0"/>
              <a:t>0.0500 L</a:t>
            </a:r>
          </a:p>
        </p:txBody>
      </p:sp>
      <p:sp>
        <p:nvSpPr>
          <p:cNvPr id="11" name="TextBox 10">
            <a:extLst>
              <a:ext uri="{FF2B5EF4-FFF2-40B4-BE49-F238E27FC236}">
                <a16:creationId xmlns:a16="http://schemas.microsoft.com/office/drawing/2014/main" id="{8C9A2898-B8B8-F1E4-667D-554E7AEB1264}"/>
              </a:ext>
            </a:extLst>
          </p:cNvPr>
          <p:cNvSpPr txBox="1"/>
          <p:nvPr/>
        </p:nvSpPr>
        <p:spPr>
          <a:xfrm>
            <a:off x="9332146" y="5333570"/>
            <a:ext cx="2044149" cy="646331"/>
          </a:xfrm>
          <a:prstGeom prst="rect">
            <a:avLst/>
          </a:prstGeom>
          <a:noFill/>
        </p:spPr>
        <p:txBody>
          <a:bodyPr wrap="none" rtlCol="0">
            <a:spAutoFit/>
          </a:bodyPr>
          <a:lstStyle/>
          <a:p>
            <a:pPr algn="ctr"/>
            <a:r>
              <a:rPr lang="en-GB" dirty="0"/>
              <a:t>0.0051345 / 0.050</a:t>
            </a:r>
          </a:p>
          <a:p>
            <a:pPr algn="ctr"/>
            <a:r>
              <a:rPr lang="en-GB" dirty="0"/>
              <a:t>= 0.1027 M</a:t>
            </a:r>
          </a:p>
        </p:txBody>
      </p:sp>
      <p:sp>
        <p:nvSpPr>
          <p:cNvPr id="12" name="TextBox 11">
            <a:extLst>
              <a:ext uri="{FF2B5EF4-FFF2-40B4-BE49-F238E27FC236}">
                <a16:creationId xmlns:a16="http://schemas.microsoft.com/office/drawing/2014/main" id="{E6E3AC6D-294B-29AB-57DB-E28A33300900}"/>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2946659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7C51-B3B4-C359-6236-4AAD63C2E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0EA71-0759-D132-329A-9C415AB2F99F}"/>
              </a:ext>
            </a:extLst>
          </p:cNvPr>
          <p:cNvSpPr>
            <a:spLocks noGrp="1"/>
          </p:cNvSpPr>
          <p:nvPr>
            <p:ph type="title"/>
          </p:nvPr>
        </p:nvSpPr>
        <p:spPr/>
        <p:txBody>
          <a:bodyPr/>
          <a:lstStyle/>
          <a:p>
            <a:r>
              <a:rPr lang="en-GB" dirty="0"/>
              <a:t>Volumetric analysis – limitations</a:t>
            </a:r>
          </a:p>
        </p:txBody>
      </p:sp>
      <p:sp>
        <p:nvSpPr>
          <p:cNvPr id="3" name="Table Placeholder 2">
            <a:extLst>
              <a:ext uri="{FF2B5EF4-FFF2-40B4-BE49-F238E27FC236}">
                <a16:creationId xmlns:a16="http://schemas.microsoft.com/office/drawing/2014/main" id="{FAFCE261-9AB1-6675-C0CB-9C454E147B96}"/>
              </a:ext>
            </a:extLst>
          </p:cNvPr>
          <p:cNvSpPr>
            <a:spLocks noGrp="1"/>
          </p:cNvSpPr>
          <p:nvPr>
            <p:ph type="tbl" sz="quarter" idx="10"/>
          </p:nvPr>
        </p:nvSpPr>
        <p:spPr>
          <a:xfrm>
            <a:off x="334962" y="1385888"/>
            <a:ext cx="11413341" cy="5103812"/>
          </a:xfrm>
        </p:spPr>
        <p:txBody>
          <a:bodyPr/>
          <a:lstStyle/>
          <a:p>
            <a:r>
              <a:rPr lang="en-GB" dirty="0"/>
              <a:t>Volumetric calculations have two important things to bear in mind: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they require a knowledge of the exact chemical reactions taking place, and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 most practical assays it is the absolute amount of material and not the concentration that is of interest.</a:t>
            </a:r>
          </a:p>
        </p:txBody>
      </p:sp>
    </p:spTree>
    <p:extLst>
      <p:ext uri="{BB962C8B-B14F-4D97-AF65-F5344CB8AC3E}">
        <p14:creationId xmlns:p14="http://schemas.microsoft.com/office/powerpoint/2010/main" val="1003208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2161-F926-D176-060F-865F42238B5E}"/>
              </a:ext>
            </a:extLst>
          </p:cNvPr>
          <p:cNvSpPr>
            <a:spLocks noGrp="1"/>
          </p:cNvSpPr>
          <p:nvPr>
            <p:ph type="title"/>
          </p:nvPr>
        </p:nvSpPr>
        <p:spPr/>
        <p:txBody>
          <a:bodyPr/>
          <a:lstStyle/>
          <a:p>
            <a:r>
              <a:rPr lang="en-GB" dirty="0"/>
              <a:t>The British Pharmacopoeia</a:t>
            </a:r>
            <a:br>
              <a:rPr lang="en-GB" dirty="0"/>
            </a:br>
            <a:br>
              <a:rPr lang="en-GB" dirty="0"/>
            </a:br>
            <a:endParaRPr lang="en-GB" dirty="0"/>
          </a:p>
        </p:txBody>
      </p:sp>
      <p:sp>
        <p:nvSpPr>
          <p:cNvPr id="3" name="Table Placeholder 2">
            <a:extLst>
              <a:ext uri="{FF2B5EF4-FFF2-40B4-BE49-F238E27FC236}">
                <a16:creationId xmlns:a16="http://schemas.microsoft.com/office/drawing/2014/main" id="{29521B2B-1634-9D9E-2F2F-6E09CE2898F6}"/>
              </a:ext>
            </a:extLst>
          </p:cNvPr>
          <p:cNvSpPr>
            <a:spLocks noGrp="1"/>
          </p:cNvSpPr>
          <p:nvPr>
            <p:ph type="tbl" sz="quarter" idx="10"/>
          </p:nvPr>
        </p:nvSpPr>
        <p:spPr/>
        <p:txBody>
          <a:bodyPr/>
          <a:lstStyle/>
          <a:p>
            <a:r>
              <a:rPr lang="en-GB" dirty="0"/>
              <a:t>The British Pharmacopoeia (BP) is a reference book that documents standards for:</a:t>
            </a:r>
          </a:p>
          <a:p>
            <a:endParaRPr lang="en-GB" dirty="0"/>
          </a:p>
          <a:p>
            <a:pPr marL="285750" indent="-285750">
              <a:buFont typeface="Arial" panose="020B0604020202020204" pitchFamily="34" charset="0"/>
              <a:buChar char="•"/>
            </a:pPr>
            <a:r>
              <a:rPr lang="en-GB" dirty="0"/>
              <a:t>pharmaceutical substances (raw materials)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medicinal products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4" name="Picture 2" descr="The British Pharmacopoeia 2020 - Package 47-978… | Cymit Química S.L.">
            <a:extLst>
              <a:ext uri="{FF2B5EF4-FFF2-40B4-BE49-F238E27FC236}">
                <a16:creationId xmlns:a16="http://schemas.microsoft.com/office/drawing/2014/main" id="{9EB786B9-8BC2-2F17-3B37-FCB45D978A1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585" t="4057" r="22190" b="7027"/>
          <a:stretch/>
        </p:blipFill>
        <p:spPr bwMode="auto">
          <a:xfrm>
            <a:off x="7806236" y="2775808"/>
            <a:ext cx="2503190"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33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5573C-3957-174A-C2F8-745BFB92E09B}"/>
              </a:ext>
            </a:extLst>
          </p:cNvPr>
          <p:cNvSpPr>
            <a:spLocks noGrp="1"/>
          </p:cNvSpPr>
          <p:nvPr>
            <p:ph type="title"/>
          </p:nvPr>
        </p:nvSpPr>
        <p:spPr/>
        <p:txBody>
          <a:bodyPr/>
          <a:lstStyle/>
          <a:p>
            <a:r>
              <a:rPr lang="en-GB" dirty="0"/>
              <a:t>Standard solutions</a:t>
            </a:r>
          </a:p>
        </p:txBody>
      </p:sp>
      <p:sp>
        <p:nvSpPr>
          <p:cNvPr id="3" name="Table Placeholder 2">
            <a:extLst>
              <a:ext uri="{FF2B5EF4-FFF2-40B4-BE49-F238E27FC236}">
                <a16:creationId xmlns:a16="http://schemas.microsoft.com/office/drawing/2014/main" id="{05CDCF0D-292C-BF9D-74E1-39A98935E780}"/>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Standard solutions are solutions of accurately and precisely known concentration</a:t>
            </a:r>
          </a:p>
          <a:p>
            <a:pPr marL="285750" indent="-285750">
              <a:buFont typeface="Arial" panose="020B0604020202020204" pitchFamily="34" charset="0"/>
              <a:buChar char="•"/>
            </a:pPr>
            <a:r>
              <a:rPr lang="en-GB" dirty="0"/>
              <a:t>In the British Pharmacopeia standard solutions for use in titrations are always denoted by </a:t>
            </a:r>
            <a:r>
              <a:rPr lang="en-GB" i="1" dirty="0"/>
              <a:t>VS</a:t>
            </a:r>
            <a:endParaRPr lang="en-GB" dirty="0"/>
          </a:p>
          <a:p>
            <a:pPr marL="861750" lvl="1" indent="-285750">
              <a:buFont typeface="Arial" panose="020B0604020202020204" pitchFamily="34" charset="0"/>
              <a:buChar char="•"/>
            </a:pPr>
            <a:r>
              <a:rPr lang="en-GB" i="1" dirty="0"/>
              <a:t>VS </a:t>
            </a:r>
            <a:r>
              <a:rPr lang="en-GB" dirty="0"/>
              <a:t>stands for ‘Volumetric Standard’</a:t>
            </a:r>
          </a:p>
          <a:p>
            <a:pPr marL="285750" indent="-285750">
              <a:buFont typeface="Arial" panose="020B0604020202020204" pitchFamily="34" charset="0"/>
              <a:buChar char="•"/>
            </a:pPr>
            <a:r>
              <a:rPr lang="en-GB" dirty="0"/>
              <a:t>Examples:</a:t>
            </a:r>
          </a:p>
          <a:p>
            <a:pPr marL="861750" lvl="1" indent="-285750">
              <a:buFont typeface="Arial" panose="020B0604020202020204" pitchFamily="34" charset="0"/>
              <a:buChar char="•"/>
            </a:pPr>
            <a:r>
              <a:rPr lang="en-GB" dirty="0"/>
              <a:t>0.0166 M potassium iodate </a:t>
            </a:r>
            <a:r>
              <a:rPr lang="en-GB" i="1" dirty="0"/>
              <a:t>VS</a:t>
            </a:r>
          </a:p>
          <a:p>
            <a:pPr marL="861750" lvl="1" indent="-285750">
              <a:buFont typeface="Arial" panose="020B0604020202020204" pitchFamily="34" charset="0"/>
              <a:buChar char="•"/>
            </a:pPr>
            <a:r>
              <a:rPr lang="en-GB" dirty="0"/>
              <a:t>0.1 M sodium hydroxide </a:t>
            </a:r>
            <a:r>
              <a:rPr lang="en-GB" i="1" dirty="0"/>
              <a:t>VS</a:t>
            </a:r>
          </a:p>
          <a:p>
            <a:pPr marL="861750" lvl="1" indent="-285750">
              <a:buFont typeface="Arial" panose="020B0604020202020204" pitchFamily="34" charset="0"/>
              <a:buChar char="•"/>
            </a:pPr>
            <a:r>
              <a:rPr lang="en-GB" dirty="0"/>
              <a:t>1 M hydrochloric acid </a:t>
            </a:r>
            <a:r>
              <a:rPr lang="en-GB" i="1" dirty="0"/>
              <a:t>VS</a:t>
            </a:r>
          </a:p>
          <a:p>
            <a:pPr marL="285750" indent="-285750">
              <a:buFont typeface="Arial" panose="020B0604020202020204" pitchFamily="34" charset="0"/>
              <a:buChar char="•"/>
            </a:pPr>
            <a:r>
              <a:rPr lang="en-GB" dirty="0"/>
              <a:t>Primary standard solutions are prepared by dissolving an exact mass of a pure substance in a known volume using a volumetric flask</a:t>
            </a:r>
          </a:p>
        </p:txBody>
      </p:sp>
    </p:spTree>
    <p:extLst>
      <p:ext uri="{BB962C8B-B14F-4D97-AF65-F5344CB8AC3E}">
        <p14:creationId xmlns:p14="http://schemas.microsoft.com/office/powerpoint/2010/main" val="4153661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5EE0D-9509-3E0F-300C-44A1215CA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E350-86CE-D2C3-43C4-AD6C352753A8}"/>
              </a:ext>
            </a:extLst>
          </p:cNvPr>
          <p:cNvSpPr>
            <a:spLocks noGrp="1"/>
          </p:cNvSpPr>
          <p:nvPr>
            <p:ph type="title"/>
          </p:nvPr>
        </p:nvSpPr>
        <p:spPr/>
        <p:txBody>
          <a:bodyPr/>
          <a:lstStyle/>
          <a:p>
            <a:r>
              <a:rPr lang="en-GB" dirty="0"/>
              <a:t>Primary standards</a:t>
            </a:r>
          </a:p>
        </p:txBody>
      </p:sp>
      <p:sp>
        <p:nvSpPr>
          <p:cNvPr id="3" name="Table Placeholder 2">
            <a:extLst>
              <a:ext uri="{FF2B5EF4-FFF2-40B4-BE49-F238E27FC236}">
                <a16:creationId xmlns:a16="http://schemas.microsoft.com/office/drawing/2014/main" id="{6DCA9276-F777-6750-EA15-BCE83CCC453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Primary standards are chemicals with properties making them suitable for creating primary standard solutions.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Obtainable in very high purity (&gt; 99.99% m/m).</a:t>
            </a:r>
          </a:p>
          <a:p>
            <a:pPr marL="285750" indent="-285750">
              <a:buFont typeface="Arial" panose="020B0604020202020204" pitchFamily="34" charset="0"/>
              <a:buChar char="•"/>
            </a:pPr>
            <a:r>
              <a:rPr lang="en-GB" dirty="0"/>
              <a:t>Stable to heat so they may be dried. Allows moisture absorbed on storage to be removed.</a:t>
            </a:r>
          </a:p>
          <a:p>
            <a:pPr marL="285750" indent="-285750">
              <a:buFont typeface="Arial" panose="020B0604020202020204" pitchFamily="34" charset="0"/>
              <a:buChar char="•"/>
            </a:pPr>
            <a:r>
              <a:rPr lang="en-GB" dirty="0"/>
              <a:t>Do not absorb/react with water, CO</a:t>
            </a:r>
            <a:r>
              <a:rPr lang="en-GB" baseline="-25000" dirty="0"/>
              <a:t>2</a:t>
            </a:r>
            <a:r>
              <a:rPr lang="en-GB" dirty="0"/>
              <a:t> or anything else from the air.</a:t>
            </a:r>
          </a:p>
          <a:p>
            <a:pPr marL="285750" indent="-285750">
              <a:buFont typeface="Arial" panose="020B0604020202020204" pitchFamily="34" charset="0"/>
              <a:buChar char="•"/>
            </a:pPr>
            <a:r>
              <a:rPr lang="en-GB" dirty="0"/>
              <a:t>Have a high molecular mass so that weighing errors are small.</a:t>
            </a:r>
          </a:p>
          <a:p>
            <a:pPr marL="285750" indent="-285750">
              <a:buFont typeface="Arial" panose="020B0604020202020204" pitchFamily="34" charset="0"/>
              <a:buChar char="•"/>
            </a:pPr>
            <a:r>
              <a:rPr lang="en-GB" dirty="0"/>
              <a:t>Readily soluble in solvent for titration.</a:t>
            </a:r>
          </a:p>
          <a:p>
            <a:pPr marL="285750" indent="-285750">
              <a:buFont typeface="Arial" panose="020B0604020202020204" pitchFamily="34" charset="0"/>
              <a:buChar char="•"/>
            </a:pPr>
            <a:r>
              <a:rPr lang="en-GB" dirty="0"/>
              <a:t>Easily tested for impurities.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Few substances meets all these requirements. </a:t>
            </a:r>
          </a:p>
          <a:p>
            <a:pPr marL="285750" indent="-285750">
              <a:buFont typeface="Arial" panose="020B0604020202020204" pitchFamily="34" charset="0"/>
              <a:buChar char="•"/>
            </a:pPr>
            <a:r>
              <a:rPr lang="en-GB" dirty="0"/>
              <a:t>Hydrated substances are rarely suitable – can easily lose their water of hydration – exact composition is uncertain.</a:t>
            </a:r>
          </a:p>
        </p:txBody>
      </p:sp>
    </p:spTree>
    <p:extLst>
      <p:ext uri="{BB962C8B-B14F-4D97-AF65-F5344CB8AC3E}">
        <p14:creationId xmlns:p14="http://schemas.microsoft.com/office/powerpoint/2010/main" val="863130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C046F-109B-5A4F-5239-C12B8F220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37DB7-8469-EF47-3AF4-5F6755E6436D}"/>
              </a:ext>
            </a:extLst>
          </p:cNvPr>
          <p:cNvSpPr>
            <a:spLocks noGrp="1"/>
          </p:cNvSpPr>
          <p:nvPr>
            <p:ph type="title"/>
          </p:nvPr>
        </p:nvSpPr>
        <p:spPr/>
        <p:txBody>
          <a:bodyPr/>
          <a:lstStyle/>
          <a:p>
            <a:r>
              <a:rPr lang="en-GB" dirty="0"/>
              <a:t>Examples of primary standards in the BP</a:t>
            </a:r>
          </a:p>
        </p:txBody>
      </p:sp>
      <p:sp>
        <p:nvSpPr>
          <p:cNvPr id="3" name="Table Placeholder 2">
            <a:extLst>
              <a:ext uri="{FF2B5EF4-FFF2-40B4-BE49-F238E27FC236}">
                <a16:creationId xmlns:a16="http://schemas.microsoft.com/office/drawing/2014/main" id="{D4313F1C-D039-16A1-2447-986D759C0811}"/>
              </a:ext>
            </a:extLst>
          </p:cNvPr>
          <p:cNvSpPr>
            <a:spLocks noGrp="1"/>
          </p:cNvSpPr>
          <p:nvPr>
            <p:ph type="tbl" sz="quarter" idx="10"/>
          </p:nvPr>
        </p:nvSpPr>
        <p:spPr/>
        <p:txBody>
          <a:bodyPr/>
          <a:lstStyle/>
          <a:p>
            <a:pPr marL="285750" indent="-285750">
              <a:buFont typeface="Arial" panose="020B0604020202020204" pitchFamily="34" charset="0"/>
              <a:buChar char="•"/>
            </a:pPr>
            <a:r>
              <a:rPr lang="en-GB" i="1" dirty="0"/>
              <a:t>Benzoic acid</a:t>
            </a:r>
            <a:r>
              <a:rPr lang="en-GB" dirty="0"/>
              <a:t> – a standard acid. But, low solubility in water.</a:t>
            </a:r>
          </a:p>
          <a:p>
            <a:pPr marL="285750" indent="-285750">
              <a:buFont typeface="Arial" panose="020B0604020202020204" pitchFamily="34" charset="0"/>
              <a:buChar char="•"/>
            </a:pPr>
            <a:r>
              <a:rPr lang="en-GB" i="1" dirty="0"/>
              <a:t>Potassium hydrogen phthalate (KHP)</a:t>
            </a:r>
            <a:r>
              <a:rPr lang="en-GB" dirty="0"/>
              <a:t> – a standard acid.</a:t>
            </a:r>
          </a:p>
          <a:p>
            <a:pPr marL="285750" indent="-285750">
              <a:buFont typeface="Arial" panose="020B0604020202020204" pitchFamily="34" charset="0"/>
              <a:buChar char="•"/>
            </a:pPr>
            <a:r>
              <a:rPr lang="en-GB" i="1" dirty="0"/>
              <a:t>Potassium iodate </a:t>
            </a:r>
            <a:r>
              <a:rPr lang="en-GB" dirty="0"/>
              <a:t>- good redox standard.</a:t>
            </a:r>
          </a:p>
          <a:p>
            <a:pPr marL="285750" indent="-285750">
              <a:buFont typeface="Arial" panose="020B0604020202020204" pitchFamily="34" charset="0"/>
              <a:buChar char="•"/>
            </a:pPr>
            <a:r>
              <a:rPr lang="en-GB" i="1" dirty="0"/>
              <a:t>Anhydrous sodium carbonate</a:t>
            </a:r>
            <a:r>
              <a:rPr lang="en-GB" dirty="0"/>
              <a:t> – used as a standard base. Storage difficult as readily absorbs water and carbon dioxide from the atmosphere.</a:t>
            </a:r>
          </a:p>
          <a:p>
            <a:pPr marL="285750" indent="-285750">
              <a:buFont typeface="Arial" panose="020B0604020202020204" pitchFamily="34" charset="0"/>
              <a:buChar char="•"/>
            </a:pPr>
            <a:r>
              <a:rPr lang="en-GB" i="1" dirty="0"/>
              <a:t>Sodium chloride </a:t>
            </a:r>
            <a:r>
              <a:rPr lang="en-GB" dirty="0"/>
              <a:t>– used for standardising silver nitrate solutions.</a:t>
            </a:r>
          </a:p>
          <a:p>
            <a:pPr marL="285750" indent="-285750">
              <a:buFont typeface="Arial" panose="020B0604020202020204" pitchFamily="34" charset="0"/>
              <a:buChar char="•"/>
            </a:pPr>
            <a:r>
              <a:rPr lang="en-GB" i="1" dirty="0"/>
              <a:t>Zinc </a:t>
            </a:r>
            <a:r>
              <a:rPr lang="en-GB" dirty="0"/>
              <a:t>– used for standardising EDTA solutions.</a:t>
            </a:r>
          </a:p>
        </p:txBody>
      </p:sp>
    </p:spTree>
    <p:extLst>
      <p:ext uri="{BB962C8B-B14F-4D97-AF65-F5344CB8AC3E}">
        <p14:creationId xmlns:p14="http://schemas.microsoft.com/office/powerpoint/2010/main" val="3526038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2CCD-7F27-B235-0522-F353E307728D}"/>
              </a:ext>
            </a:extLst>
          </p:cNvPr>
          <p:cNvSpPr>
            <a:spLocks noGrp="1"/>
          </p:cNvSpPr>
          <p:nvPr>
            <p:ph type="title"/>
          </p:nvPr>
        </p:nvSpPr>
        <p:spPr/>
        <p:txBody>
          <a:bodyPr/>
          <a:lstStyle/>
          <a:p>
            <a:r>
              <a:rPr lang="en-GB" dirty="0"/>
              <a:t>Secondary standards</a:t>
            </a:r>
          </a:p>
        </p:txBody>
      </p:sp>
      <p:sp>
        <p:nvSpPr>
          <p:cNvPr id="3" name="Table Placeholder 2">
            <a:extLst>
              <a:ext uri="{FF2B5EF4-FFF2-40B4-BE49-F238E27FC236}">
                <a16:creationId xmlns:a16="http://schemas.microsoft.com/office/drawing/2014/main" id="{8F9B384B-388A-C2FC-DB69-697A70C8CFB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concentration of standard solutions of substances which can not be prepared directly must be determined by titration against suitable primary standards.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solutions of hydrochloric acid are standardised by titration with sodium carbonate. </a:t>
            </a:r>
          </a:p>
          <a:p>
            <a:pPr marL="285750" indent="-285750">
              <a:buFont typeface="Arial" panose="020B0604020202020204" pitchFamily="34" charset="0"/>
              <a:buChar char="•"/>
            </a:pPr>
            <a:r>
              <a:rPr lang="en-GB" dirty="0"/>
              <a:t>Sodium hydroxide solutions standardised by:</a:t>
            </a:r>
          </a:p>
          <a:p>
            <a:pPr marL="861750" lvl="1" indent="-285750">
              <a:buFont typeface="Arial" panose="020B0604020202020204" pitchFamily="34" charset="0"/>
              <a:buChar char="•"/>
            </a:pPr>
            <a:r>
              <a:rPr lang="en-GB" dirty="0"/>
              <a:t>titration with a standardised hydrochloric acid solution</a:t>
            </a:r>
          </a:p>
          <a:p>
            <a:pPr marL="861750" lvl="1" indent="-285750">
              <a:buFont typeface="Arial" panose="020B0604020202020204" pitchFamily="34" charset="0"/>
              <a:buChar char="•"/>
            </a:pPr>
            <a:r>
              <a:rPr lang="en-GB" dirty="0"/>
              <a:t>or titration with a primary standard such as benzoic acid.</a:t>
            </a:r>
          </a:p>
          <a:p>
            <a:pPr marL="8617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Standards that are determined relative to a primary standard are called </a:t>
            </a:r>
            <a:r>
              <a:rPr lang="en-GB" i="1" dirty="0"/>
              <a:t>secondary standards</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605728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669AC-2161-565A-EA02-33A203587FEB}"/>
              </a:ext>
            </a:extLst>
          </p:cNvPr>
          <p:cNvSpPr>
            <a:spLocks noGrp="1"/>
          </p:cNvSpPr>
          <p:nvPr>
            <p:ph type="title"/>
          </p:nvPr>
        </p:nvSpPr>
        <p:spPr/>
        <p:txBody>
          <a:bodyPr/>
          <a:lstStyle/>
          <a:p>
            <a:r>
              <a:rPr lang="en-GB" dirty="0"/>
              <a:t>Volumetric analysis – indirect ‘back’ titrations</a:t>
            </a:r>
          </a:p>
        </p:txBody>
      </p:sp>
      <p:sp>
        <p:nvSpPr>
          <p:cNvPr id="3" name="Table Placeholder 2">
            <a:extLst>
              <a:ext uri="{FF2B5EF4-FFF2-40B4-BE49-F238E27FC236}">
                <a16:creationId xmlns:a16="http://schemas.microsoft.com/office/drawing/2014/main" id="{4868D818-649C-AA0C-3C47-F0D8ECE8A2F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substances cannot be titrated directly. </a:t>
            </a:r>
          </a:p>
          <a:p>
            <a:pPr marL="861750" lvl="1" indent="-285750">
              <a:buFont typeface="Arial" panose="020B0604020202020204" pitchFamily="34" charset="0"/>
              <a:buChar char="•"/>
            </a:pPr>
            <a:r>
              <a:rPr lang="en-GB" dirty="0"/>
              <a:t>There may be </a:t>
            </a:r>
            <a:r>
              <a:rPr lang="en-GB" b="1" dirty="0"/>
              <a:t>no suitable reaction</a:t>
            </a:r>
            <a:r>
              <a:rPr lang="en-GB" dirty="0"/>
              <a:t>, or the reaction may be </a:t>
            </a:r>
            <a:r>
              <a:rPr lang="en-GB" b="1" dirty="0"/>
              <a:t>too slow </a:t>
            </a:r>
            <a:r>
              <a:rPr lang="en-GB" dirty="0"/>
              <a:t>to allow direct titration.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procedure known as a </a:t>
            </a:r>
            <a:r>
              <a:rPr lang="en-GB" b="1" dirty="0"/>
              <a:t>back titration </a:t>
            </a:r>
            <a:r>
              <a:rPr lang="en-GB" dirty="0"/>
              <a:t>can be used in such cases. </a:t>
            </a:r>
          </a:p>
          <a:p>
            <a:pPr marL="861750" lvl="1" indent="-285750">
              <a:buFont typeface="Arial" panose="020B0604020202020204" pitchFamily="34" charset="0"/>
              <a:buChar char="•"/>
            </a:pPr>
            <a:r>
              <a:rPr lang="en-GB" dirty="0"/>
              <a:t>A known quantity of a standard solution is added (in excess) to the sample and allowed to react. </a:t>
            </a:r>
          </a:p>
          <a:p>
            <a:pPr marL="861750" lvl="1" indent="-285750">
              <a:buFont typeface="Arial" panose="020B0604020202020204" pitchFamily="34" charset="0"/>
              <a:buChar char="•"/>
            </a:pPr>
            <a:r>
              <a:rPr lang="en-GB" dirty="0"/>
              <a:t>The amount of unreacted solution is then determined by titration with some other suitable standard titrimetric solution. </a:t>
            </a:r>
          </a:p>
          <a:p>
            <a:pPr marL="861750" lvl="1" indent="-285750">
              <a:buFont typeface="Arial" panose="020B0604020202020204" pitchFamily="34" charset="0"/>
              <a:buChar char="•"/>
            </a:pPr>
            <a:r>
              <a:rPr lang="en-GB" dirty="0"/>
              <a:t>The difference between the amount of reagent taken and the amount in excess gives the amount used by the sample.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3993133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FC56B-DBEA-DDAF-68BD-734747B69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1D2F1-2194-6AB2-C25A-1F5FFB00B190}"/>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45433094-2DED-F47E-ED8F-B960FA4B460C}"/>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4D1D2BEA-41CF-8DDF-C399-63315DF91176}"/>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49319013-F648-3D58-D465-4AB63334BF0C}"/>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8B07E112-9606-4C01-5743-B05E2204E0ED}"/>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0C0976BB-2438-8845-886C-B93F7358232E}"/>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F76D3D8-323F-0FB2-B025-13025D57A6C8}"/>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4F59CA25-420B-7B3C-C5F7-A7D51AC34482}"/>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2527CA21-60C7-B035-F8FA-6683F00558D9}"/>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748838A0-812A-6D53-B032-F38DE911535E}"/>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C83B58BB-320B-F488-47FD-573477B754C1}"/>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632F342F-67F8-C5D4-B116-B7200C497551}"/>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98AEAB0-2132-A9FB-3FDA-F2331BCDD822}"/>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1B4A20F-34B9-EDC5-1B46-D25BB0AE21ED}"/>
              </a:ext>
            </a:extLst>
          </p:cNvPr>
          <p:cNvSpPr txBox="1"/>
          <p:nvPr/>
        </p:nvSpPr>
        <p:spPr>
          <a:xfrm>
            <a:off x="703181" y="4573342"/>
            <a:ext cx="201850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concentration</a:t>
            </a:r>
          </a:p>
        </p:txBody>
      </p:sp>
      <p:sp>
        <p:nvSpPr>
          <p:cNvPr id="20" name="TextBox 19">
            <a:extLst>
              <a:ext uri="{FF2B5EF4-FFF2-40B4-BE49-F238E27FC236}">
                <a16:creationId xmlns:a16="http://schemas.microsoft.com/office/drawing/2014/main" id="{AF59FC50-29EC-346F-4FC6-20AF57D95A38}"/>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B5148CFD-73A5-608C-5A7C-615DDD74336F}"/>
              </a:ext>
            </a:extLst>
          </p:cNvPr>
          <p:cNvSpPr txBox="1"/>
          <p:nvPr/>
        </p:nvSpPr>
        <p:spPr>
          <a:xfrm>
            <a:off x="7094340" y="1779285"/>
            <a:ext cx="1992853" cy="1200329"/>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i="1" dirty="0"/>
              <a:t>concentration</a:t>
            </a:r>
          </a:p>
        </p:txBody>
      </p:sp>
      <p:sp>
        <p:nvSpPr>
          <p:cNvPr id="22" name="TextBox 21">
            <a:extLst>
              <a:ext uri="{FF2B5EF4-FFF2-40B4-BE49-F238E27FC236}">
                <a16:creationId xmlns:a16="http://schemas.microsoft.com/office/drawing/2014/main" id="{9E83118D-B6A2-6034-A693-6A12990411D1}"/>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06ABCA03-0050-15F7-6808-16D70EAE3F97}"/>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3A482C61-01CF-4A2A-A394-5888C0989A96}"/>
              </a:ext>
            </a:extLst>
          </p:cNvPr>
          <p:cNvSpPr txBox="1"/>
          <p:nvPr/>
        </p:nvSpPr>
        <p:spPr>
          <a:xfrm>
            <a:off x="3845889" y="5773671"/>
            <a:ext cx="6571286" cy="400110"/>
          </a:xfrm>
          <a:prstGeom prst="rect">
            <a:avLst/>
          </a:prstGeom>
          <a:solidFill>
            <a:schemeClr val="accent4"/>
          </a:solidFill>
        </p:spPr>
        <p:txBody>
          <a:bodyPr wrap="none" rtlCol="0">
            <a:spAutoFit/>
          </a:bodyPr>
          <a:lstStyle/>
          <a:p>
            <a:r>
              <a:rPr lang="en-GB" sz="2000" b="1" dirty="0"/>
              <a:t>starting amount = amount reacted + amount titrated</a:t>
            </a:r>
          </a:p>
        </p:txBody>
      </p:sp>
    </p:spTree>
    <p:extLst>
      <p:ext uri="{BB962C8B-B14F-4D97-AF65-F5344CB8AC3E}">
        <p14:creationId xmlns:p14="http://schemas.microsoft.com/office/powerpoint/2010/main" val="3156485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F24F8-4E41-8E53-5FD2-6E0AEA5B3942}"/>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BE57B4EE-2529-3D3B-27D4-2786AFE2B220}"/>
              </a:ext>
            </a:extLst>
          </p:cNvPr>
          <p:cNvSpPr>
            <a:spLocks noGrp="1"/>
          </p:cNvSpPr>
          <p:nvPr>
            <p:ph type="tbl" sz="quarter" idx="10"/>
          </p:nvPr>
        </p:nvSpPr>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 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a:p>
            <a:endParaRPr lang="en-GB" dirty="0"/>
          </a:p>
          <a:p>
            <a:r>
              <a:rPr lang="en-GB" b="1" dirty="0"/>
              <a:t>1. Read and Identify</a:t>
            </a:r>
          </a:p>
          <a:p>
            <a:pPr marL="918900" lvl="1" indent="-342900"/>
            <a:r>
              <a:rPr lang="en-GB" dirty="0"/>
              <a:t>What’s being asked? </a:t>
            </a:r>
            <a:r>
              <a:rPr lang="en-GB" i="1" dirty="0"/>
              <a:t>Percentage content of ephedrine in original sample (assume %m/m)</a:t>
            </a:r>
            <a:endParaRPr lang="en-GB" dirty="0"/>
          </a:p>
          <a:p>
            <a:pPr marL="918900" lvl="1" indent="-342900"/>
            <a:r>
              <a:rPr lang="en-GB" dirty="0"/>
              <a:t>What data is given? </a:t>
            </a:r>
            <a:r>
              <a:rPr lang="en-GB" i="1" dirty="0"/>
              <a:t>Mass of ephedrine, molar mass of ephedrine, concentrations of acid and base, volumes of acid and base</a:t>
            </a:r>
          </a:p>
          <a:p>
            <a:pPr marL="918900" lvl="1" indent="-342900"/>
            <a:r>
              <a:rPr lang="en-GB" dirty="0"/>
              <a:t>Knowledge:</a:t>
            </a:r>
            <a:r>
              <a:rPr lang="en-GB" i="1" dirty="0"/>
              <a:t> Balanced equations</a:t>
            </a:r>
          </a:p>
          <a:p>
            <a:pPr marL="918900" lvl="1" indent="-342900"/>
            <a:r>
              <a:rPr lang="en-GB" dirty="0"/>
              <a:t>There’s a lot of information here – draw a simple diagram to see what’s going on</a:t>
            </a:r>
          </a:p>
        </p:txBody>
      </p:sp>
      <p:grpSp>
        <p:nvGrpSpPr>
          <p:cNvPr id="9" name="Group 8">
            <a:extLst>
              <a:ext uri="{FF2B5EF4-FFF2-40B4-BE49-F238E27FC236}">
                <a16:creationId xmlns:a16="http://schemas.microsoft.com/office/drawing/2014/main" id="{698F4C6A-7434-C4F1-8274-963C2C3A2D8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6403CEEC-E1A6-F81E-B20C-19B4DA86729D}"/>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A612D0FB-C4B2-4A6A-4F1A-9641F01F5C7F}"/>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spTree>
    <p:extLst>
      <p:ext uri="{BB962C8B-B14F-4D97-AF65-F5344CB8AC3E}">
        <p14:creationId xmlns:p14="http://schemas.microsoft.com/office/powerpoint/2010/main" val="3264341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072D-5AE5-3FD7-4F7C-AEC00E25F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AB43B-B93D-A54E-95E7-F59BA850CD7A}"/>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94364C0C-74CC-85FE-63B3-32F78FA6A7F6}"/>
              </a:ext>
            </a:extLst>
          </p:cNvPr>
          <p:cNvSpPr>
            <a:spLocks noGrp="1"/>
          </p:cNvSpPr>
          <p:nvPr>
            <p:ph type="tbl" sz="quarter" idx="10"/>
          </p:nvPr>
        </p:nvSpPr>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 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p:txBody>
      </p:sp>
      <p:grpSp>
        <p:nvGrpSpPr>
          <p:cNvPr id="9" name="Group 8">
            <a:extLst>
              <a:ext uri="{FF2B5EF4-FFF2-40B4-BE49-F238E27FC236}">
                <a16:creationId xmlns:a16="http://schemas.microsoft.com/office/drawing/2014/main" id="{42347F54-E6C4-8A3C-C1EB-A7BBD5398A7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968DC78F-001C-6452-6958-507227939540}"/>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566FFC6B-41E4-977D-7BAC-800F41258C7C}"/>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grpSp>
        <p:nvGrpSpPr>
          <p:cNvPr id="4" name="Group 3">
            <a:extLst>
              <a:ext uri="{FF2B5EF4-FFF2-40B4-BE49-F238E27FC236}">
                <a16:creationId xmlns:a16="http://schemas.microsoft.com/office/drawing/2014/main" id="{1B0C338F-0BF8-3F9B-5B58-CB2C017E9297}"/>
              </a:ext>
            </a:extLst>
          </p:cNvPr>
          <p:cNvGrpSpPr/>
          <p:nvPr/>
        </p:nvGrpSpPr>
        <p:grpSpPr>
          <a:xfrm>
            <a:off x="1995887" y="4514468"/>
            <a:ext cx="950273" cy="1364678"/>
            <a:chOff x="1480595" y="2105065"/>
            <a:chExt cx="1539433" cy="2210765"/>
          </a:xfrm>
        </p:grpSpPr>
        <p:sp>
          <p:nvSpPr>
            <p:cNvPr id="5" name="Rectangle 4">
              <a:extLst>
                <a:ext uri="{FF2B5EF4-FFF2-40B4-BE49-F238E27FC236}">
                  <a16:creationId xmlns:a16="http://schemas.microsoft.com/office/drawing/2014/main" id="{9AC7B805-F47B-848F-B635-B755FB869500}"/>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5">
              <a:extLst>
                <a:ext uri="{FF2B5EF4-FFF2-40B4-BE49-F238E27FC236}">
                  <a16:creationId xmlns:a16="http://schemas.microsoft.com/office/drawing/2014/main" id="{E6FD175D-FB23-A561-758B-1876D1996820}"/>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002B243D-2A49-9969-A20A-9B5F76D72643}"/>
              </a:ext>
            </a:extLst>
          </p:cNvPr>
          <p:cNvGrpSpPr/>
          <p:nvPr/>
        </p:nvGrpSpPr>
        <p:grpSpPr>
          <a:xfrm>
            <a:off x="5559513" y="4514468"/>
            <a:ext cx="950273" cy="1364678"/>
            <a:chOff x="4693695" y="2105065"/>
            <a:chExt cx="1539433" cy="2210765"/>
          </a:xfrm>
        </p:grpSpPr>
        <p:sp>
          <p:nvSpPr>
            <p:cNvPr id="11" name="Rectangle 10">
              <a:extLst>
                <a:ext uri="{FF2B5EF4-FFF2-40B4-BE49-F238E27FC236}">
                  <a16:creationId xmlns:a16="http://schemas.microsoft.com/office/drawing/2014/main" id="{6EEFE992-260F-E089-70A1-D64BB697C294}"/>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728821B-CB32-765B-79A3-DA9729C442A5}"/>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12">
              <a:extLst>
                <a:ext uri="{FF2B5EF4-FFF2-40B4-BE49-F238E27FC236}">
                  <a16:creationId xmlns:a16="http://schemas.microsoft.com/office/drawing/2014/main" id="{012FCE5B-3A83-6E56-CCE0-E88333025FD8}"/>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426589DC-D2D6-2B67-1CC5-1EA9681C16CA}"/>
              </a:ext>
            </a:extLst>
          </p:cNvPr>
          <p:cNvGrpSpPr/>
          <p:nvPr/>
        </p:nvGrpSpPr>
        <p:grpSpPr>
          <a:xfrm>
            <a:off x="9168765" y="4514468"/>
            <a:ext cx="950273" cy="1364678"/>
            <a:chOff x="8877742" y="2105065"/>
            <a:chExt cx="1539433" cy="2210765"/>
          </a:xfrm>
        </p:grpSpPr>
        <p:sp>
          <p:nvSpPr>
            <p:cNvPr id="15" name="Rectangle 14">
              <a:extLst>
                <a:ext uri="{FF2B5EF4-FFF2-40B4-BE49-F238E27FC236}">
                  <a16:creationId xmlns:a16="http://schemas.microsoft.com/office/drawing/2014/main" id="{15965D93-73A2-5F21-9297-80DA7A2D1041}"/>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15">
              <a:extLst>
                <a:ext uri="{FF2B5EF4-FFF2-40B4-BE49-F238E27FC236}">
                  <a16:creationId xmlns:a16="http://schemas.microsoft.com/office/drawing/2014/main" id="{BE47CA9C-E772-224B-2884-429B2503A1A2}"/>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215F0AE2-A8C8-FEF5-77B9-55416765F507}"/>
              </a:ext>
            </a:extLst>
          </p:cNvPr>
          <p:cNvCxnSpPr/>
          <p:nvPr/>
        </p:nvCxnSpPr>
        <p:spPr>
          <a:xfrm>
            <a:off x="7409819" y="5190605"/>
            <a:ext cx="8542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5DEDF03-74E0-B364-5777-D1BA9F274026}"/>
              </a:ext>
            </a:extLst>
          </p:cNvPr>
          <p:cNvCxnSpPr/>
          <p:nvPr/>
        </p:nvCxnSpPr>
        <p:spPr>
          <a:xfrm>
            <a:off x="3825688" y="5190605"/>
            <a:ext cx="8542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43A191B-9AF3-EFE4-847B-67567B69D9C2}"/>
              </a:ext>
            </a:extLst>
          </p:cNvPr>
          <p:cNvSpPr txBox="1"/>
          <p:nvPr/>
        </p:nvSpPr>
        <p:spPr>
          <a:xfrm>
            <a:off x="1577188" y="6038105"/>
            <a:ext cx="1787670" cy="646331"/>
          </a:xfrm>
          <a:prstGeom prst="rect">
            <a:avLst/>
          </a:prstGeom>
          <a:noFill/>
        </p:spPr>
        <p:txBody>
          <a:bodyPr wrap="none" rtlCol="0">
            <a:spAutoFit/>
          </a:bodyPr>
          <a:lstStyle/>
          <a:p>
            <a:pPr algn="ctr"/>
            <a:r>
              <a:rPr lang="en-GB" b="1" dirty="0"/>
              <a:t>Acid (HCl)</a:t>
            </a:r>
          </a:p>
          <a:p>
            <a:pPr algn="ctr"/>
            <a:r>
              <a:rPr lang="en-GB" i="1" dirty="0"/>
              <a:t>20 mL, 0.098 M</a:t>
            </a:r>
          </a:p>
        </p:txBody>
      </p:sp>
      <p:sp>
        <p:nvSpPr>
          <p:cNvPr id="20" name="TextBox 19">
            <a:extLst>
              <a:ext uri="{FF2B5EF4-FFF2-40B4-BE49-F238E27FC236}">
                <a16:creationId xmlns:a16="http://schemas.microsoft.com/office/drawing/2014/main" id="{3F435E78-2AEA-7C4F-43BF-DFDFE687D0CA}"/>
              </a:ext>
            </a:extLst>
          </p:cNvPr>
          <p:cNvSpPr txBox="1"/>
          <p:nvPr/>
        </p:nvSpPr>
        <p:spPr>
          <a:xfrm>
            <a:off x="3166642" y="4092194"/>
            <a:ext cx="2172390" cy="923330"/>
          </a:xfrm>
          <a:prstGeom prst="rect">
            <a:avLst/>
          </a:prstGeom>
          <a:noFill/>
        </p:spPr>
        <p:txBody>
          <a:bodyPr wrap="none" rtlCol="0">
            <a:spAutoFit/>
          </a:bodyPr>
          <a:lstStyle/>
          <a:p>
            <a:pPr algn="ctr"/>
            <a:r>
              <a:rPr lang="en-GB" b="1" dirty="0"/>
              <a:t>React with</a:t>
            </a:r>
          </a:p>
          <a:p>
            <a:pPr algn="ctr"/>
            <a:r>
              <a:rPr lang="en-GB" b="1" dirty="0"/>
              <a:t>ephedrine sample</a:t>
            </a:r>
          </a:p>
          <a:p>
            <a:pPr algn="ctr"/>
            <a:r>
              <a:rPr lang="en-GB" i="1" dirty="0"/>
              <a:t>unknown amount</a:t>
            </a:r>
          </a:p>
        </p:txBody>
      </p:sp>
      <p:sp>
        <p:nvSpPr>
          <p:cNvPr id="21" name="TextBox 20">
            <a:extLst>
              <a:ext uri="{FF2B5EF4-FFF2-40B4-BE49-F238E27FC236}">
                <a16:creationId xmlns:a16="http://schemas.microsoft.com/office/drawing/2014/main" id="{7B1F43B3-374A-E1AD-0FC6-EE21924F1EF5}"/>
              </a:ext>
            </a:extLst>
          </p:cNvPr>
          <p:cNvSpPr txBox="1"/>
          <p:nvPr/>
        </p:nvSpPr>
        <p:spPr>
          <a:xfrm>
            <a:off x="6778506" y="4313368"/>
            <a:ext cx="2116925" cy="646331"/>
          </a:xfrm>
          <a:prstGeom prst="rect">
            <a:avLst/>
          </a:prstGeom>
          <a:noFill/>
        </p:spPr>
        <p:txBody>
          <a:bodyPr wrap="none" rtlCol="0">
            <a:spAutoFit/>
          </a:bodyPr>
          <a:lstStyle/>
          <a:p>
            <a:pPr algn="ctr"/>
            <a:r>
              <a:rPr lang="en-GB" b="1" dirty="0"/>
              <a:t>Titrate with NaOH</a:t>
            </a:r>
          </a:p>
          <a:p>
            <a:pPr algn="ctr"/>
            <a:r>
              <a:rPr lang="en-GB" i="1" dirty="0"/>
              <a:t>7.15 mL, 0.110 M</a:t>
            </a:r>
          </a:p>
        </p:txBody>
      </p:sp>
      <p:sp>
        <p:nvSpPr>
          <p:cNvPr id="22" name="TextBox 21">
            <a:extLst>
              <a:ext uri="{FF2B5EF4-FFF2-40B4-BE49-F238E27FC236}">
                <a16:creationId xmlns:a16="http://schemas.microsoft.com/office/drawing/2014/main" id="{8B7E6A6B-3BA2-5AE9-0FF3-77B5A1C7DC32}"/>
              </a:ext>
            </a:extLst>
          </p:cNvPr>
          <p:cNvSpPr txBox="1"/>
          <p:nvPr/>
        </p:nvSpPr>
        <p:spPr>
          <a:xfrm>
            <a:off x="4990487" y="6038105"/>
            <a:ext cx="2095445" cy="646331"/>
          </a:xfrm>
          <a:prstGeom prst="rect">
            <a:avLst/>
          </a:prstGeom>
          <a:noFill/>
        </p:spPr>
        <p:txBody>
          <a:bodyPr wrap="none" rtlCol="0">
            <a:spAutoFit/>
          </a:bodyPr>
          <a:lstStyle/>
          <a:p>
            <a:pPr algn="ctr"/>
            <a:r>
              <a:rPr lang="en-GB" i="1" dirty="0"/>
              <a:t>Some acid</a:t>
            </a:r>
          </a:p>
          <a:p>
            <a:pPr algn="ctr"/>
            <a:r>
              <a:rPr lang="en-GB" i="1" dirty="0"/>
              <a:t>remains unreacted</a:t>
            </a:r>
          </a:p>
        </p:txBody>
      </p:sp>
      <p:sp>
        <p:nvSpPr>
          <p:cNvPr id="23" name="TextBox 22">
            <a:extLst>
              <a:ext uri="{FF2B5EF4-FFF2-40B4-BE49-F238E27FC236}">
                <a16:creationId xmlns:a16="http://schemas.microsoft.com/office/drawing/2014/main" id="{2E119A5A-1626-BF99-9A6D-AD9398114D3E}"/>
              </a:ext>
            </a:extLst>
          </p:cNvPr>
          <p:cNvSpPr txBox="1"/>
          <p:nvPr/>
        </p:nvSpPr>
        <p:spPr>
          <a:xfrm>
            <a:off x="8352524" y="6038105"/>
            <a:ext cx="2582758" cy="646331"/>
          </a:xfrm>
          <a:prstGeom prst="rect">
            <a:avLst/>
          </a:prstGeom>
          <a:noFill/>
        </p:spPr>
        <p:txBody>
          <a:bodyPr wrap="none" rtlCol="0">
            <a:spAutoFit/>
          </a:bodyPr>
          <a:lstStyle/>
          <a:p>
            <a:pPr algn="ctr"/>
            <a:r>
              <a:rPr lang="en-GB" b="1" dirty="0"/>
              <a:t>Equivalence point</a:t>
            </a:r>
          </a:p>
          <a:p>
            <a:pPr algn="ctr"/>
            <a:r>
              <a:rPr lang="en-GB" i="1" dirty="0"/>
              <a:t>All the acid has reacted</a:t>
            </a:r>
          </a:p>
        </p:txBody>
      </p:sp>
    </p:spTree>
    <p:extLst>
      <p:ext uri="{BB962C8B-B14F-4D97-AF65-F5344CB8AC3E}">
        <p14:creationId xmlns:p14="http://schemas.microsoft.com/office/powerpoint/2010/main" val="2748538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6875-A42F-038B-82A8-D6E50C5D7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EE6CC-BA8B-35DB-2535-3FA735756C1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018A36C5-7B83-5608-4E84-5DB3AAD8FDC6}"/>
              </a:ext>
            </a:extLst>
          </p:cNvPr>
          <p:cNvSpPr>
            <a:spLocks noGrp="1"/>
          </p:cNvSpPr>
          <p:nvPr>
            <p:ph type="tbl" sz="quarter" idx="10"/>
          </p:nvPr>
        </p:nvSpPr>
        <p:spPr>
          <a:xfrm>
            <a:off x="334963" y="1808161"/>
            <a:ext cx="11522075" cy="4916729"/>
          </a:xfrm>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 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a:p>
            <a:endParaRPr lang="en-GB" dirty="0"/>
          </a:p>
          <a:p>
            <a:r>
              <a:rPr lang="en-GB" b="1" dirty="0"/>
              <a:t>2. Estimate</a:t>
            </a:r>
          </a:p>
          <a:p>
            <a:pPr marL="918900" lvl="1" indent="-342900"/>
            <a:r>
              <a:rPr lang="en-GB" dirty="0"/>
              <a:t>Estimation gets harder as problems get more complex – but if we’re dealing with a pharmaceutical analysis we’re probably expecting purities close to 100%</a:t>
            </a:r>
          </a:p>
          <a:p>
            <a:pPr marL="918900" lvl="1" indent="-342900"/>
            <a:r>
              <a:rPr lang="en-GB" dirty="0"/>
              <a:t>Acid and base concentrations are similar, indicating roughly 20 - 7 = 13 mL acid reacted with the drug</a:t>
            </a:r>
          </a:p>
          <a:p>
            <a:pPr marL="918900" lvl="1" indent="-342900"/>
            <a:r>
              <a:rPr lang="en-GB" dirty="0"/>
              <a:t>An acid concentration about 0.1 M corresponds to 1.3 mmol</a:t>
            </a:r>
          </a:p>
          <a:p>
            <a:pPr marL="918900" lvl="1" indent="-342900"/>
            <a:r>
              <a:rPr lang="en-GB" dirty="0"/>
              <a:t>MW around 150 would give a mass of roughly 200 mg – close to 100% purity</a:t>
            </a:r>
          </a:p>
        </p:txBody>
      </p:sp>
      <p:grpSp>
        <p:nvGrpSpPr>
          <p:cNvPr id="9" name="Group 8">
            <a:extLst>
              <a:ext uri="{FF2B5EF4-FFF2-40B4-BE49-F238E27FC236}">
                <a16:creationId xmlns:a16="http://schemas.microsoft.com/office/drawing/2014/main" id="{0EA4203B-81A1-E141-9EC8-88F6E24048B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66FEF5E2-E25D-FBC4-DD33-E30FF66BFE9B}"/>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479E8033-5BB0-EF70-9E12-014E5D0BA5A9}"/>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spTree>
    <p:extLst>
      <p:ext uri="{BB962C8B-B14F-4D97-AF65-F5344CB8AC3E}">
        <p14:creationId xmlns:p14="http://schemas.microsoft.com/office/powerpoint/2010/main" val="508820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47C0-DEDB-A4BB-167A-D496ACAA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76559-8AA0-6894-873C-7CF584E960A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41FA2DE1-F3E7-ABE9-445A-66052FA22DBB}"/>
              </a:ext>
            </a:extLst>
          </p:cNvPr>
          <p:cNvSpPr>
            <a:spLocks noGrp="1"/>
          </p:cNvSpPr>
          <p:nvPr>
            <p:ph type="tbl" sz="quarter" idx="10"/>
          </p:nvPr>
        </p:nvSpPr>
        <p:spPr>
          <a:xfrm>
            <a:off x="334963" y="1808162"/>
            <a:ext cx="3149017" cy="4681538"/>
          </a:xfrm>
        </p:spPr>
        <p:txBody>
          <a:bodyPr/>
          <a:lstStyle/>
          <a:p>
            <a:r>
              <a:rPr lang="en-GB" b="1" dirty="0"/>
              <a:t>3. Plan</a:t>
            </a:r>
          </a:p>
          <a:p>
            <a:r>
              <a:rPr lang="en-GB" dirty="0"/>
              <a:t>Start by working backwards…</a:t>
            </a:r>
          </a:p>
          <a:p>
            <a:endParaRPr lang="en-GB" dirty="0"/>
          </a:p>
        </p:txBody>
      </p:sp>
      <p:pic>
        <p:nvPicPr>
          <p:cNvPr id="5" name="Picture 4">
            <a:extLst>
              <a:ext uri="{FF2B5EF4-FFF2-40B4-BE49-F238E27FC236}">
                <a16:creationId xmlns:a16="http://schemas.microsoft.com/office/drawing/2014/main" id="{2E4CB9E7-514B-A2A3-C115-212F0683A7FD}"/>
              </a:ext>
            </a:extLst>
          </p:cNvPr>
          <p:cNvPicPr>
            <a:picLocks noChangeAspect="1"/>
          </p:cNvPicPr>
          <p:nvPr/>
        </p:nvPicPr>
        <p:blipFill>
          <a:blip r:embed="rId3"/>
          <a:stretch>
            <a:fillRect/>
          </a:stretch>
        </p:blipFill>
        <p:spPr>
          <a:xfrm>
            <a:off x="4543063" y="2041470"/>
            <a:ext cx="5989899" cy="3474141"/>
          </a:xfrm>
          <a:prstGeom prst="rect">
            <a:avLst/>
          </a:prstGeom>
        </p:spPr>
      </p:pic>
    </p:spTree>
    <p:extLst>
      <p:ext uri="{BB962C8B-B14F-4D97-AF65-F5344CB8AC3E}">
        <p14:creationId xmlns:p14="http://schemas.microsoft.com/office/powerpoint/2010/main" val="602864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3D11-1FC4-8263-FDE0-0C9C13726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DD202-794F-5D25-685B-77527F2B08BE}"/>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9957B666-FC2C-7986-E917-F7098A2EBFF8}"/>
              </a:ext>
            </a:extLst>
          </p:cNvPr>
          <p:cNvSpPr>
            <a:spLocks noGrp="1"/>
          </p:cNvSpPr>
          <p:nvPr>
            <p:ph type="tbl" sz="quarter" idx="10"/>
          </p:nvPr>
        </p:nvSpPr>
        <p:spPr>
          <a:xfrm>
            <a:off x="334963" y="1808162"/>
            <a:ext cx="3149017" cy="4681538"/>
          </a:xfrm>
        </p:spPr>
        <p:txBody>
          <a:bodyPr/>
          <a:lstStyle/>
          <a:p>
            <a:r>
              <a:rPr lang="en-GB" b="1" dirty="0"/>
              <a:t>3. Plan</a:t>
            </a:r>
          </a:p>
          <a:p>
            <a:r>
              <a:rPr lang="en-GB" dirty="0"/>
              <a:t>Break up calculation into two stages:</a:t>
            </a:r>
          </a:p>
          <a:p>
            <a:r>
              <a:rPr lang="en-GB" dirty="0"/>
              <a:t>(</a:t>
            </a:r>
            <a:r>
              <a:rPr lang="en-GB" dirty="0" err="1"/>
              <a:t>i</a:t>
            </a:r>
            <a:r>
              <a:rPr lang="en-GB" dirty="0"/>
              <a:t>) amount of ephedrine</a:t>
            </a:r>
          </a:p>
          <a:p>
            <a:r>
              <a:rPr lang="en-GB" dirty="0"/>
              <a:t>(ii) purity of sample</a:t>
            </a:r>
          </a:p>
          <a:p>
            <a:endParaRPr lang="en-GB" dirty="0"/>
          </a:p>
          <a:p>
            <a:r>
              <a:rPr lang="en-GB" b="1" dirty="0"/>
              <a:t>4. Execute</a:t>
            </a:r>
          </a:p>
          <a:p>
            <a:endParaRPr lang="en-GB" b="1" dirty="0"/>
          </a:p>
          <a:p>
            <a:r>
              <a:rPr lang="en-GB" b="1" dirty="0"/>
              <a:t>5. Check</a:t>
            </a:r>
          </a:p>
        </p:txBody>
      </p:sp>
      <p:pic>
        <p:nvPicPr>
          <p:cNvPr id="4" name="Picture 3">
            <a:extLst>
              <a:ext uri="{FF2B5EF4-FFF2-40B4-BE49-F238E27FC236}">
                <a16:creationId xmlns:a16="http://schemas.microsoft.com/office/drawing/2014/main" id="{FB0829AE-5C8D-FC4F-656B-13495C88CE36}"/>
              </a:ext>
            </a:extLst>
          </p:cNvPr>
          <p:cNvPicPr>
            <a:picLocks noChangeAspect="1"/>
          </p:cNvPicPr>
          <p:nvPr/>
        </p:nvPicPr>
        <p:blipFill>
          <a:blip r:embed="rId3"/>
          <a:stretch>
            <a:fillRect/>
          </a:stretch>
        </p:blipFill>
        <p:spPr>
          <a:xfrm>
            <a:off x="2935103" y="1519238"/>
            <a:ext cx="9002958" cy="4681538"/>
          </a:xfrm>
          <a:prstGeom prst="rect">
            <a:avLst/>
          </a:prstGeom>
        </p:spPr>
      </p:pic>
      <p:sp>
        <p:nvSpPr>
          <p:cNvPr id="5" name="TextBox 4">
            <a:extLst>
              <a:ext uri="{FF2B5EF4-FFF2-40B4-BE49-F238E27FC236}">
                <a16:creationId xmlns:a16="http://schemas.microsoft.com/office/drawing/2014/main" id="{CE16E791-B57E-E7BA-645E-2B1F8B51DA2A}"/>
              </a:ext>
            </a:extLst>
          </p:cNvPr>
          <p:cNvSpPr txBox="1"/>
          <p:nvPr/>
        </p:nvSpPr>
        <p:spPr>
          <a:xfrm>
            <a:off x="3093156" y="4064000"/>
            <a:ext cx="1018227" cy="369332"/>
          </a:xfrm>
          <a:prstGeom prst="rect">
            <a:avLst/>
          </a:prstGeom>
          <a:noFill/>
        </p:spPr>
        <p:txBody>
          <a:bodyPr wrap="none" rtlCol="0">
            <a:spAutoFit/>
          </a:bodyPr>
          <a:lstStyle/>
          <a:p>
            <a:r>
              <a:rPr lang="en-GB" dirty="0"/>
              <a:t>7.15 mL</a:t>
            </a:r>
          </a:p>
        </p:txBody>
      </p:sp>
      <p:sp>
        <p:nvSpPr>
          <p:cNvPr id="6" name="TextBox 5">
            <a:extLst>
              <a:ext uri="{FF2B5EF4-FFF2-40B4-BE49-F238E27FC236}">
                <a16:creationId xmlns:a16="http://schemas.microsoft.com/office/drawing/2014/main" id="{7EA73AB1-302E-3931-0375-B2A0D2A96AE1}"/>
              </a:ext>
            </a:extLst>
          </p:cNvPr>
          <p:cNvSpPr txBox="1"/>
          <p:nvPr/>
        </p:nvSpPr>
        <p:spPr>
          <a:xfrm>
            <a:off x="3093156" y="5226755"/>
            <a:ext cx="1001108" cy="369332"/>
          </a:xfrm>
          <a:prstGeom prst="rect">
            <a:avLst/>
          </a:prstGeom>
          <a:noFill/>
        </p:spPr>
        <p:txBody>
          <a:bodyPr wrap="none" rtlCol="0">
            <a:spAutoFit/>
          </a:bodyPr>
          <a:lstStyle/>
          <a:p>
            <a:pPr algn="ctr"/>
            <a:r>
              <a:rPr lang="en-GB" dirty="0"/>
              <a:t>0.110 M</a:t>
            </a:r>
          </a:p>
        </p:txBody>
      </p:sp>
      <p:sp>
        <p:nvSpPr>
          <p:cNvPr id="8" name="TextBox 7">
            <a:extLst>
              <a:ext uri="{FF2B5EF4-FFF2-40B4-BE49-F238E27FC236}">
                <a16:creationId xmlns:a16="http://schemas.microsoft.com/office/drawing/2014/main" id="{73D1B8E4-E170-0F16-0AF3-F62722A912E1}"/>
              </a:ext>
            </a:extLst>
          </p:cNvPr>
          <p:cNvSpPr txBox="1"/>
          <p:nvPr/>
        </p:nvSpPr>
        <p:spPr>
          <a:xfrm>
            <a:off x="4766643" y="2235199"/>
            <a:ext cx="1018228" cy="369332"/>
          </a:xfrm>
          <a:prstGeom prst="rect">
            <a:avLst/>
          </a:prstGeom>
          <a:noFill/>
        </p:spPr>
        <p:txBody>
          <a:bodyPr wrap="none" rtlCol="0">
            <a:spAutoFit/>
          </a:bodyPr>
          <a:lstStyle/>
          <a:p>
            <a:pPr algn="ctr"/>
            <a:r>
              <a:rPr lang="en-GB" dirty="0"/>
              <a:t>20.0 mL</a:t>
            </a:r>
          </a:p>
        </p:txBody>
      </p:sp>
      <p:sp>
        <p:nvSpPr>
          <p:cNvPr id="9" name="TextBox 8">
            <a:extLst>
              <a:ext uri="{FF2B5EF4-FFF2-40B4-BE49-F238E27FC236}">
                <a16:creationId xmlns:a16="http://schemas.microsoft.com/office/drawing/2014/main" id="{6456E8B4-4906-86A5-5099-0148AF8A3626}"/>
              </a:ext>
            </a:extLst>
          </p:cNvPr>
          <p:cNvSpPr txBox="1"/>
          <p:nvPr/>
        </p:nvSpPr>
        <p:spPr>
          <a:xfrm>
            <a:off x="4766645" y="3397954"/>
            <a:ext cx="1018228" cy="369332"/>
          </a:xfrm>
          <a:prstGeom prst="rect">
            <a:avLst/>
          </a:prstGeom>
          <a:noFill/>
        </p:spPr>
        <p:txBody>
          <a:bodyPr wrap="none" rtlCol="0">
            <a:spAutoFit/>
          </a:bodyPr>
          <a:lstStyle/>
          <a:p>
            <a:pPr algn="ctr"/>
            <a:r>
              <a:rPr lang="en-GB" dirty="0"/>
              <a:t>0.098 M</a:t>
            </a:r>
          </a:p>
        </p:txBody>
      </p:sp>
      <p:sp>
        <p:nvSpPr>
          <p:cNvPr id="10" name="TextBox 9">
            <a:extLst>
              <a:ext uri="{FF2B5EF4-FFF2-40B4-BE49-F238E27FC236}">
                <a16:creationId xmlns:a16="http://schemas.microsoft.com/office/drawing/2014/main" id="{D71D38D3-1FEF-A46E-1D05-203492B337DF}"/>
              </a:ext>
            </a:extLst>
          </p:cNvPr>
          <p:cNvSpPr txBox="1"/>
          <p:nvPr/>
        </p:nvSpPr>
        <p:spPr>
          <a:xfrm>
            <a:off x="4516580" y="4763910"/>
            <a:ext cx="1518364" cy="369332"/>
          </a:xfrm>
          <a:prstGeom prst="rect">
            <a:avLst/>
          </a:prstGeom>
          <a:noFill/>
        </p:spPr>
        <p:txBody>
          <a:bodyPr wrap="none" rtlCol="0">
            <a:spAutoFit/>
          </a:bodyPr>
          <a:lstStyle/>
          <a:p>
            <a:pPr algn="ctr"/>
            <a:r>
              <a:rPr lang="en-GB" dirty="0"/>
              <a:t>0.7865 mmol</a:t>
            </a:r>
          </a:p>
        </p:txBody>
      </p:sp>
      <p:sp>
        <p:nvSpPr>
          <p:cNvPr id="11" name="TextBox 10">
            <a:extLst>
              <a:ext uri="{FF2B5EF4-FFF2-40B4-BE49-F238E27FC236}">
                <a16:creationId xmlns:a16="http://schemas.microsoft.com/office/drawing/2014/main" id="{195694BA-8910-5CE6-499B-676A74535F44}"/>
              </a:ext>
            </a:extLst>
          </p:cNvPr>
          <p:cNvSpPr txBox="1"/>
          <p:nvPr/>
        </p:nvSpPr>
        <p:spPr>
          <a:xfrm>
            <a:off x="6530063" y="2946398"/>
            <a:ext cx="1261884" cy="369332"/>
          </a:xfrm>
          <a:prstGeom prst="rect">
            <a:avLst/>
          </a:prstGeom>
          <a:noFill/>
        </p:spPr>
        <p:txBody>
          <a:bodyPr wrap="none" rtlCol="0">
            <a:spAutoFit/>
          </a:bodyPr>
          <a:lstStyle/>
          <a:p>
            <a:pPr algn="ctr"/>
            <a:r>
              <a:rPr lang="en-GB" dirty="0"/>
              <a:t>1.96 mmol</a:t>
            </a:r>
          </a:p>
        </p:txBody>
      </p:sp>
      <p:sp>
        <p:nvSpPr>
          <p:cNvPr id="12" name="TextBox 11">
            <a:extLst>
              <a:ext uri="{FF2B5EF4-FFF2-40B4-BE49-F238E27FC236}">
                <a16:creationId xmlns:a16="http://schemas.microsoft.com/office/drawing/2014/main" id="{A5E5AD77-81F6-5109-1100-4D70B7C7EDBC}"/>
              </a:ext>
            </a:extLst>
          </p:cNvPr>
          <p:cNvSpPr txBox="1"/>
          <p:nvPr/>
        </p:nvSpPr>
        <p:spPr>
          <a:xfrm>
            <a:off x="6401824" y="5475110"/>
            <a:ext cx="1518364" cy="369332"/>
          </a:xfrm>
          <a:prstGeom prst="rect">
            <a:avLst/>
          </a:prstGeom>
          <a:noFill/>
        </p:spPr>
        <p:txBody>
          <a:bodyPr wrap="none" rtlCol="0">
            <a:spAutoFit/>
          </a:bodyPr>
          <a:lstStyle/>
          <a:p>
            <a:pPr algn="ctr"/>
            <a:r>
              <a:rPr lang="en-GB" dirty="0"/>
              <a:t>0.7865 mmol</a:t>
            </a:r>
          </a:p>
        </p:txBody>
      </p:sp>
      <p:sp>
        <p:nvSpPr>
          <p:cNvPr id="13" name="TextBox 12">
            <a:extLst>
              <a:ext uri="{FF2B5EF4-FFF2-40B4-BE49-F238E27FC236}">
                <a16:creationId xmlns:a16="http://schemas.microsoft.com/office/drawing/2014/main" id="{73F2C9B9-E866-2E57-87F8-73518B19D8B5}"/>
              </a:ext>
            </a:extLst>
          </p:cNvPr>
          <p:cNvSpPr txBox="1"/>
          <p:nvPr/>
        </p:nvSpPr>
        <p:spPr>
          <a:xfrm>
            <a:off x="8659603" y="4244621"/>
            <a:ext cx="1518364" cy="369332"/>
          </a:xfrm>
          <a:prstGeom prst="rect">
            <a:avLst/>
          </a:prstGeom>
          <a:noFill/>
        </p:spPr>
        <p:txBody>
          <a:bodyPr wrap="none" rtlCol="0">
            <a:spAutoFit/>
          </a:bodyPr>
          <a:lstStyle/>
          <a:p>
            <a:pPr algn="ctr"/>
            <a:r>
              <a:rPr lang="en-GB" dirty="0"/>
              <a:t>1.1735 mmol</a:t>
            </a:r>
          </a:p>
        </p:txBody>
      </p:sp>
      <p:sp>
        <p:nvSpPr>
          <p:cNvPr id="14" name="TextBox 13">
            <a:extLst>
              <a:ext uri="{FF2B5EF4-FFF2-40B4-BE49-F238E27FC236}">
                <a16:creationId xmlns:a16="http://schemas.microsoft.com/office/drawing/2014/main" id="{47CB291F-ED0B-2F75-75A3-5FDABCB6F8AC}"/>
              </a:ext>
            </a:extLst>
          </p:cNvPr>
          <p:cNvSpPr txBox="1"/>
          <p:nvPr/>
        </p:nvSpPr>
        <p:spPr>
          <a:xfrm>
            <a:off x="10454536" y="5068710"/>
            <a:ext cx="1518364" cy="369332"/>
          </a:xfrm>
          <a:prstGeom prst="rect">
            <a:avLst/>
          </a:prstGeom>
          <a:noFill/>
        </p:spPr>
        <p:txBody>
          <a:bodyPr wrap="none" rtlCol="0">
            <a:spAutoFit/>
          </a:bodyPr>
          <a:lstStyle/>
          <a:p>
            <a:pPr algn="ctr"/>
            <a:r>
              <a:rPr lang="en-GB" dirty="0"/>
              <a:t>1.1735 mmol</a:t>
            </a:r>
          </a:p>
        </p:txBody>
      </p:sp>
    </p:spTree>
    <p:extLst>
      <p:ext uri="{BB962C8B-B14F-4D97-AF65-F5344CB8AC3E}">
        <p14:creationId xmlns:p14="http://schemas.microsoft.com/office/powerpoint/2010/main" val="1761682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47C0-DEDB-A4BB-167A-D496ACAA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76559-8AA0-6894-873C-7CF584E960A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41FA2DE1-F3E7-ABE9-445A-66052FA22DBB}"/>
              </a:ext>
            </a:extLst>
          </p:cNvPr>
          <p:cNvSpPr>
            <a:spLocks noGrp="1"/>
          </p:cNvSpPr>
          <p:nvPr>
            <p:ph type="tbl" sz="quarter" idx="10"/>
          </p:nvPr>
        </p:nvSpPr>
        <p:spPr>
          <a:xfrm>
            <a:off x="334963" y="1808162"/>
            <a:ext cx="3149017" cy="4681538"/>
          </a:xfrm>
        </p:spPr>
        <p:txBody>
          <a:bodyPr/>
          <a:lstStyle/>
          <a:p>
            <a:r>
              <a:rPr lang="en-GB" b="1" dirty="0"/>
              <a:t>3. Plan</a:t>
            </a:r>
          </a:p>
          <a:p>
            <a:r>
              <a:rPr lang="en-GB" dirty="0"/>
              <a:t>Break up calculation into two stages:</a:t>
            </a:r>
          </a:p>
          <a:p>
            <a:r>
              <a:rPr lang="en-GB" dirty="0"/>
              <a:t>(</a:t>
            </a:r>
            <a:r>
              <a:rPr lang="en-GB" dirty="0" err="1"/>
              <a:t>i</a:t>
            </a:r>
            <a:r>
              <a:rPr lang="en-GB" dirty="0"/>
              <a:t>) amount of ephedrine</a:t>
            </a:r>
          </a:p>
          <a:p>
            <a:r>
              <a:rPr lang="en-GB" dirty="0"/>
              <a:t>(ii) purity of sample</a:t>
            </a:r>
          </a:p>
          <a:p>
            <a:endParaRPr lang="en-GB" dirty="0"/>
          </a:p>
          <a:p>
            <a:r>
              <a:rPr lang="en-GB" b="1" dirty="0"/>
              <a:t>4. Execute</a:t>
            </a:r>
          </a:p>
          <a:p>
            <a:endParaRPr lang="en-GB" b="1" dirty="0"/>
          </a:p>
          <a:p>
            <a:r>
              <a:rPr lang="en-GB" b="1" dirty="0"/>
              <a:t>5. Check</a:t>
            </a:r>
          </a:p>
        </p:txBody>
      </p:sp>
      <p:pic>
        <p:nvPicPr>
          <p:cNvPr id="5" name="Picture 4">
            <a:extLst>
              <a:ext uri="{FF2B5EF4-FFF2-40B4-BE49-F238E27FC236}">
                <a16:creationId xmlns:a16="http://schemas.microsoft.com/office/drawing/2014/main" id="{2E4CB9E7-514B-A2A3-C115-212F0683A7FD}"/>
              </a:ext>
            </a:extLst>
          </p:cNvPr>
          <p:cNvPicPr>
            <a:picLocks noChangeAspect="1"/>
          </p:cNvPicPr>
          <p:nvPr/>
        </p:nvPicPr>
        <p:blipFill>
          <a:blip r:embed="rId3"/>
          <a:stretch>
            <a:fillRect/>
          </a:stretch>
        </p:blipFill>
        <p:spPr>
          <a:xfrm>
            <a:off x="4543063" y="2041470"/>
            <a:ext cx="5989899" cy="3474141"/>
          </a:xfrm>
          <a:prstGeom prst="rect">
            <a:avLst/>
          </a:prstGeom>
        </p:spPr>
      </p:pic>
      <p:sp>
        <p:nvSpPr>
          <p:cNvPr id="4" name="TextBox 3">
            <a:extLst>
              <a:ext uri="{FF2B5EF4-FFF2-40B4-BE49-F238E27FC236}">
                <a16:creationId xmlns:a16="http://schemas.microsoft.com/office/drawing/2014/main" id="{7807A1DC-C68A-FC2B-80C6-6979383432FB}"/>
              </a:ext>
            </a:extLst>
          </p:cNvPr>
          <p:cNvSpPr txBox="1"/>
          <p:nvPr/>
        </p:nvSpPr>
        <p:spPr>
          <a:xfrm>
            <a:off x="4787514" y="5398679"/>
            <a:ext cx="1518364" cy="369332"/>
          </a:xfrm>
          <a:prstGeom prst="rect">
            <a:avLst/>
          </a:prstGeom>
          <a:noFill/>
        </p:spPr>
        <p:txBody>
          <a:bodyPr wrap="none" rtlCol="0">
            <a:spAutoFit/>
          </a:bodyPr>
          <a:lstStyle/>
          <a:p>
            <a:pPr algn="ctr"/>
            <a:r>
              <a:rPr lang="en-GB" dirty="0"/>
              <a:t>1.1735 mmol</a:t>
            </a:r>
          </a:p>
        </p:txBody>
      </p:sp>
      <p:sp>
        <p:nvSpPr>
          <p:cNvPr id="6" name="TextBox 5">
            <a:extLst>
              <a:ext uri="{FF2B5EF4-FFF2-40B4-BE49-F238E27FC236}">
                <a16:creationId xmlns:a16="http://schemas.microsoft.com/office/drawing/2014/main" id="{DA93213C-9479-E6B7-D2A6-5D0ED34FF78D}"/>
              </a:ext>
            </a:extLst>
          </p:cNvPr>
          <p:cNvSpPr txBox="1"/>
          <p:nvPr/>
        </p:nvSpPr>
        <p:spPr>
          <a:xfrm>
            <a:off x="4851637" y="3908546"/>
            <a:ext cx="1390124" cy="369332"/>
          </a:xfrm>
          <a:prstGeom prst="rect">
            <a:avLst/>
          </a:prstGeom>
          <a:noFill/>
        </p:spPr>
        <p:txBody>
          <a:bodyPr wrap="none" rtlCol="0">
            <a:spAutoFit/>
          </a:bodyPr>
          <a:lstStyle/>
          <a:p>
            <a:pPr algn="ctr"/>
            <a:r>
              <a:rPr lang="en-GB" dirty="0"/>
              <a:t>165.2 g/mol</a:t>
            </a:r>
          </a:p>
        </p:txBody>
      </p:sp>
      <p:sp>
        <p:nvSpPr>
          <p:cNvPr id="7" name="TextBox 6">
            <a:extLst>
              <a:ext uri="{FF2B5EF4-FFF2-40B4-BE49-F238E27FC236}">
                <a16:creationId xmlns:a16="http://schemas.microsoft.com/office/drawing/2014/main" id="{0A9C121C-3005-4565-1EE8-08A07066812E}"/>
              </a:ext>
            </a:extLst>
          </p:cNvPr>
          <p:cNvSpPr txBox="1"/>
          <p:nvPr/>
        </p:nvSpPr>
        <p:spPr>
          <a:xfrm>
            <a:off x="7259691" y="3028013"/>
            <a:ext cx="954108" cy="369332"/>
          </a:xfrm>
          <a:prstGeom prst="rect">
            <a:avLst/>
          </a:prstGeom>
          <a:noFill/>
        </p:spPr>
        <p:txBody>
          <a:bodyPr wrap="none" rtlCol="0">
            <a:spAutoFit/>
          </a:bodyPr>
          <a:lstStyle/>
          <a:p>
            <a:pPr algn="ctr"/>
            <a:r>
              <a:rPr lang="en-GB" dirty="0"/>
              <a:t>0.198 g</a:t>
            </a:r>
          </a:p>
        </p:txBody>
      </p:sp>
      <p:sp>
        <p:nvSpPr>
          <p:cNvPr id="8" name="TextBox 7">
            <a:extLst>
              <a:ext uri="{FF2B5EF4-FFF2-40B4-BE49-F238E27FC236}">
                <a16:creationId xmlns:a16="http://schemas.microsoft.com/office/drawing/2014/main" id="{2F24BE5A-7413-E380-165E-B3D11C3AC261}"/>
              </a:ext>
            </a:extLst>
          </p:cNvPr>
          <p:cNvSpPr txBox="1"/>
          <p:nvPr/>
        </p:nvSpPr>
        <p:spPr>
          <a:xfrm>
            <a:off x="7206858" y="4822945"/>
            <a:ext cx="1082349" cy="369332"/>
          </a:xfrm>
          <a:prstGeom prst="rect">
            <a:avLst/>
          </a:prstGeom>
          <a:noFill/>
        </p:spPr>
        <p:txBody>
          <a:bodyPr wrap="none" rtlCol="0">
            <a:spAutoFit/>
          </a:bodyPr>
          <a:lstStyle/>
          <a:p>
            <a:pPr algn="ctr"/>
            <a:r>
              <a:rPr lang="en-GB" dirty="0"/>
              <a:t>0.1939 g</a:t>
            </a:r>
          </a:p>
        </p:txBody>
      </p:sp>
      <p:sp>
        <p:nvSpPr>
          <p:cNvPr id="9" name="TextBox 8">
            <a:extLst>
              <a:ext uri="{FF2B5EF4-FFF2-40B4-BE49-F238E27FC236}">
                <a16:creationId xmlns:a16="http://schemas.microsoft.com/office/drawing/2014/main" id="{292764FC-9C30-B680-0686-5AFBE7E47ABA}"/>
              </a:ext>
            </a:extLst>
          </p:cNvPr>
          <p:cNvSpPr txBox="1"/>
          <p:nvPr/>
        </p:nvSpPr>
        <p:spPr>
          <a:xfrm>
            <a:off x="9349399" y="3908545"/>
            <a:ext cx="838691" cy="369332"/>
          </a:xfrm>
          <a:prstGeom prst="rect">
            <a:avLst/>
          </a:prstGeom>
          <a:noFill/>
        </p:spPr>
        <p:txBody>
          <a:bodyPr wrap="none" rtlCol="0">
            <a:spAutoFit/>
          </a:bodyPr>
          <a:lstStyle/>
          <a:p>
            <a:pPr algn="ctr"/>
            <a:r>
              <a:rPr lang="en-GB" dirty="0"/>
              <a:t>97.9%</a:t>
            </a:r>
          </a:p>
        </p:txBody>
      </p:sp>
    </p:spTree>
    <p:extLst>
      <p:ext uri="{BB962C8B-B14F-4D97-AF65-F5344CB8AC3E}">
        <p14:creationId xmlns:p14="http://schemas.microsoft.com/office/powerpoint/2010/main" val="3972783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A7DA-B91A-BC75-CECA-5EFA742B8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2C8BE-52B3-0DB6-F4C4-FE7EB3B4106B}"/>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E6F68BE9-316B-4968-3773-21622F557AE6}"/>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628D8E7E-DC87-3B0E-4C85-C6C8D5AADCE7}"/>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E71986F2-2A90-87C7-FEC2-A7A56B949956}"/>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625E0C64-105F-1B40-49C5-CFDE8F2B090A}"/>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865DD500-1A7C-DEC8-E3B7-D88C415B127B}"/>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4475AC09-87D3-BF5D-6A5A-0EA784060413}"/>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E4CB7358-00BC-9B4D-7EE5-E3CEDF40AF40}"/>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7556FB1F-6483-C07A-E7F9-8822EF5B6A91}"/>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17E79AD1-A25B-5B51-9667-E4F927331A8E}"/>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EC85E682-BF6F-A33F-9559-249B2AE3ABBF}"/>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FC0586FB-F1FD-16BB-FA12-27D4E730A3D6}"/>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41E18F2-4015-A683-0664-56415F907A12}"/>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25723E1-E5C1-2B58-1554-00EFE0210EBD}"/>
              </a:ext>
            </a:extLst>
          </p:cNvPr>
          <p:cNvSpPr txBox="1"/>
          <p:nvPr/>
        </p:nvSpPr>
        <p:spPr>
          <a:xfrm>
            <a:off x="562118" y="4573342"/>
            <a:ext cx="230063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0" name="TextBox 19">
            <a:extLst>
              <a:ext uri="{FF2B5EF4-FFF2-40B4-BE49-F238E27FC236}">
                <a16:creationId xmlns:a16="http://schemas.microsoft.com/office/drawing/2014/main" id="{DBFAA0A3-439D-7588-C37E-83E62D1B1612}"/>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59D6CA4A-D9DA-983D-6CB0-D208C5B3D677}"/>
              </a:ext>
            </a:extLst>
          </p:cNvPr>
          <p:cNvSpPr txBox="1"/>
          <p:nvPr/>
        </p:nvSpPr>
        <p:spPr>
          <a:xfrm>
            <a:off x="7094340" y="1779285"/>
            <a:ext cx="1992853" cy="1200329"/>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i="1" dirty="0"/>
              <a:t>concentration</a:t>
            </a:r>
          </a:p>
        </p:txBody>
      </p:sp>
      <p:sp>
        <p:nvSpPr>
          <p:cNvPr id="22" name="TextBox 21">
            <a:extLst>
              <a:ext uri="{FF2B5EF4-FFF2-40B4-BE49-F238E27FC236}">
                <a16:creationId xmlns:a16="http://schemas.microsoft.com/office/drawing/2014/main" id="{02777983-71FF-8395-3352-3D077981A235}"/>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76B53F52-7435-9E07-1DB5-FA3553428ECA}"/>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D539FA64-70C7-3F69-5E73-731139023370}"/>
              </a:ext>
            </a:extLst>
          </p:cNvPr>
          <p:cNvSpPr txBox="1"/>
          <p:nvPr/>
        </p:nvSpPr>
        <p:spPr>
          <a:xfrm>
            <a:off x="3845889" y="5773671"/>
            <a:ext cx="6571286" cy="400110"/>
          </a:xfrm>
          <a:prstGeom prst="rect">
            <a:avLst/>
          </a:prstGeom>
          <a:solidFill>
            <a:schemeClr val="accent4"/>
          </a:solidFill>
        </p:spPr>
        <p:txBody>
          <a:bodyPr wrap="none" rtlCol="0">
            <a:spAutoFit/>
          </a:bodyPr>
          <a:lstStyle/>
          <a:p>
            <a:r>
              <a:rPr lang="en-GB" sz="2000" b="1" dirty="0"/>
              <a:t>starting amount = amount reacted + amount titrated</a:t>
            </a:r>
          </a:p>
        </p:txBody>
      </p:sp>
    </p:spTree>
    <p:extLst>
      <p:ext uri="{BB962C8B-B14F-4D97-AF65-F5344CB8AC3E}">
        <p14:creationId xmlns:p14="http://schemas.microsoft.com/office/powerpoint/2010/main" val="4223394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6D53-393E-F1A7-EA3F-203508D2B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DA2DD-4B51-254E-8EBC-EEC547A5F4E5}"/>
              </a:ext>
            </a:extLst>
          </p:cNvPr>
          <p:cNvSpPr>
            <a:spLocks noGrp="1"/>
          </p:cNvSpPr>
          <p:nvPr>
            <p:ph type="title"/>
          </p:nvPr>
        </p:nvSpPr>
        <p:spPr/>
        <p:txBody>
          <a:bodyPr/>
          <a:lstStyle/>
          <a:p>
            <a:r>
              <a:rPr lang="en-GB" dirty="0"/>
              <a:t>What if one concentration is unknown?</a:t>
            </a:r>
          </a:p>
        </p:txBody>
      </p:sp>
      <p:grpSp>
        <p:nvGrpSpPr>
          <p:cNvPr id="13" name="Group 12">
            <a:extLst>
              <a:ext uri="{FF2B5EF4-FFF2-40B4-BE49-F238E27FC236}">
                <a16:creationId xmlns:a16="http://schemas.microsoft.com/office/drawing/2014/main" id="{825AEE60-AA17-33A4-59E8-BA6CED37CC38}"/>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CC2B2231-918D-23C2-38F0-C68ACE10F460}"/>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90F067B7-94C8-5B85-1A35-695198EFF394}"/>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0D595EA6-1284-7155-12F6-DBD9C98D897E}"/>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89583CD6-DF02-CEB9-A3E9-A2F3A01C5D0F}"/>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A04025F-D088-5763-035E-D1969A47E2F1}"/>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0280E59E-E6DB-37D6-13FF-BBE8FDF44429}"/>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DBBC545E-157D-A831-71F8-EF6723753113}"/>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E70ABB5F-9D2D-2DF6-F01F-5780BC5BECFB}"/>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5CD37258-9A88-1231-1622-32C7D4A327D6}"/>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2E41A89F-671E-F11E-0407-41072DAA89BD}"/>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C64CACC-95F6-EFE3-CEFC-BAB52CB0EE35}"/>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842F607-0C62-2615-5CE6-14B57C878D6B}"/>
              </a:ext>
            </a:extLst>
          </p:cNvPr>
          <p:cNvSpPr txBox="1"/>
          <p:nvPr/>
        </p:nvSpPr>
        <p:spPr>
          <a:xfrm>
            <a:off x="542882" y="4573342"/>
            <a:ext cx="2339103"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0" name="TextBox 19">
            <a:extLst>
              <a:ext uri="{FF2B5EF4-FFF2-40B4-BE49-F238E27FC236}">
                <a16:creationId xmlns:a16="http://schemas.microsoft.com/office/drawing/2014/main" id="{D1794333-0097-4F0C-1A03-DA62A44A091D}"/>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67E4179C-74AD-1260-E7DD-B20532E48025}"/>
              </a:ext>
            </a:extLst>
          </p:cNvPr>
          <p:cNvSpPr txBox="1"/>
          <p:nvPr/>
        </p:nvSpPr>
        <p:spPr>
          <a:xfrm>
            <a:off x="7094341" y="1588822"/>
            <a:ext cx="1992853" cy="1477328"/>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b="1" i="1" dirty="0">
                <a:solidFill>
                  <a:srgbClr val="FF0000"/>
                </a:solidFill>
              </a:rPr>
              <a:t>UNKNOWN</a:t>
            </a:r>
          </a:p>
          <a:p>
            <a:pPr algn="ctr"/>
            <a:r>
              <a:rPr lang="en-GB" i="1" dirty="0"/>
              <a:t>concentration</a:t>
            </a:r>
          </a:p>
        </p:txBody>
      </p:sp>
      <p:sp>
        <p:nvSpPr>
          <p:cNvPr id="22" name="TextBox 21">
            <a:extLst>
              <a:ext uri="{FF2B5EF4-FFF2-40B4-BE49-F238E27FC236}">
                <a16:creationId xmlns:a16="http://schemas.microsoft.com/office/drawing/2014/main" id="{6B45A407-3CD3-A0CC-BE1E-4B327611095E}"/>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E31B71CA-14BF-1137-9C05-B932387B692C}"/>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626104F2-4916-3B3F-D4E2-38B67DE5DEA8}"/>
              </a:ext>
            </a:extLst>
          </p:cNvPr>
          <p:cNvSpPr txBox="1"/>
          <p:nvPr/>
        </p:nvSpPr>
        <p:spPr>
          <a:xfrm>
            <a:off x="3845889" y="5773671"/>
            <a:ext cx="5081840" cy="400110"/>
          </a:xfrm>
          <a:prstGeom prst="rect">
            <a:avLst/>
          </a:prstGeom>
          <a:solidFill>
            <a:schemeClr val="accent4"/>
          </a:solidFill>
        </p:spPr>
        <p:txBody>
          <a:bodyPr wrap="none" rtlCol="0">
            <a:spAutoFit/>
          </a:bodyPr>
          <a:lstStyle/>
          <a:p>
            <a:r>
              <a:rPr lang="en-GB" sz="2000" b="1" dirty="0"/>
              <a:t>starting amount = amount reacted + ???</a:t>
            </a:r>
          </a:p>
        </p:txBody>
      </p:sp>
    </p:spTree>
    <p:extLst>
      <p:ext uri="{BB962C8B-B14F-4D97-AF65-F5344CB8AC3E}">
        <p14:creationId xmlns:p14="http://schemas.microsoft.com/office/powerpoint/2010/main" val="39315029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A0DE-ED3E-E539-291A-424F95B1A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975A6-666A-FD1C-5746-524D9E515BA0}"/>
              </a:ext>
            </a:extLst>
          </p:cNvPr>
          <p:cNvSpPr>
            <a:spLocks noGrp="1"/>
          </p:cNvSpPr>
          <p:nvPr>
            <p:ph type="title"/>
          </p:nvPr>
        </p:nvSpPr>
        <p:spPr/>
        <p:txBody>
          <a:bodyPr/>
          <a:lstStyle/>
          <a:p>
            <a:r>
              <a:rPr lang="en-GB" dirty="0"/>
              <a:t>Volumetric analysis – blank titrations</a:t>
            </a:r>
          </a:p>
        </p:txBody>
      </p:sp>
      <p:grpSp>
        <p:nvGrpSpPr>
          <p:cNvPr id="13" name="Group 12">
            <a:extLst>
              <a:ext uri="{FF2B5EF4-FFF2-40B4-BE49-F238E27FC236}">
                <a16:creationId xmlns:a16="http://schemas.microsoft.com/office/drawing/2014/main" id="{FB5AB832-C384-7E58-2BDB-7FD7E76A9C0F}"/>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D89E42E4-C0C4-9FD4-5DBA-ABFFA39C14FB}"/>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5C7E5679-98F5-009B-15A4-8EEA6FC963F2}"/>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3FEB0228-1B4E-B4C9-0C27-0174AE0E93B2}"/>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5FDCCD4A-04FD-4ECF-3AA5-97EFF5867B43}"/>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A53E60DF-F8C6-31F6-99DA-6167C6F9C7EB}"/>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CBBD405B-90A2-9110-F8EC-49A69F80BC9E}"/>
              </a:ext>
            </a:extLst>
          </p:cNvPr>
          <p:cNvCxnSpPr>
            <a:cxnSpLocks/>
          </p:cNvCxnSpPr>
          <p:nvPr/>
        </p:nvCxnSpPr>
        <p:spPr>
          <a:xfrm>
            <a:off x="3172178" y="3200400"/>
            <a:ext cx="56105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C4FFA8-3D25-9CB4-F00B-FE310085765A}"/>
              </a:ext>
            </a:extLst>
          </p:cNvPr>
          <p:cNvSpPr txBox="1"/>
          <p:nvPr/>
        </p:nvSpPr>
        <p:spPr>
          <a:xfrm>
            <a:off x="542882" y="4573342"/>
            <a:ext cx="2339103"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1" name="TextBox 20">
            <a:extLst>
              <a:ext uri="{FF2B5EF4-FFF2-40B4-BE49-F238E27FC236}">
                <a16:creationId xmlns:a16="http://schemas.microsoft.com/office/drawing/2014/main" id="{63196935-85F5-CD22-71D6-01EF45D2A05B}"/>
              </a:ext>
            </a:extLst>
          </p:cNvPr>
          <p:cNvSpPr txBox="1"/>
          <p:nvPr/>
        </p:nvSpPr>
        <p:spPr>
          <a:xfrm>
            <a:off x="7152049" y="1588822"/>
            <a:ext cx="1877437" cy="1477328"/>
          </a:xfrm>
          <a:prstGeom prst="rect">
            <a:avLst/>
          </a:prstGeom>
          <a:noFill/>
        </p:spPr>
        <p:txBody>
          <a:bodyPr wrap="none" rtlCol="0">
            <a:spAutoFit/>
          </a:bodyPr>
          <a:lstStyle/>
          <a:p>
            <a:pPr algn="ctr"/>
            <a:r>
              <a:rPr lang="en-GB" b="1" dirty="0"/>
              <a:t>React</a:t>
            </a:r>
          </a:p>
          <a:p>
            <a:pPr algn="ctr"/>
            <a:r>
              <a:rPr lang="en-GB" b="1" dirty="0"/>
              <a:t>with</a:t>
            </a:r>
            <a:r>
              <a:rPr lang="en-GB" dirty="0"/>
              <a:t> </a:t>
            </a:r>
            <a:r>
              <a:rPr lang="en-GB" b="1" dirty="0"/>
              <a:t>titrant</a:t>
            </a:r>
          </a:p>
          <a:p>
            <a:pPr algn="ctr"/>
            <a:r>
              <a:rPr lang="en-GB" i="1" dirty="0"/>
              <a:t>known volume &amp;</a:t>
            </a:r>
          </a:p>
          <a:p>
            <a:pPr algn="ctr"/>
            <a:r>
              <a:rPr lang="en-GB" b="1" i="1" dirty="0">
                <a:solidFill>
                  <a:srgbClr val="FF0000"/>
                </a:solidFill>
              </a:rPr>
              <a:t>UNKNOWN</a:t>
            </a:r>
          </a:p>
          <a:p>
            <a:pPr algn="ctr"/>
            <a:r>
              <a:rPr lang="en-GB" i="1" dirty="0"/>
              <a:t>concentration</a:t>
            </a:r>
          </a:p>
        </p:txBody>
      </p:sp>
      <p:sp>
        <p:nvSpPr>
          <p:cNvPr id="23" name="TextBox 22">
            <a:extLst>
              <a:ext uri="{FF2B5EF4-FFF2-40B4-BE49-F238E27FC236}">
                <a16:creationId xmlns:a16="http://schemas.microsoft.com/office/drawing/2014/main" id="{C8050642-A060-C8CD-4BDF-D82370C392C0}"/>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4" name="TextBox 3">
            <a:extLst>
              <a:ext uri="{FF2B5EF4-FFF2-40B4-BE49-F238E27FC236}">
                <a16:creationId xmlns:a16="http://schemas.microsoft.com/office/drawing/2014/main" id="{9C5BAE6F-2478-3C91-2E01-FF1A3739FFB6}"/>
              </a:ext>
            </a:extLst>
          </p:cNvPr>
          <p:cNvSpPr txBox="1"/>
          <p:nvPr/>
        </p:nvSpPr>
        <p:spPr>
          <a:xfrm>
            <a:off x="3845889" y="5773671"/>
            <a:ext cx="4445448" cy="400110"/>
          </a:xfrm>
          <a:prstGeom prst="rect">
            <a:avLst/>
          </a:prstGeom>
          <a:solidFill>
            <a:schemeClr val="accent4"/>
          </a:solidFill>
        </p:spPr>
        <p:txBody>
          <a:bodyPr wrap="none" rtlCol="0">
            <a:spAutoFit/>
          </a:bodyPr>
          <a:lstStyle/>
          <a:p>
            <a:r>
              <a:rPr lang="en-GB" sz="2000" b="1" dirty="0"/>
              <a:t>starting amount = amount of titrant</a:t>
            </a:r>
          </a:p>
        </p:txBody>
      </p:sp>
    </p:spTree>
    <p:extLst>
      <p:ext uri="{BB962C8B-B14F-4D97-AF65-F5344CB8AC3E}">
        <p14:creationId xmlns:p14="http://schemas.microsoft.com/office/powerpoint/2010/main" val="3865159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9205-91D6-D1D8-929F-8DBE5F593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9732-9336-C5FF-FB8A-1FC64C4E5823}"/>
              </a:ext>
            </a:extLst>
          </p:cNvPr>
          <p:cNvSpPr>
            <a:spLocks noGrp="1"/>
          </p:cNvSpPr>
          <p:nvPr>
            <p:ph type="title"/>
          </p:nvPr>
        </p:nvSpPr>
        <p:spPr/>
        <p:txBody>
          <a:bodyPr/>
          <a:lstStyle/>
          <a:p>
            <a:r>
              <a:rPr lang="en-GB" dirty="0"/>
              <a:t>Volumetric analysis – blank titrations</a:t>
            </a:r>
          </a:p>
        </p:txBody>
      </p:sp>
      <p:sp>
        <p:nvSpPr>
          <p:cNvPr id="3" name="Table Placeholder 2">
            <a:extLst>
              <a:ext uri="{FF2B5EF4-FFF2-40B4-BE49-F238E27FC236}">
                <a16:creationId xmlns:a16="http://schemas.microsoft.com/office/drawing/2014/main" id="{3612F330-5ECB-8AFA-757D-88169F7DFEF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If the concentration of titrant is unknown, its concentration can be determined using a </a:t>
            </a:r>
            <a:r>
              <a:rPr lang="en-GB" b="1" dirty="0"/>
              <a:t>blank titration</a:t>
            </a:r>
          </a:p>
          <a:p>
            <a:pPr marL="861750" lvl="1" indent="-285750">
              <a:buFont typeface="Arial" panose="020B0604020202020204" pitchFamily="34" charset="0"/>
              <a:buChar char="•"/>
            </a:pPr>
            <a:r>
              <a:rPr lang="en-GB" dirty="0"/>
              <a:t>A known quantity of a standard solution is prepared</a:t>
            </a:r>
          </a:p>
          <a:p>
            <a:pPr marL="861750" lvl="1" indent="-285750">
              <a:buFont typeface="Arial" panose="020B0604020202020204" pitchFamily="34" charset="0"/>
              <a:buChar char="•"/>
            </a:pPr>
            <a:r>
              <a:rPr lang="en-GB" dirty="0"/>
              <a:t>The concentration of the titrant is then determined by titration</a:t>
            </a:r>
          </a:p>
          <a:p>
            <a:pPr marL="861750" lvl="1" indent="-285750">
              <a:buFont typeface="Arial" panose="020B0604020202020204" pitchFamily="34" charset="0"/>
              <a:buChar char="•"/>
            </a:pPr>
            <a:r>
              <a:rPr lang="en-GB" dirty="0"/>
              <a:t>The calculated concentration can then be used for further analysis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6" name="Picture 5">
            <a:extLst>
              <a:ext uri="{FF2B5EF4-FFF2-40B4-BE49-F238E27FC236}">
                <a16:creationId xmlns:a16="http://schemas.microsoft.com/office/drawing/2014/main" id="{5711B593-590B-8063-B8AF-E2286E900D22}"/>
              </a:ext>
            </a:extLst>
          </p:cNvPr>
          <p:cNvPicPr>
            <a:picLocks noChangeAspect="1"/>
          </p:cNvPicPr>
          <p:nvPr/>
        </p:nvPicPr>
        <p:blipFill>
          <a:blip r:embed="rId3"/>
          <a:stretch>
            <a:fillRect/>
          </a:stretch>
        </p:blipFill>
        <p:spPr>
          <a:xfrm>
            <a:off x="1428891" y="4222044"/>
            <a:ext cx="9334218" cy="1201780"/>
          </a:xfrm>
          <a:prstGeom prst="rect">
            <a:avLst/>
          </a:prstGeom>
        </p:spPr>
      </p:pic>
    </p:spTree>
    <p:extLst>
      <p:ext uri="{BB962C8B-B14F-4D97-AF65-F5344CB8AC3E}">
        <p14:creationId xmlns:p14="http://schemas.microsoft.com/office/powerpoint/2010/main" val="3666290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B6B27-6305-DE51-33F8-6DE3F4E3A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28DBE-B756-9848-F21A-D1D0219D87D2}"/>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50D6F4F1-0A08-07A3-9453-30F7EB0D1E73}"/>
              </a:ext>
            </a:extLst>
          </p:cNvPr>
          <p:cNvSpPr>
            <a:spLocks noGrp="1"/>
          </p:cNvSpPr>
          <p:nvPr>
            <p:ph type="tbl" sz="quarter" idx="10"/>
          </p:nvPr>
        </p:nvSpPr>
        <p:spPr/>
        <p:txBody>
          <a:bodyPr/>
          <a:lstStyle/>
          <a:p>
            <a:r>
              <a:rPr lang="en-GB" dirty="0"/>
              <a:t>A 0.3400 g sample of pseudoephedrine was dissolved in ethanol and 12.5 mL of 0.108 M sulphuric acid was added. The excess acid was back titrated with approximately 0.1 M sodium hydroxide solution and 5.67 mL was required. A blank titration was performed and 23.48 mL of sodium hydroxide solution was required.</a:t>
            </a:r>
          </a:p>
          <a:p>
            <a:endParaRPr lang="en-GB" dirty="0"/>
          </a:p>
          <a:p>
            <a:r>
              <a:rPr lang="en-GB" dirty="0"/>
              <a:t>The BP requires pseudoephedrine to contain not less than 99.0 per cent and not more than the equivalent of 101.0 per cent C</a:t>
            </a:r>
            <a:r>
              <a:rPr lang="en-GB" baseline="-25000" dirty="0"/>
              <a:t>10</a:t>
            </a:r>
            <a:r>
              <a:rPr lang="en-GB" dirty="0"/>
              <a:t>H</a:t>
            </a:r>
            <a:r>
              <a:rPr lang="en-GB" baseline="-25000" dirty="0"/>
              <a:t>15</a:t>
            </a:r>
            <a:r>
              <a:rPr lang="en-GB" dirty="0"/>
              <a:t>NO. (Molar mass = 165.2 g/mol)</a:t>
            </a:r>
          </a:p>
          <a:p>
            <a:endParaRPr lang="en-GB" dirty="0"/>
          </a:p>
          <a:p>
            <a:r>
              <a:rPr lang="en-GB" dirty="0"/>
              <a:t>Determine whether the sample complies with the requirements of the assay.</a:t>
            </a:r>
          </a:p>
        </p:txBody>
      </p:sp>
    </p:spTree>
    <p:extLst>
      <p:ext uri="{BB962C8B-B14F-4D97-AF65-F5344CB8AC3E}">
        <p14:creationId xmlns:p14="http://schemas.microsoft.com/office/powerpoint/2010/main" val="965098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9805-B5F1-C700-CF51-7A1AA3708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502F9-F0AF-895A-DFB3-D05CFF9720CF}"/>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7D968E45-4456-8472-177F-FF9F0BAADE83}"/>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dirty="0"/>
          </a:p>
          <a:p>
            <a:r>
              <a:rPr lang="en-GB" b="1" dirty="0"/>
              <a:t>1. Read and identify</a:t>
            </a:r>
          </a:p>
          <a:p>
            <a:pPr marL="342900" indent="-342900">
              <a:buFont typeface="Arial" panose="020B0604020202020204" pitchFamily="34" charset="0"/>
              <a:buChar char="•"/>
            </a:pPr>
            <a:r>
              <a:rPr lang="en-GB" dirty="0"/>
              <a:t>What’s being asked? </a:t>
            </a:r>
            <a:r>
              <a:rPr lang="en-GB" i="1" dirty="0"/>
              <a:t>Percentage content of ephedrine vs BP limits (assume %m/m)</a:t>
            </a:r>
            <a:endParaRPr lang="en-GB" dirty="0"/>
          </a:p>
          <a:p>
            <a:pPr marL="342900" indent="-342900">
              <a:buFont typeface="Arial" panose="020B0604020202020204" pitchFamily="34" charset="0"/>
              <a:buChar char="•"/>
            </a:pPr>
            <a:r>
              <a:rPr lang="en-GB" dirty="0"/>
              <a:t>What data is given? </a:t>
            </a:r>
            <a:r>
              <a:rPr lang="en-GB" i="1" dirty="0"/>
              <a:t>BP specifications, mass of ephedrine, molar mass of ephedrine, concentration of acid, volumes of acid and base, volume for blank titration</a:t>
            </a:r>
          </a:p>
          <a:p>
            <a:pPr marL="342900" indent="-342900">
              <a:buFont typeface="Arial" panose="020B0604020202020204" pitchFamily="34" charset="0"/>
              <a:buChar char="•"/>
            </a:pPr>
            <a:r>
              <a:rPr lang="en-GB" dirty="0"/>
              <a:t>Knowledge:</a:t>
            </a:r>
            <a:r>
              <a:rPr lang="en-GB" i="1" dirty="0"/>
              <a:t> Balanced equations</a:t>
            </a:r>
          </a:p>
        </p:txBody>
      </p:sp>
    </p:spTree>
    <p:extLst>
      <p:ext uri="{BB962C8B-B14F-4D97-AF65-F5344CB8AC3E}">
        <p14:creationId xmlns:p14="http://schemas.microsoft.com/office/powerpoint/2010/main" val="26048780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FD77-9C1A-5D81-64D8-BE9CBB5B4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167D3-C6E9-C3DD-F57A-9FF93611830A}"/>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B8E1D5C7-84F4-0FA8-9FEA-CCCEFB3AB9B0}"/>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b="1" dirty="0"/>
          </a:p>
          <a:p>
            <a:r>
              <a:rPr lang="en-GB" b="1" dirty="0"/>
              <a:t>2. Estimate</a:t>
            </a:r>
          </a:p>
          <a:p>
            <a:pPr marL="285750" indent="-285750">
              <a:buFont typeface="Arial" panose="020B0604020202020204" pitchFamily="34" charset="0"/>
              <a:buChar char="•"/>
            </a:pPr>
            <a:r>
              <a:rPr lang="en-GB" dirty="0"/>
              <a:t>Estimation gets harder as problems get more complex – but if we’re dealing with a pharmaceutical analysis we’re probably expecting purities close to 100%</a:t>
            </a:r>
          </a:p>
          <a:p>
            <a:pPr marL="285750" indent="-285750">
              <a:buFont typeface="Arial" panose="020B0604020202020204" pitchFamily="34" charset="0"/>
              <a:buChar char="•"/>
            </a:pPr>
            <a:r>
              <a:rPr lang="en-GB" dirty="0"/>
              <a:t>We’re already told to expect a concentration of sodium hydroxide around 0.1 M</a:t>
            </a:r>
          </a:p>
        </p:txBody>
      </p:sp>
    </p:spTree>
    <p:extLst>
      <p:ext uri="{BB962C8B-B14F-4D97-AF65-F5344CB8AC3E}">
        <p14:creationId xmlns:p14="http://schemas.microsoft.com/office/powerpoint/2010/main" val="1730624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8C8B-3C2E-12DF-4B21-988AECC30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A3C85-C7B8-1E9A-ECD7-A68AEB103730}"/>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4DAA7BE6-56FB-8728-DF79-B2371BD528D4}"/>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b="1" dirty="0"/>
          </a:p>
          <a:p>
            <a:r>
              <a:rPr lang="en-GB" b="1" dirty="0"/>
              <a:t>3. Plan</a:t>
            </a:r>
          </a:p>
        </p:txBody>
      </p:sp>
      <p:pic>
        <p:nvPicPr>
          <p:cNvPr id="5" name="Picture 4">
            <a:extLst>
              <a:ext uri="{FF2B5EF4-FFF2-40B4-BE49-F238E27FC236}">
                <a16:creationId xmlns:a16="http://schemas.microsoft.com/office/drawing/2014/main" id="{E8434D91-70D6-B479-5972-442FC300615D}"/>
              </a:ext>
            </a:extLst>
          </p:cNvPr>
          <p:cNvPicPr>
            <a:picLocks noChangeAspect="1"/>
          </p:cNvPicPr>
          <p:nvPr/>
        </p:nvPicPr>
        <p:blipFill>
          <a:blip r:embed="rId3"/>
          <a:stretch>
            <a:fillRect/>
          </a:stretch>
        </p:blipFill>
        <p:spPr>
          <a:xfrm>
            <a:off x="1393698" y="4944707"/>
            <a:ext cx="9404604" cy="1375422"/>
          </a:xfrm>
          <a:prstGeom prst="rect">
            <a:avLst/>
          </a:prstGeom>
        </p:spPr>
      </p:pic>
    </p:spTree>
    <p:extLst>
      <p:ext uri="{BB962C8B-B14F-4D97-AF65-F5344CB8AC3E}">
        <p14:creationId xmlns:p14="http://schemas.microsoft.com/office/powerpoint/2010/main" val="2387869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68797-AF30-2B0C-9175-B123EC457D6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66ED9B22-4A28-7982-7221-CC81F6114E34}"/>
              </a:ext>
            </a:extLst>
          </p:cNvPr>
          <p:cNvPicPr>
            <a:picLocks noChangeAspect="1"/>
          </p:cNvPicPr>
          <p:nvPr/>
        </p:nvPicPr>
        <p:blipFill>
          <a:blip r:embed="rId3"/>
          <a:stretch>
            <a:fillRect/>
          </a:stretch>
        </p:blipFill>
        <p:spPr>
          <a:xfrm>
            <a:off x="1294200" y="3183549"/>
            <a:ext cx="9045880" cy="3428071"/>
          </a:xfrm>
          <a:prstGeom prst="rect">
            <a:avLst/>
          </a:prstGeom>
        </p:spPr>
      </p:pic>
      <p:sp>
        <p:nvSpPr>
          <p:cNvPr id="2" name="Title 1">
            <a:extLst>
              <a:ext uri="{FF2B5EF4-FFF2-40B4-BE49-F238E27FC236}">
                <a16:creationId xmlns:a16="http://schemas.microsoft.com/office/drawing/2014/main" id="{BBC3A13B-6399-BE08-BE24-E99527A891C9}"/>
              </a:ext>
            </a:extLst>
          </p:cNvPr>
          <p:cNvSpPr>
            <a:spLocks noGrp="1"/>
          </p:cNvSpPr>
          <p:nvPr>
            <p:ph type="title"/>
          </p:nvPr>
        </p:nvSpPr>
        <p:spPr/>
        <p:txBody>
          <a:bodyPr/>
          <a:lstStyle/>
          <a:p>
            <a:r>
              <a:rPr lang="en-GB" dirty="0"/>
              <a:t>Step 1: Blank titration</a:t>
            </a:r>
          </a:p>
        </p:txBody>
      </p:sp>
      <p:sp>
        <p:nvSpPr>
          <p:cNvPr id="3" name="Table Placeholder 2">
            <a:extLst>
              <a:ext uri="{FF2B5EF4-FFF2-40B4-BE49-F238E27FC236}">
                <a16:creationId xmlns:a16="http://schemas.microsoft.com/office/drawing/2014/main" id="{25AF7D4B-B622-12F2-89D2-B8125BF40C32}"/>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p:txBody>
      </p:sp>
      <p:grpSp>
        <p:nvGrpSpPr>
          <p:cNvPr id="13" name="Group 12">
            <a:extLst>
              <a:ext uri="{FF2B5EF4-FFF2-40B4-BE49-F238E27FC236}">
                <a16:creationId xmlns:a16="http://schemas.microsoft.com/office/drawing/2014/main" id="{51101E19-74EE-4AB5-4550-8F3BAB9B1CA9}"/>
              </a:ext>
            </a:extLst>
          </p:cNvPr>
          <p:cNvGrpSpPr/>
          <p:nvPr/>
        </p:nvGrpSpPr>
        <p:grpSpPr>
          <a:xfrm>
            <a:off x="5770747" y="368299"/>
            <a:ext cx="4397381" cy="970959"/>
            <a:chOff x="942715" y="2105065"/>
            <a:chExt cx="10012340" cy="2210765"/>
          </a:xfrm>
        </p:grpSpPr>
        <p:grpSp>
          <p:nvGrpSpPr>
            <p:cNvPr id="4" name="Group 3">
              <a:extLst>
                <a:ext uri="{FF2B5EF4-FFF2-40B4-BE49-F238E27FC236}">
                  <a16:creationId xmlns:a16="http://schemas.microsoft.com/office/drawing/2014/main" id="{2C62BB11-355D-0F21-BF88-2C426C3A52A5}"/>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11DE5A4D-B867-2A1D-1FF7-6DBB814B060E}"/>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6">
                <a:extLst>
                  <a:ext uri="{FF2B5EF4-FFF2-40B4-BE49-F238E27FC236}">
                    <a16:creationId xmlns:a16="http://schemas.microsoft.com/office/drawing/2014/main" id="{F786C8A9-90AD-76D3-FE23-3ED376F55A26}"/>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1A174F2E-BC54-1170-0844-4A1D138988D7}"/>
                </a:ext>
              </a:extLst>
            </p:cNvPr>
            <p:cNvGrpSpPr/>
            <p:nvPr/>
          </p:nvGrpSpPr>
          <p:grpSpPr>
            <a:xfrm>
              <a:off x="9415622" y="2105065"/>
              <a:ext cx="1539433" cy="2210765"/>
              <a:chOff x="8877742" y="2105065"/>
              <a:chExt cx="1539433" cy="2210765"/>
            </a:xfrm>
          </p:grpSpPr>
          <p:sp>
            <p:nvSpPr>
              <p:cNvPr id="9" name="Rectangle 8">
                <a:extLst>
                  <a:ext uri="{FF2B5EF4-FFF2-40B4-BE49-F238E27FC236}">
                    <a16:creationId xmlns:a16="http://schemas.microsoft.com/office/drawing/2014/main" id="{04E45F0D-B5EA-013A-363B-97AFD2F7B1BB}"/>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2BE4117E-3752-600B-0595-4BF2F1203940}"/>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1" name="Straight Arrow Connector 10">
              <a:extLst>
                <a:ext uri="{FF2B5EF4-FFF2-40B4-BE49-F238E27FC236}">
                  <a16:creationId xmlns:a16="http://schemas.microsoft.com/office/drawing/2014/main" id="{7F0172A8-74B5-7A11-C26D-5612234F1260}"/>
                </a:ext>
              </a:extLst>
            </p:cNvPr>
            <p:cNvCxnSpPr>
              <a:cxnSpLocks/>
            </p:cNvCxnSpPr>
            <p:nvPr/>
          </p:nvCxnSpPr>
          <p:spPr>
            <a:xfrm>
              <a:off x="3172178" y="3200400"/>
              <a:ext cx="56105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5B745A37-641B-E057-6747-D12781F82989}"/>
              </a:ext>
            </a:extLst>
          </p:cNvPr>
          <p:cNvSpPr txBox="1"/>
          <p:nvPr/>
        </p:nvSpPr>
        <p:spPr>
          <a:xfrm>
            <a:off x="5833938" y="354483"/>
            <a:ext cx="607859" cy="369332"/>
          </a:xfrm>
          <a:prstGeom prst="rect">
            <a:avLst/>
          </a:prstGeom>
          <a:noFill/>
        </p:spPr>
        <p:txBody>
          <a:bodyPr wrap="none" rtlCol="0">
            <a:spAutoFit/>
          </a:bodyPr>
          <a:lstStyle/>
          <a:p>
            <a:r>
              <a:rPr lang="en-GB" dirty="0"/>
              <a:t>acid</a:t>
            </a:r>
          </a:p>
        </p:txBody>
      </p:sp>
      <p:sp>
        <p:nvSpPr>
          <p:cNvPr id="15" name="TextBox 14">
            <a:extLst>
              <a:ext uri="{FF2B5EF4-FFF2-40B4-BE49-F238E27FC236}">
                <a16:creationId xmlns:a16="http://schemas.microsoft.com/office/drawing/2014/main" id="{214ECE36-AC55-96F9-0BDF-2476859A2FDA}"/>
              </a:ext>
            </a:extLst>
          </p:cNvPr>
          <p:cNvSpPr txBox="1"/>
          <p:nvPr/>
        </p:nvSpPr>
        <p:spPr>
          <a:xfrm>
            <a:off x="7454586" y="379782"/>
            <a:ext cx="1024639" cy="369332"/>
          </a:xfrm>
          <a:prstGeom prst="rect">
            <a:avLst/>
          </a:prstGeom>
          <a:noFill/>
        </p:spPr>
        <p:txBody>
          <a:bodyPr wrap="none" rtlCol="0">
            <a:spAutoFit/>
          </a:bodyPr>
          <a:lstStyle/>
          <a:p>
            <a:r>
              <a:rPr lang="en-GB" dirty="0"/>
              <a:t>+ NaOH</a:t>
            </a:r>
          </a:p>
        </p:txBody>
      </p:sp>
      <p:sp>
        <p:nvSpPr>
          <p:cNvPr id="17" name="TextBox 16">
            <a:extLst>
              <a:ext uri="{FF2B5EF4-FFF2-40B4-BE49-F238E27FC236}">
                <a16:creationId xmlns:a16="http://schemas.microsoft.com/office/drawing/2014/main" id="{6BF8CAC0-9B09-08BE-FCF1-12162E91077A}"/>
              </a:ext>
            </a:extLst>
          </p:cNvPr>
          <p:cNvSpPr txBox="1"/>
          <p:nvPr/>
        </p:nvSpPr>
        <p:spPr>
          <a:xfrm>
            <a:off x="1842591" y="5932267"/>
            <a:ext cx="4012637" cy="369332"/>
          </a:xfrm>
          <a:prstGeom prst="rect">
            <a:avLst/>
          </a:prstGeom>
          <a:noFill/>
        </p:spPr>
        <p:txBody>
          <a:bodyPr wrap="none" rtlCol="0">
            <a:spAutoFit/>
          </a:bodyPr>
          <a:lstStyle/>
          <a:p>
            <a:r>
              <a:rPr lang="en-GB" dirty="0"/>
              <a:t>H</a:t>
            </a:r>
            <a:r>
              <a:rPr lang="en-GB" baseline="-25000" dirty="0"/>
              <a:t>2</a:t>
            </a:r>
            <a:r>
              <a:rPr lang="en-GB" dirty="0"/>
              <a:t>SO</a:t>
            </a:r>
            <a:r>
              <a:rPr lang="en-GB" baseline="-25000" dirty="0"/>
              <a:t>4</a:t>
            </a:r>
            <a:r>
              <a:rPr lang="en-GB" dirty="0"/>
              <a:t> + </a:t>
            </a:r>
            <a:r>
              <a:rPr lang="en-GB" b="1" dirty="0"/>
              <a:t>2</a:t>
            </a:r>
            <a:r>
              <a:rPr lang="en-GB" dirty="0"/>
              <a:t> NaOH </a:t>
            </a:r>
            <a:r>
              <a:rPr lang="en-GB" dirty="0">
                <a:sym typeface="Wingdings" pitchFamily="2" charset="2"/>
              </a:rPr>
              <a:t> Na</a:t>
            </a:r>
            <a:r>
              <a:rPr lang="en-GB" baseline="-25000" dirty="0">
                <a:sym typeface="Wingdings" pitchFamily="2" charset="2"/>
              </a:rPr>
              <a:t>2</a:t>
            </a:r>
            <a:r>
              <a:rPr lang="en-GB" dirty="0">
                <a:sym typeface="Wingdings" pitchFamily="2" charset="2"/>
              </a:rPr>
              <a:t>SO</a:t>
            </a:r>
            <a:r>
              <a:rPr lang="en-GB" baseline="-25000" dirty="0">
                <a:sym typeface="Wingdings" pitchFamily="2" charset="2"/>
              </a:rPr>
              <a:t>4</a:t>
            </a:r>
            <a:r>
              <a:rPr lang="en-GB" dirty="0">
                <a:sym typeface="Wingdings" pitchFamily="2" charset="2"/>
              </a:rPr>
              <a:t> + 2 H</a:t>
            </a:r>
            <a:r>
              <a:rPr lang="en-GB" baseline="-25000" dirty="0">
                <a:sym typeface="Wingdings" pitchFamily="2" charset="2"/>
              </a:rPr>
              <a:t>2</a:t>
            </a:r>
            <a:r>
              <a:rPr lang="en-GB" dirty="0">
                <a:sym typeface="Wingdings" pitchFamily="2" charset="2"/>
              </a:rPr>
              <a:t>O</a:t>
            </a:r>
            <a:endParaRPr lang="en-GB" dirty="0"/>
          </a:p>
        </p:txBody>
      </p:sp>
      <p:sp>
        <p:nvSpPr>
          <p:cNvPr id="18" name="TextBox 17">
            <a:extLst>
              <a:ext uri="{FF2B5EF4-FFF2-40B4-BE49-F238E27FC236}">
                <a16:creationId xmlns:a16="http://schemas.microsoft.com/office/drawing/2014/main" id="{939823F4-74D8-C635-C667-F629D5D03D84}"/>
              </a:ext>
            </a:extLst>
          </p:cNvPr>
          <p:cNvSpPr txBox="1"/>
          <p:nvPr/>
        </p:nvSpPr>
        <p:spPr>
          <a:xfrm>
            <a:off x="1696287" y="3967788"/>
            <a:ext cx="1018227" cy="369332"/>
          </a:xfrm>
          <a:prstGeom prst="rect">
            <a:avLst/>
          </a:prstGeom>
          <a:noFill/>
        </p:spPr>
        <p:txBody>
          <a:bodyPr wrap="none" rtlCol="0">
            <a:spAutoFit/>
          </a:bodyPr>
          <a:lstStyle/>
          <a:p>
            <a:pPr algn="ctr"/>
            <a:r>
              <a:rPr lang="en-GB" dirty="0"/>
              <a:t>12.5 mL</a:t>
            </a:r>
          </a:p>
        </p:txBody>
      </p:sp>
      <p:sp>
        <p:nvSpPr>
          <p:cNvPr id="19" name="TextBox 18">
            <a:extLst>
              <a:ext uri="{FF2B5EF4-FFF2-40B4-BE49-F238E27FC236}">
                <a16:creationId xmlns:a16="http://schemas.microsoft.com/office/drawing/2014/main" id="{DF5848F3-AF0F-7807-E7E8-1066CD082234}"/>
              </a:ext>
            </a:extLst>
          </p:cNvPr>
          <p:cNvSpPr txBox="1"/>
          <p:nvPr/>
        </p:nvSpPr>
        <p:spPr>
          <a:xfrm>
            <a:off x="1696288" y="5162604"/>
            <a:ext cx="1018228" cy="369332"/>
          </a:xfrm>
          <a:prstGeom prst="rect">
            <a:avLst/>
          </a:prstGeom>
          <a:noFill/>
        </p:spPr>
        <p:txBody>
          <a:bodyPr wrap="none" rtlCol="0">
            <a:spAutoFit/>
          </a:bodyPr>
          <a:lstStyle/>
          <a:p>
            <a:pPr algn="ctr"/>
            <a:r>
              <a:rPr lang="en-GB" dirty="0"/>
              <a:t>0.108 M</a:t>
            </a:r>
          </a:p>
        </p:txBody>
      </p:sp>
      <p:sp>
        <p:nvSpPr>
          <p:cNvPr id="20" name="TextBox 19">
            <a:extLst>
              <a:ext uri="{FF2B5EF4-FFF2-40B4-BE49-F238E27FC236}">
                <a16:creationId xmlns:a16="http://schemas.microsoft.com/office/drawing/2014/main" id="{CE83E058-7564-291B-BE9B-BDAD134CB283}"/>
              </a:ext>
            </a:extLst>
          </p:cNvPr>
          <p:cNvSpPr txBox="1"/>
          <p:nvPr/>
        </p:nvSpPr>
        <p:spPr>
          <a:xfrm>
            <a:off x="3745995" y="4689625"/>
            <a:ext cx="1454244" cy="369332"/>
          </a:xfrm>
          <a:prstGeom prst="rect">
            <a:avLst/>
          </a:prstGeom>
          <a:noFill/>
        </p:spPr>
        <p:txBody>
          <a:bodyPr wrap="none" rtlCol="0">
            <a:spAutoFit/>
          </a:bodyPr>
          <a:lstStyle/>
          <a:p>
            <a:pPr algn="ctr"/>
            <a:r>
              <a:rPr lang="en-GB" dirty="0"/>
              <a:t>0.00135 mol</a:t>
            </a:r>
          </a:p>
        </p:txBody>
      </p:sp>
      <p:sp>
        <p:nvSpPr>
          <p:cNvPr id="21" name="TextBox 20">
            <a:extLst>
              <a:ext uri="{FF2B5EF4-FFF2-40B4-BE49-F238E27FC236}">
                <a16:creationId xmlns:a16="http://schemas.microsoft.com/office/drawing/2014/main" id="{51C32C2B-A52C-5D61-5779-004C3727EA84}"/>
              </a:ext>
            </a:extLst>
          </p:cNvPr>
          <p:cNvSpPr txBox="1"/>
          <p:nvPr/>
        </p:nvSpPr>
        <p:spPr>
          <a:xfrm>
            <a:off x="6407011" y="5238265"/>
            <a:ext cx="1326004" cy="369332"/>
          </a:xfrm>
          <a:prstGeom prst="rect">
            <a:avLst/>
          </a:prstGeom>
          <a:noFill/>
        </p:spPr>
        <p:txBody>
          <a:bodyPr wrap="none" rtlCol="0">
            <a:spAutoFit/>
          </a:bodyPr>
          <a:lstStyle/>
          <a:p>
            <a:pPr algn="ctr"/>
            <a:r>
              <a:rPr lang="en-GB" dirty="0"/>
              <a:t>0.0027 mol</a:t>
            </a:r>
          </a:p>
        </p:txBody>
      </p:sp>
      <p:sp>
        <p:nvSpPr>
          <p:cNvPr id="22" name="TextBox 21">
            <a:extLst>
              <a:ext uri="{FF2B5EF4-FFF2-40B4-BE49-F238E27FC236}">
                <a16:creationId xmlns:a16="http://schemas.microsoft.com/office/drawing/2014/main" id="{E3649BC4-5BDD-C1EA-43BD-B1382653438B}"/>
              </a:ext>
            </a:extLst>
          </p:cNvPr>
          <p:cNvSpPr txBox="1"/>
          <p:nvPr/>
        </p:nvSpPr>
        <p:spPr>
          <a:xfrm>
            <a:off x="6448013" y="6445273"/>
            <a:ext cx="1146469" cy="369332"/>
          </a:xfrm>
          <a:prstGeom prst="rect">
            <a:avLst/>
          </a:prstGeom>
          <a:noFill/>
        </p:spPr>
        <p:txBody>
          <a:bodyPr wrap="none" rtlCol="0">
            <a:spAutoFit/>
          </a:bodyPr>
          <a:lstStyle/>
          <a:p>
            <a:pPr algn="ctr"/>
            <a:r>
              <a:rPr lang="en-GB" dirty="0"/>
              <a:t>23.48 mL</a:t>
            </a:r>
          </a:p>
        </p:txBody>
      </p:sp>
      <p:sp>
        <p:nvSpPr>
          <p:cNvPr id="23" name="TextBox 22">
            <a:extLst>
              <a:ext uri="{FF2B5EF4-FFF2-40B4-BE49-F238E27FC236}">
                <a16:creationId xmlns:a16="http://schemas.microsoft.com/office/drawing/2014/main" id="{76E633D5-ED08-0618-F24E-1D63A27847A8}"/>
              </a:ext>
            </a:extLst>
          </p:cNvPr>
          <p:cNvSpPr txBox="1"/>
          <p:nvPr/>
        </p:nvSpPr>
        <p:spPr>
          <a:xfrm>
            <a:off x="8797439" y="5996662"/>
            <a:ext cx="1129348" cy="369332"/>
          </a:xfrm>
          <a:prstGeom prst="rect">
            <a:avLst/>
          </a:prstGeom>
          <a:noFill/>
        </p:spPr>
        <p:txBody>
          <a:bodyPr wrap="none" rtlCol="0">
            <a:spAutoFit/>
          </a:bodyPr>
          <a:lstStyle/>
          <a:p>
            <a:pPr algn="ctr"/>
            <a:r>
              <a:rPr lang="en-GB" dirty="0"/>
              <a:t>0.1145 M</a:t>
            </a:r>
          </a:p>
        </p:txBody>
      </p:sp>
    </p:spTree>
    <p:extLst>
      <p:ext uri="{BB962C8B-B14F-4D97-AF65-F5344CB8AC3E}">
        <p14:creationId xmlns:p14="http://schemas.microsoft.com/office/powerpoint/2010/main" val="536445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1A94-8180-150A-E4BF-E80B404D5098}"/>
            </a:ext>
          </a:extLst>
        </p:cNvPr>
        <p:cNvGrpSpPr/>
        <p:nvPr/>
      </p:nvGrpSpPr>
      <p:grpSpPr>
        <a:xfrm>
          <a:off x="0" y="0"/>
          <a:ext cx="0" cy="0"/>
          <a:chOff x="0" y="0"/>
          <a:chExt cx="0" cy="0"/>
        </a:xfrm>
      </p:grpSpPr>
      <p:pic>
        <p:nvPicPr>
          <p:cNvPr id="38" name="Picture 37">
            <a:extLst>
              <a:ext uri="{FF2B5EF4-FFF2-40B4-BE49-F238E27FC236}">
                <a16:creationId xmlns:a16="http://schemas.microsoft.com/office/drawing/2014/main" id="{10976341-21E4-DE6A-50BA-C7743B2EB155}"/>
              </a:ext>
            </a:extLst>
          </p:cNvPr>
          <p:cNvPicPr>
            <a:picLocks noChangeAspect="1"/>
          </p:cNvPicPr>
          <p:nvPr/>
        </p:nvPicPr>
        <p:blipFill>
          <a:blip r:embed="rId3"/>
          <a:stretch>
            <a:fillRect/>
          </a:stretch>
        </p:blipFill>
        <p:spPr>
          <a:xfrm>
            <a:off x="1137544" y="3142113"/>
            <a:ext cx="9932791" cy="3489899"/>
          </a:xfrm>
          <a:prstGeom prst="rect">
            <a:avLst/>
          </a:prstGeom>
        </p:spPr>
      </p:pic>
      <p:sp>
        <p:nvSpPr>
          <p:cNvPr id="2" name="Title 1">
            <a:extLst>
              <a:ext uri="{FF2B5EF4-FFF2-40B4-BE49-F238E27FC236}">
                <a16:creationId xmlns:a16="http://schemas.microsoft.com/office/drawing/2014/main" id="{1ADA91D1-139A-A59B-184E-5A6D7EC042A2}"/>
              </a:ext>
            </a:extLst>
          </p:cNvPr>
          <p:cNvSpPr>
            <a:spLocks noGrp="1"/>
          </p:cNvSpPr>
          <p:nvPr>
            <p:ph type="title"/>
          </p:nvPr>
        </p:nvSpPr>
        <p:spPr/>
        <p:txBody>
          <a:bodyPr/>
          <a:lstStyle/>
          <a:p>
            <a:r>
              <a:rPr lang="en-GB" dirty="0"/>
              <a:t>Step 2: Back titration</a:t>
            </a:r>
          </a:p>
        </p:txBody>
      </p:sp>
      <p:sp>
        <p:nvSpPr>
          <p:cNvPr id="3" name="Table Placeholder 2">
            <a:extLst>
              <a:ext uri="{FF2B5EF4-FFF2-40B4-BE49-F238E27FC236}">
                <a16:creationId xmlns:a16="http://schemas.microsoft.com/office/drawing/2014/main" id="{91108A2E-3FC4-51EC-A12C-E75F2DAA6D84}"/>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p:txBody>
      </p:sp>
      <p:sp>
        <p:nvSpPr>
          <p:cNvPr id="18" name="TextBox 17">
            <a:extLst>
              <a:ext uri="{FF2B5EF4-FFF2-40B4-BE49-F238E27FC236}">
                <a16:creationId xmlns:a16="http://schemas.microsoft.com/office/drawing/2014/main" id="{C3A09B35-5DF6-605C-8ABC-5C33C0A48E7F}"/>
              </a:ext>
            </a:extLst>
          </p:cNvPr>
          <p:cNvSpPr txBox="1"/>
          <p:nvPr/>
        </p:nvSpPr>
        <p:spPr>
          <a:xfrm>
            <a:off x="2946606" y="3731203"/>
            <a:ext cx="1018227" cy="369332"/>
          </a:xfrm>
          <a:prstGeom prst="rect">
            <a:avLst/>
          </a:prstGeom>
          <a:noFill/>
        </p:spPr>
        <p:txBody>
          <a:bodyPr wrap="none" rtlCol="0">
            <a:spAutoFit/>
          </a:bodyPr>
          <a:lstStyle/>
          <a:p>
            <a:pPr algn="ctr"/>
            <a:r>
              <a:rPr lang="en-GB" dirty="0"/>
              <a:t>12.5 mL</a:t>
            </a:r>
          </a:p>
        </p:txBody>
      </p:sp>
      <p:sp>
        <p:nvSpPr>
          <p:cNvPr id="19" name="TextBox 18">
            <a:extLst>
              <a:ext uri="{FF2B5EF4-FFF2-40B4-BE49-F238E27FC236}">
                <a16:creationId xmlns:a16="http://schemas.microsoft.com/office/drawing/2014/main" id="{4DB003F2-57D4-4F2A-FFAA-B8582F325104}"/>
              </a:ext>
            </a:extLst>
          </p:cNvPr>
          <p:cNvSpPr txBox="1"/>
          <p:nvPr/>
        </p:nvSpPr>
        <p:spPr>
          <a:xfrm>
            <a:off x="2946605" y="4596256"/>
            <a:ext cx="1018228" cy="369332"/>
          </a:xfrm>
          <a:prstGeom prst="rect">
            <a:avLst/>
          </a:prstGeom>
          <a:noFill/>
        </p:spPr>
        <p:txBody>
          <a:bodyPr wrap="none" rtlCol="0">
            <a:spAutoFit/>
          </a:bodyPr>
          <a:lstStyle/>
          <a:p>
            <a:pPr algn="ctr"/>
            <a:r>
              <a:rPr lang="en-GB" dirty="0"/>
              <a:t>0.108 M</a:t>
            </a:r>
          </a:p>
        </p:txBody>
      </p:sp>
      <p:sp>
        <p:nvSpPr>
          <p:cNvPr id="20" name="TextBox 19">
            <a:extLst>
              <a:ext uri="{FF2B5EF4-FFF2-40B4-BE49-F238E27FC236}">
                <a16:creationId xmlns:a16="http://schemas.microsoft.com/office/drawing/2014/main" id="{11721E48-BA33-33BF-230A-351F84020F71}"/>
              </a:ext>
            </a:extLst>
          </p:cNvPr>
          <p:cNvSpPr txBox="1"/>
          <p:nvPr/>
        </p:nvSpPr>
        <p:spPr>
          <a:xfrm>
            <a:off x="4881198" y="4287884"/>
            <a:ext cx="1454244" cy="369332"/>
          </a:xfrm>
          <a:prstGeom prst="rect">
            <a:avLst/>
          </a:prstGeom>
          <a:noFill/>
        </p:spPr>
        <p:txBody>
          <a:bodyPr wrap="none" rtlCol="0">
            <a:spAutoFit/>
          </a:bodyPr>
          <a:lstStyle/>
          <a:p>
            <a:pPr algn="ctr"/>
            <a:r>
              <a:rPr lang="en-GB" dirty="0"/>
              <a:t>0.00135 mol</a:t>
            </a:r>
          </a:p>
        </p:txBody>
      </p:sp>
      <p:sp>
        <p:nvSpPr>
          <p:cNvPr id="21" name="TextBox 20">
            <a:extLst>
              <a:ext uri="{FF2B5EF4-FFF2-40B4-BE49-F238E27FC236}">
                <a16:creationId xmlns:a16="http://schemas.microsoft.com/office/drawing/2014/main" id="{A43A794C-389A-7430-AD12-558E41E919C4}"/>
              </a:ext>
            </a:extLst>
          </p:cNvPr>
          <p:cNvSpPr txBox="1"/>
          <p:nvPr/>
        </p:nvSpPr>
        <p:spPr>
          <a:xfrm>
            <a:off x="7162176" y="5211437"/>
            <a:ext cx="1582484" cy="369332"/>
          </a:xfrm>
          <a:prstGeom prst="rect">
            <a:avLst/>
          </a:prstGeom>
          <a:noFill/>
        </p:spPr>
        <p:txBody>
          <a:bodyPr wrap="none" rtlCol="0">
            <a:spAutoFit/>
          </a:bodyPr>
          <a:lstStyle/>
          <a:p>
            <a:pPr algn="ctr"/>
            <a:r>
              <a:rPr lang="en-GB" dirty="0"/>
              <a:t>0.001025 mol</a:t>
            </a:r>
          </a:p>
        </p:txBody>
      </p:sp>
      <p:sp>
        <p:nvSpPr>
          <p:cNvPr id="23" name="TextBox 22">
            <a:extLst>
              <a:ext uri="{FF2B5EF4-FFF2-40B4-BE49-F238E27FC236}">
                <a16:creationId xmlns:a16="http://schemas.microsoft.com/office/drawing/2014/main" id="{7805563B-4200-25C0-855E-69B67BBEE50C}"/>
              </a:ext>
            </a:extLst>
          </p:cNvPr>
          <p:cNvSpPr txBox="1"/>
          <p:nvPr/>
        </p:nvSpPr>
        <p:spPr>
          <a:xfrm>
            <a:off x="1137544" y="5892403"/>
            <a:ext cx="1129348" cy="369332"/>
          </a:xfrm>
          <a:prstGeom prst="rect">
            <a:avLst/>
          </a:prstGeom>
          <a:noFill/>
        </p:spPr>
        <p:txBody>
          <a:bodyPr wrap="none" rtlCol="0">
            <a:spAutoFit/>
          </a:bodyPr>
          <a:lstStyle/>
          <a:p>
            <a:pPr algn="ctr"/>
            <a:r>
              <a:rPr lang="en-GB" dirty="0"/>
              <a:t>0.1145 M</a:t>
            </a:r>
          </a:p>
        </p:txBody>
      </p:sp>
      <p:grpSp>
        <p:nvGrpSpPr>
          <p:cNvPr id="34" name="Group 33">
            <a:extLst>
              <a:ext uri="{FF2B5EF4-FFF2-40B4-BE49-F238E27FC236}">
                <a16:creationId xmlns:a16="http://schemas.microsoft.com/office/drawing/2014/main" id="{E5CC409F-2E74-62BF-26BA-C8DB24108748}"/>
              </a:ext>
            </a:extLst>
          </p:cNvPr>
          <p:cNvGrpSpPr/>
          <p:nvPr/>
        </p:nvGrpSpPr>
        <p:grpSpPr>
          <a:xfrm>
            <a:off x="5581260" y="282685"/>
            <a:ext cx="4662520" cy="1029503"/>
            <a:chOff x="942715" y="2105065"/>
            <a:chExt cx="10012340" cy="2210765"/>
          </a:xfrm>
        </p:grpSpPr>
        <p:grpSp>
          <p:nvGrpSpPr>
            <p:cNvPr id="5" name="Group 4">
              <a:extLst>
                <a:ext uri="{FF2B5EF4-FFF2-40B4-BE49-F238E27FC236}">
                  <a16:creationId xmlns:a16="http://schemas.microsoft.com/office/drawing/2014/main" id="{0C810136-ED00-5797-62DA-157E3E26CA37}"/>
                </a:ext>
              </a:extLst>
            </p:cNvPr>
            <p:cNvGrpSpPr/>
            <p:nvPr/>
          </p:nvGrpSpPr>
          <p:grpSpPr>
            <a:xfrm>
              <a:off x="942715" y="2105065"/>
              <a:ext cx="1539433" cy="2210765"/>
              <a:chOff x="1480595" y="2105065"/>
              <a:chExt cx="1539433" cy="2210765"/>
            </a:xfrm>
          </p:grpSpPr>
          <p:sp>
            <p:nvSpPr>
              <p:cNvPr id="12" name="Rectangle 11">
                <a:extLst>
                  <a:ext uri="{FF2B5EF4-FFF2-40B4-BE49-F238E27FC236}">
                    <a16:creationId xmlns:a16="http://schemas.microsoft.com/office/drawing/2014/main" id="{B3F4F901-F8D1-EC64-3C77-D76E69CA10F3}"/>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15">
                <a:extLst>
                  <a:ext uri="{FF2B5EF4-FFF2-40B4-BE49-F238E27FC236}">
                    <a16:creationId xmlns:a16="http://schemas.microsoft.com/office/drawing/2014/main" id="{707833F6-6F08-B756-F079-158474020773}"/>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3D51DC11-9B0E-7A67-66C3-930FAD36ABF3}"/>
                </a:ext>
              </a:extLst>
            </p:cNvPr>
            <p:cNvGrpSpPr/>
            <p:nvPr/>
          </p:nvGrpSpPr>
          <p:grpSpPr>
            <a:xfrm>
              <a:off x="5179169" y="2105065"/>
              <a:ext cx="1539433" cy="2210765"/>
              <a:chOff x="4693695" y="2105065"/>
              <a:chExt cx="1539433" cy="2210765"/>
            </a:xfrm>
          </p:grpSpPr>
          <p:sp>
            <p:nvSpPr>
              <p:cNvPr id="25" name="Rectangle 24">
                <a:extLst>
                  <a:ext uri="{FF2B5EF4-FFF2-40B4-BE49-F238E27FC236}">
                    <a16:creationId xmlns:a16="http://schemas.microsoft.com/office/drawing/2014/main" id="{E0491C01-9D9D-D95D-29C9-57ED3C6606FC}"/>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34CE6E03-68C7-56C4-380D-64EF2557351F}"/>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27">
                <a:extLst>
                  <a:ext uri="{FF2B5EF4-FFF2-40B4-BE49-F238E27FC236}">
                    <a16:creationId xmlns:a16="http://schemas.microsoft.com/office/drawing/2014/main" id="{4281116C-38E6-BF83-E4F1-22061674661E}"/>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a:extLst>
                <a:ext uri="{FF2B5EF4-FFF2-40B4-BE49-F238E27FC236}">
                  <a16:creationId xmlns:a16="http://schemas.microsoft.com/office/drawing/2014/main" id="{27D3B4FD-033D-7B05-A967-1C0D820B605F}"/>
                </a:ext>
              </a:extLst>
            </p:cNvPr>
            <p:cNvGrpSpPr/>
            <p:nvPr/>
          </p:nvGrpSpPr>
          <p:grpSpPr>
            <a:xfrm>
              <a:off x="9415622" y="2105065"/>
              <a:ext cx="1539433" cy="2210765"/>
              <a:chOff x="8877742" y="2105065"/>
              <a:chExt cx="1539433" cy="2210765"/>
            </a:xfrm>
          </p:grpSpPr>
          <p:sp>
            <p:nvSpPr>
              <p:cNvPr id="30" name="Rectangle 29">
                <a:extLst>
                  <a:ext uri="{FF2B5EF4-FFF2-40B4-BE49-F238E27FC236}">
                    <a16:creationId xmlns:a16="http://schemas.microsoft.com/office/drawing/2014/main" id="{25E51191-D2CF-F30B-9F2E-FFC05BCEF308}"/>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eform 30">
                <a:extLst>
                  <a:ext uri="{FF2B5EF4-FFF2-40B4-BE49-F238E27FC236}">
                    <a16:creationId xmlns:a16="http://schemas.microsoft.com/office/drawing/2014/main" id="{B2AC3811-C978-E33B-2CC0-2B9F3851FCD9}"/>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Straight Arrow Connector 31">
              <a:extLst>
                <a:ext uri="{FF2B5EF4-FFF2-40B4-BE49-F238E27FC236}">
                  <a16:creationId xmlns:a16="http://schemas.microsoft.com/office/drawing/2014/main" id="{75ED1E56-B87E-340C-FF85-7B7D4F33F00E}"/>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78E9ED7-B42C-A184-5E2F-FAFFC8AD6AE1}"/>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235501A0-5185-4399-90EE-0C054E2BB15C}"/>
              </a:ext>
            </a:extLst>
          </p:cNvPr>
          <p:cNvSpPr txBox="1"/>
          <p:nvPr/>
        </p:nvSpPr>
        <p:spPr>
          <a:xfrm>
            <a:off x="5644896" y="353568"/>
            <a:ext cx="607859" cy="369332"/>
          </a:xfrm>
          <a:prstGeom prst="rect">
            <a:avLst/>
          </a:prstGeom>
          <a:noFill/>
        </p:spPr>
        <p:txBody>
          <a:bodyPr wrap="none" rtlCol="0">
            <a:spAutoFit/>
          </a:bodyPr>
          <a:lstStyle/>
          <a:p>
            <a:r>
              <a:rPr lang="en-GB" dirty="0"/>
              <a:t>acid</a:t>
            </a:r>
          </a:p>
        </p:txBody>
      </p:sp>
      <p:sp>
        <p:nvSpPr>
          <p:cNvPr id="36" name="TextBox 35">
            <a:extLst>
              <a:ext uri="{FF2B5EF4-FFF2-40B4-BE49-F238E27FC236}">
                <a16:creationId xmlns:a16="http://schemas.microsoft.com/office/drawing/2014/main" id="{B6F825D3-7678-42FC-6D07-6700169C5367}"/>
              </a:ext>
            </a:extLst>
          </p:cNvPr>
          <p:cNvSpPr txBox="1"/>
          <p:nvPr/>
        </p:nvSpPr>
        <p:spPr>
          <a:xfrm>
            <a:off x="7207060" y="353568"/>
            <a:ext cx="1409360" cy="369332"/>
          </a:xfrm>
          <a:prstGeom prst="rect">
            <a:avLst/>
          </a:prstGeom>
          <a:noFill/>
        </p:spPr>
        <p:txBody>
          <a:bodyPr wrap="none" rtlCol="0">
            <a:spAutoFit/>
          </a:bodyPr>
          <a:lstStyle/>
          <a:p>
            <a:pPr algn="ctr"/>
            <a:r>
              <a:rPr lang="en-GB" dirty="0"/>
              <a:t>+ ephedrine</a:t>
            </a:r>
          </a:p>
        </p:txBody>
      </p:sp>
      <p:sp>
        <p:nvSpPr>
          <p:cNvPr id="37" name="TextBox 36">
            <a:extLst>
              <a:ext uri="{FF2B5EF4-FFF2-40B4-BE49-F238E27FC236}">
                <a16:creationId xmlns:a16="http://schemas.microsoft.com/office/drawing/2014/main" id="{70BB9C6B-BDDE-7263-7749-51E56CC71A29}"/>
              </a:ext>
            </a:extLst>
          </p:cNvPr>
          <p:cNvSpPr txBox="1"/>
          <p:nvPr/>
        </p:nvSpPr>
        <p:spPr>
          <a:xfrm>
            <a:off x="9420672" y="353568"/>
            <a:ext cx="883575" cy="369332"/>
          </a:xfrm>
          <a:prstGeom prst="rect">
            <a:avLst/>
          </a:prstGeom>
          <a:noFill/>
        </p:spPr>
        <p:txBody>
          <a:bodyPr wrap="none" rtlCol="0">
            <a:spAutoFit/>
          </a:bodyPr>
          <a:lstStyle/>
          <a:p>
            <a:pPr algn="ctr"/>
            <a:r>
              <a:rPr lang="en-GB" dirty="0"/>
              <a:t>+ base</a:t>
            </a:r>
          </a:p>
        </p:txBody>
      </p:sp>
      <p:sp>
        <p:nvSpPr>
          <p:cNvPr id="39" name="TextBox 38">
            <a:extLst>
              <a:ext uri="{FF2B5EF4-FFF2-40B4-BE49-F238E27FC236}">
                <a16:creationId xmlns:a16="http://schemas.microsoft.com/office/drawing/2014/main" id="{8E5059E8-7CE2-2E66-31DB-BDAD2835AFDA}"/>
              </a:ext>
            </a:extLst>
          </p:cNvPr>
          <p:cNvSpPr txBox="1"/>
          <p:nvPr/>
        </p:nvSpPr>
        <p:spPr>
          <a:xfrm>
            <a:off x="1193106" y="5026771"/>
            <a:ext cx="1018228" cy="369332"/>
          </a:xfrm>
          <a:prstGeom prst="rect">
            <a:avLst/>
          </a:prstGeom>
          <a:noFill/>
        </p:spPr>
        <p:txBody>
          <a:bodyPr wrap="none" rtlCol="0">
            <a:spAutoFit/>
          </a:bodyPr>
          <a:lstStyle/>
          <a:p>
            <a:pPr algn="ctr"/>
            <a:r>
              <a:rPr lang="en-GB" dirty="0"/>
              <a:t>5.67 mL</a:t>
            </a:r>
          </a:p>
        </p:txBody>
      </p:sp>
      <p:sp>
        <p:nvSpPr>
          <p:cNvPr id="40" name="TextBox 39">
            <a:extLst>
              <a:ext uri="{FF2B5EF4-FFF2-40B4-BE49-F238E27FC236}">
                <a16:creationId xmlns:a16="http://schemas.microsoft.com/office/drawing/2014/main" id="{AF74AD90-D7BF-08E4-F7C5-E3773AB686F7}"/>
              </a:ext>
            </a:extLst>
          </p:cNvPr>
          <p:cNvSpPr txBox="1"/>
          <p:nvPr/>
        </p:nvSpPr>
        <p:spPr>
          <a:xfrm>
            <a:off x="2607168" y="5482700"/>
            <a:ext cx="1710726" cy="369332"/>
          </a:xfrm>
          <a:prstGeom prst="rect">
            <a:avLst/>
          </a:prstGeom>
          <a:noFill/>
        </p:spPr>
        <p:txBody>
          <a:bodyPr wrap="none" rtlCol="0">
            <a:spAutoFit/>
          </a:bodyPr>
          <a:lstStyle/>
          <a:p>
            <a:pPr algn="ctr"/>
            <a:r>
              <a:rPr lang="en-GB" dirty="0"/>
              <a:t>0.0006492 mol</a:t>
            </a:r>
          </a:p>
        </p:txBody>
      </p:sp>
      <p:sp>
        <p:nvSpPr>
          <p:cNvPr id="41" name="TextBox 40">
            <a:extLst>
              <a:ext uri="{FF2B5EF4-FFF2-40B4-BE49-F238E27FC236}">
                <a16:creationId xmlns:a16="http://schemas.microsoft.com/office/drawing/2014/main" id="{5C24E0EA-02E8-F556-64EB-DA09E273718E}"/>
              </a:ext>
            </a:extLst>
          </p:cNvPr>
          <p:cNvSpPr txBox="1"/>
          <p:nvPr/>
        </p:nvSpPr>
        <p:spPr>
          <a:xfrm>
            <a:off x="4752960" y="6067916"/>
            <a:ext cx="1710726" cy="369332"/>
          </a:xfrm>
          <a:prstGeom prst="rect">
            <a:avLst/>
          </a:prstGeom>
          <a:noFill/>
        </p:spPr>
        <p:txBody>
          <a:bodyPr wrap="none" rtlCol="0">
            <a:spAutoFit/>
          </a:bodyPr>
          <a:lstStyle/>
          <a:p>
            <a:pPr algn="ctr"/>
            <a:r>
              <a:rPr lang="en-GB" dirty="0"/>
              <a:t>0.0003246 mol</a:t>
            </a:r>
          </a:p>
        </p:txBody>
      </p:sp>
      <p:sp>
        <p:nvSpPr>
          <p:cNvPr id="42" name="TextBox 41">
            <a:extLst>
              <a:ext uri="{FF2B5EF4-FFF2-40B4-BE49-F238E27FC236}">
                <a16:creationId xmlns:a16="http://schemas.microsoft.com/office/drawing/2014/main" id="{0D02F4AD-3D59-238A-4980-B07481B2EA1B}"/>
              </a:ext>
            </a:extLst>
          </p:cNvPr>
          <p:cNvSpPr txBox="1"/>
          <p:nvPr/>
        </p:nvSpPr>
        <p:spPr>
          <a:xfrm>
            <a:off x="9332352" y="5699117"/>
            <a:ext cx="1582484" cy="369332"/>
          </a:xfrm>
          <a:prstGeom prst="rect">
            <a:avLst/>
          </a:prstGeom>
          <a:noFill/>
        </p:spPr>
        <p:txBody>
          <a:bodyPr wrap="none" rtlCol="0">
            <a:spAutoFit/>
          </a:bodyPr>
          <a:lstStyle/>
          <a:p>
            <a:pPr algn="ctr"/>
            <a:r>
              <a:rPr lang="en-GB" dirty="0"/>
              <a:t>0.002051 mol</a:t>
            </a:r>
          </a:p>
        </p:txBody>
      </p:sp>
      <p:sp>
        <p:nvSpPr>
          <p:cNvPr id="43" name="TextBox 42">
            <a:extLst>
              <a:ext uri="{FF2B5EF4-FFF2-40B4-BE49-F238E27FC236}">
                <a16:creationId xmlns:a16="http://schemas.microsoft.com/office/drawing/2014/main" id="{8622F923-BAF4-E4A2-9BE9-2042BEBC130E}"/>
              </a:ext>
            </a:extLst>
          </p:cNvPr>
          <p:cNvSpPr txBox="1"/>
          <p:nvPr/>
        </p:nvSpPr>
        <p:spPr>
          <a:xfrm>
            <a:off x="9722042" y="3573560"/>
            <a:ext cx="1082349" cy="369332"/>
          </a:xfrm>
          <a:prstGeom prst="rect">
            <a:avLst/>
          </a:prstGeom>
          <a:noFill/>
        </p:spPr>
        <p:txBody>
          <a:bodyPr wrap="none" rtlCol="0">
            <a:spAutoFit/>
          </a:bodyPr>
          <a:lstStyle/>
          <a:p>
            <a:pPr algn="ctr"/>
            <a:r>
              <a:rPr lang="en-GB" dirty="0"/>
              <a:t>0.3388 g</a:t>
            </a:r>
          </a:p>
        </p:txBody>
      </p:sp>
    </p:spTree>
    <p:extLst>
      <p:ext uri="{BB962C8B-B14F-4D97-AF65-F5344CB8AC3E}">
        <p14:creationId xmlns:p14="http://schemas.microsoft.com/office/powerpoint/2010/main" val="2367953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3D7C-BFC2-9553-5130-A4FF8DE70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C9EBF-4B82-A2AE-7A8D-339E58AAED51}"/>
              </a:ext>
            </a:extLst>
          </p:cNvPr>
          <p:cNvSpPr>
            <a:spLocks noGrp="1"/>
          </p:cNvSpPr>
          <p:nvPr>
            <p:ph type="title"/>
          </p:nvPr>
        </p:nvSpPr>
        <p:spPr/>
        <p:txBody>
          <a:bodyPr/>
          <a:lstStyle/>
          <a:p>
            <a:r>
              <a:rPr lang="en-GB" dirty="0"/>
              <a:t>Step 3: Complete the calculation</a:t>
            </a:r>
          </a:p>
        </p:txBody>
      </p:sp>
      <p:sp>
        <p:nvSpPr>
          <p:cNvPr id="3" name="Table Placeholder 2">
            <a:extLst>
              <a:ext uri="{FF2B5EF4-FFF2-40B4-BE49-F238E27FC236}">
                <a16:creationId xmlns:a16="http://schemas.microsoft.com/office/drawing/2014/main" id="{A2C97C78-9F09-1190-30C8-3847439C0FFA}"/>
              </a:ext>
            </a:extLst>
          </p:cNvPr>
          <p:cNvSpPr>
            <a:spLocks noGrp="1"/>
          </p:cNvSpPr>
          <p:nvPr>
            <p:ph type="tbl" sz="quarter" idx="10"/>
          </p:nvPr>
        </p:nvSpPr>
        <p:spPr>
          <a:xfrm>
            <a:off x="334963" y="1808162"/>
            <a:ext cx="4493069" cy="4681538"/>
          </a:xfrm>
        </p:spPr>
        <p:txBody>
          <a:bodyPr/>
          <a:lstStyle/>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endParaRPr lang="en-GB" dirty="0"/>
          </a:p>
          <a:p>
            <a:r>
              <a:rPr lang="en-GB" dirty="0"/>
              <a:t>Determine whether the sample complies with the requirements of the assay.</a:t>
            </a:r>
          </a:p>
        </p:txBody>
      </p:sp>
      <p:pic>
        <p:nvPicPr>
          <p:cNvPr id="6" name="Picture 5">
            <a:extLst>
              <a:ext uri="{FF2B5EF4-FFF2-40B4-BE49-F238E27FC236}">
                <a16:creationId xmlns:a16="http://schemas.microsoft.com/office/drawing/2014/main" id="{2673EE26-4A52-3268-EE50-2B772134C3BB}"/>
              </a:ext>
            </a:extLst>
          </p:cNvPr>
          <p:cNvPicPr>
            <a:picLocks noChangeAspect="1"/>
          </p:cNvPicPr>
          <p:nvPr/>
        </p:nvPicPr>
        <p:blipFill>
          <a:blip r:embed="rId3"/>
          <a:stretch>
            <a:fillRect/>
          </a:stretch>
        </p:blipFill>
        <p:spPr>
          <a:xfrm>
            <a:off x="5271228" y="1691929"/>
            <a:ext cx="5989899" cy="3474141"/>
          </a:xfrm>
          <a:prstGeom prst="rect">
            <a:avLst/>
          </a:prstGeom>
        </p:spPr>
      </p:pic>
      <p:sp>
        <p:nvSpPr>
          <p:cNvPr id="7" name="TextBox 6">
            <a:extLst>
              <a:ext uri="{FF2B5EF4-FFF2-40B4-BE49-F238E27FC236}">
                <a16:creationId xmlns:a16="http://schemas.microsoft.com/office/drawing/2014/main" id="{06EEE64A-D056-5E7A-1F58-AC86F794B35C}"/>
              </a:ext>
            </a:extLst>
          </p:cNvPr>
          <p:cNvSpPr txBox="1"/>
          <p:nvPr/>
        </p:nvSpPr>
        <p:spPr>
          <a:xfrm>
            <a:off x="5483618" y="5049138"/>
            <a:ext cx="1582486" cy="369332"/>
          </a:xfrm>
          <a:prstGeom prst="rect">
            <a:avLst/>
          </a:prstGeom>
          <a:noFill/>
        </p:spPr>
        <p:txBody>
          <a:bodyPr wrap="none" rtlCol="0">
            <a:spAutoFit/>
          </a:bodyPr>
          <a:lstStyle/>
          <a:p>
            <a:pPr algn="ctr"/>
            <a:r>
              <a:rPr lang="en-GB" dirty="0"/>
              <a:t>0.002051 mol</a:t>
            </a:r>
          </a:p>
        </p:txBody>
      </p:sp>
      <p:sp>
        <p:nvSpPr>
          <p:cNvPr id="8" name="TextBox 7">
            <a:extLst>
              <a:ext uri="{FF2B5EF4-FFF2-40B4-BE49-F238E27FC236}">
                <a16:creationId xmlns:a16="http://schemas.microsoft.com/office/drawing/2014/main" id="{5ADA4DE7-B7AF-C0AE-9E9B-30E2E821F97D}"/>
              </a:ext>
            </a:extLst>
          </p:cNvPr>
          <p:cNvSpPr txBox="1"/>
          <p:nvPr/>
        </p:nvSpPr>
        <p:spPr>
          <a:xfrm>
            <a:off x="5579802" y="3559005"/>
            <a:ext cx="1390124" cy="369332"/>
          </a:xfrm>
          <a:prstGeom prst="rect">
            <a:avLst/>
          </a:prstGeom>
          <a:noFill/>
        </p:spPr>
        <p:txBody>
          <a:bodyPr wrap="none" rtlCol="0">
            <a:spAutoFit/>
          </a:bodyPr>
          <a:lstStyle/>
          <a:p>
            <a:pPr algn="ctr"/>
            <a:r>
              <a:rPr lang="en-GB" dirty="0"/>
              <a:t>165.2 g/mol</a:t>
            </a:r>
          </a:p>
        </p:txBody>
      </p:sp>
      <p:sp>
        <p:nvSpPr>
          <p:cNvPr id="9" name="TextBox 8">
            <a:extLst>
              <a:ext uri="{FF2B5EF4-FFF2-40B4-BE49-F238E27FC236}">
                <a16:creationId xmlns:a16="http://schemas.microsoft.com/office/drawing/2014/main" id="{D3C0407E-E935-BB8C-06E6-905FB78ECBF4}"/>
              </a:ext>
            </a:extLst>
          </p:cNvPr>
          <p:cNvSpPr txBox="1"/>
          <p:nvPr/>
        </p:nvSpPr>
        <p:spPr>
          <a:xfrm>
            <a:off x="7923736" y="2678472"/>
            <a:ext cx="1082349" cy="369332"/>
          </a:xfrm>
          <a:prstGeom prst="rect">
            <a:avLst/>
          </a:prstGeom>
          <a:noFill/>
        </p:spPr>
        <p:txBody>
          <a:bodyPr wrap="none" rtlCol="0">
            <a:spAutoFit/>
          </a:bodyPr>
          <a:lstStyle/>
          <a:p>
            <a:pPr algn="ctr"/>
            <a:r>
              <a:rPr lang="en-GB" dirty="0"/>
              <a:t>0.3400 g</a:t>
            </a:r>
          </a:p>
        </p:txBody>
      </p:sp>
      <p:sp>
        <p:nvSpPr>
          <p:cNvPr id="10" name="TextBox 9">
            <a:extLst>
              <a:ext uri="{FF2B5EF4-FFF2-40B4-BE49-F238E27FC236}">
                <a16:creationId xmlns:a16="http://schemas.microsoft.com/office/drawing/2014/main" id="{E3B6DE37-96ED-8106-107B-C1F609FB9D3E}"/>
              </a:ext>
            </a:extLst>
          </p:cNvPr>
          <p:cNvSpPr txBox="1"/>
          <p:nvPr/>
        </p:nvSpPr>
        <p:spPr>
          <a:xfrm>
            <a:off x="7935026" y="4473404"/>
            <a:ext cx="1082349" cy="369332"/>
          </a:xfrm>
          <a:prstGeom prst="rect">
            <a:avLst/>
          </a:prstGeom>
          <a:noFill/>
        </p:spPr>
        <p:txBody>
          <a:bodyPr wrap="none" rtlCol="0">
            <a:spAutoFit/>
          </a:bodyPr>
          <a:lstStyle/>
          <a:p>
            <a:pPr algn="ctr"/>
            <a:r>
              <a:rPr lang="en-GB" dirty="0"/>
              <a:t>0.3388 g</a:t>
            </a:r>
          </a:p>
        </p:txBody>
      </p:sp>
      <p:sp>
        <p:nvSpPr>
          <p:cNvPr id="11" name="TextBox 10">
            <a:extLst>
              <a:ext uri="{FF2B5EF4-FFF2-40B4-BE49-F238E27FC236}">
                <a16:creationId xmlns:a16="http://schemas.microsoft.com/office/drawing/2014/main" id="{1FCB08F6-FEE6-3CD6-0D65-17AF9FAA3C29}"/>
              </a:ext>
            </a:extLst>
          </p:cNvPr>
          <p:cNvSpPr txBox="1"/>
          <p:nvPr/>
        </p:nvSpPr>
        <p:spPr>
          <a:xfrm>
            <a:off x="10077565" y="3559004"/>
            <a:ext cx="838691" cy="369332"/>
          </a:xfrm>
          <a:prstGeom prst="rect">
            <a:avLst/>
          </a:prstGeom>
          <a:noFill/>
        </p:spPr>
        <p:txBody>
          <a:bodyPr wrap="none" rtlCol="0">
            <a:spAutoFit/>
          </a:bodyPr>
          <a:lstStyle/>
          <a:p>
            <a:pPr algn="ctr"/>
            <a:r>
              <a:rPr lang="en-GB" dirty="0"/>
              <a:t>99.6%</a:t>
            </a:r>
          </a:p>
        </p:txBody>
      </p:sp>
      <p:sp>
        <p:nvSpPr>
          <p:cNvPr id="13" name="TextBox 12">
            <a:extLst>
              <a:ext uri="{FF2B5EF4-FFF2-40B4-BE49-F238E27FC236}">
                <a16:creationId xmlns:a16="http://schemas.microsoft.com/office/drawing/2014/main" id="{7E8D7723-9B07-113C-14D4-EEDA6A3A272B}"/>
              </a:ext>
            </a:extLst>
          </p:cNvPr>
          <p:cNvSpPr txBox="1"/>
          <p:nvPr/>
        </p:nvSpPr>
        <p:spPr>
          <a:xfrm>
            <a:off x="5029457" y="5923626"/>
            <a:ext cx="6473439" cy="400110"/>
          </a:xfrm>
          <a:prstGeom prst="rect">
            <a:avLst/>
          </a:prstGeom>
          <a:solidFill>
            <a:schemeClr val="accent4"/>
          </a:solidFill>
        </p:spPr>
        <p:txBody>
          <a:bodyPr wrap="none" rtlCol="0">
            <a:spAutoFit/>
          </a:bodyPr>
          <a:lstStyle/>
          <a:p>
            <a:r>
              <a:rPr lang="en-GB" sz="2000" b="1" dirty="0"/>
              <a:t>Conclusion: Sample complies with BP specification</a:t>
            </a:r>
          </a:p>
        </p:txBody>
      </p:sp>
    </p:spTree>
    <p:extLst>
      <p:ext uri="{BB962C8B-B14F-4D97-AF65-F5344CB8AC3E}">
        <p14:creationId xmlns:p14="http://schemas.microsoft.com/office/powerpoint/2010/main" val="389481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FB2423-9F63-DEBD-0781-3E66F8BFBDB4}"/>
              </a:ext>
            </a:extLst>
          </p:cNvPr>
          <p:cNvSpPr>
            <a:spLocks noGrp="1"/>
          </p:cNvSpPr>
          <p:nvPr>
            <p:ph type="title"/>
          </p:nvPr>
        </p:nvSpPr>
        <p:spPr/>
        <p:txBody>
          <a:bodyPr/>
          <a:lstStyle/>
          <a:p>
            <a:r>
              <a:rPr lang="en-GB" dirty="0" err="1"/>
              <a:t>Acidometric</a:t>
            </a:r>
            <a:r>
              <a:rPr lang="en-GB" dirty="0"/>
              <a:t> and alkalimetric titrations</a:t>
            </a:r>
          </a:p>
        </p:txBody>
      </p:sp>
      <p:sp>
        <p:nvSpPr>
          <p:cNvPr id="7" name="Table Placeholder 6">
            <a:extLst>
              <a:ext uri="{FF2B5EF4-FFF2-40B4-BE49-F238E27FC236}">
                <a16:creationId xmlns:a16="http://schemas.microsoft.com/office/drawing/2014/main" id="{69CA7E08-D6A9-CECB-5240-E64B49D98C90}"/>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types of chemical reaction can be used for volumetric titrations.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So far, we have looked at acid–base titrations:</a:t>
            </a:r>
          </a:p>
          <a:p>
            <a:pPr marL="861750" lvl="1" indent="-285750">
              <a:buFont typeface="Arial" panose="020B0604020202020204" pitchFamily="34" charset="0"/>
              <a:buChar char="•"/>
            </a:pPr>
            <a:r>
              <a:rPr lang="en-GB" dirty="0"/>
              <a:t>Acid + Base → Salt</a:t>
            </a:r>
          </a:p>
          <a:p>
            <a:pPr marL="861750" lvl="1" indent="-285750">
              <a:buFont typeface="Arial" panose="020B0604020202020204" pitchFamily="34" charset="0"/>
              <a:buChar char="•"/>
            </a:pPr>
            <a:r>
              <a:rPr lang="en-GB" dirty="0"/>
              <a:t>For example, the analysis of ephedrine</a:t>
            </a:r>
          </a:p>
          <a:p>
            <a:pPr marL="285750" indent="-285750">
              <a:buFont typeface="Arial" panose="020B0604020202020204" pitchFamily="34" charset="0"/>
              <a:buChar char="•"/>
            </a:pPr>
            <a:r>
              <a:rPr lang="en-GB" dirty="0"/>
              <a:t>The titration of free bases with a standard acid (</a:t>
            </a:r>
            <a:r>
              <a:rPr lang="en-GB" b="1" dirty="0"/>
              <a:t>acidimetry</a:t>
            </a:r>
            <a:r>
              <a:rPr lang="en-GB" dirty="0"/>
              <a:t>), and the titration of free acids with a standard base (</a:t>
            </a:r>
            <a:r>
              <a:rPr lang="en-GB" b="1" dirty="0"/>
              <a:t>alkalimetry</a:t>
            </a:r>
            <a:r>
              <a:rPr lang="en-GB" dirty="0"/>
              <a:t>) are common tests in the BP.</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Benzoic acid and potassium hydrogen phthalate are</a:t>
            </a:r>
            <a:br>
              <a:rPr lang="en-GB" dirty="0"/>
            </a:br>
            <a:r>
              <a:rPr lang="en-GB" dirty="0"/>
              <a:t>widely used as primary standard acids.</a:t>
            </a:r>
          </a:p>
          <a:p>
            <a:pPr marL="285750" indent="-285750">
              <a:buFont typeface="Arial" panose="020B0604020202020204" pitchFamily="34" charset="0"/>
              <a:buChar char="•"/>
            </a:pPr>
            <a:r>
              <a:rPr lang="en-GB" dirty="0"/>
              <a:t>Anhydrous sodium carbonate is used as a primary</a:t>
            </a:r>
            <a:br>
              <a:rPr lang="en-GB" dirty="0"/>
            </a:br>
            <a:r>
              <a:rPr lang="en-GB" dirty="0"/>
              <a:t>standard base.</a:t>
            </a:r>
          </a:p>
        </p:txBody>
      </p:sp>
      <p:graphicFrame>
        <p:nvGraphicFramePr>
          <p:cNvPr id="8" name="Object 7">
            <a:extLst>
              <a:ext uri="{FF2B5EF4-FFF2-40B4-BE49-F238E27FC236}">
                <a16:creationId xmlns:a16="http://schemas.microsoft.com/office/drawing/2014/main" id="{5E6A5ABD-F114-219C-15CA-E9B1204E0522}"/>
              </a:ext>
            </a:extLst>
          </p:cNvPr>
          <p:cNvGraphicFramePr>
            <a:graphicFrameLocks noChangeAspect="1"/>
          </p:cNvGraphicFramePr>
          <p:nvPr>
            <p:extLst>
              <p:ext uri="{D42A27DB-BD31-4B8C-83A1-F6EECF244321}">
                <p14:modId xmlns:p14="http://schemas.microsoft.com/office/powerpoint/2010/main" val="337802665"/>
              </p:ext>
            </p:extLst>
          </p:nvPr>
        </p:nvGraphicFramePr>
        <p:xfrm>
          <a:off x="6897576" y="4748646"/>
          <a:ext cx="4785456" cy="1181347"/>
        </p:xfrm>
        <a:graphic>
          <a:graphicData uri="http://schemas.openxmlformats.org/presentationml/2006/ole">
            <mc:AlternateContent xmlns:mc="http://schemas.openxmlformats.org/markup-compatibility/2006">
              <mc:Choice xmlns:v="urn:schemas-microsoft-com:vml" Requires="v">
                <p:oleObj r:id="rId2" imgW="3035300" imgH="774700" progId="ChemDraw_x64.Document.6.0">
                  <p:embed/>
                </p:oleObj>
              </mc:Choice>
              <mc:Fallback>
                <p:oleObj r:id="rId2" imgW="3035300" imgH="774700" progId="ChemDraw_x64.Document.6.0">
                  <p:embed/>
                  <p:pic>
                    <p:nvPicPr>
                      <p:cNvPr id="5" name="Object 4">
                        <a:extLst>
                          <a:ext uri="{FF2B5EF4-FFF2-40B4-BE49-F238E27FC236}">
                            <a16:creationId xmlns:a16="http://schemas.microsoft.com/office/drawing/2014/main" id="{CB0474D1-72B9-A7EE-E087-574B79D879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7576" y="4748646"/>
                        <a:ext cx="4785456" cy="1181347"/>
                      </a:xfrm>
                      <a:prstGeom prst="rect">
                        <a:avLst/>
                      </a:prstGeom>
                      <a:noFill/>
                    </p:spPr>
                  </p:pic>
                </p:oleObj>
              </mc:Fallback>
            </mc:AlternateContent>
          </a:graphicData>
        </a:graphic>
      </p:graphicFrame>
    </p:spTree>
    <p:extLst>
      <p:ext uri="{BB962C8B-B14F-4D97-AF65-F5344CB8AC3E}">
        <p14:creationId xmlns:p14="http://schemas.microsoft.com/office/powerpoint/2010/main" val="3509337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D9A6-B06F-36C7-9159-06E47A54289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AF55E69-2BC5-25BA-8B87-94C76574965A}"/>
              </a:ext>
            </a:extLst>
          </p:cNvPr>
          <p:cNvSpPr>
            <a:spLocks noGrp="1"/>
          </p:cNvSpPr>
          <p:nvPr>
            <p:ph type="title"/>
          </p:nvPr>
        </p:nvSpPr>
        <p:spPr/>
        <p:txBody>
          <a:bodyPr/>
          <a:lstStyle/>
          <a:p>
            <a:r>
              <a:rPr lang="en-GB" dirty="0" err="1"/>
              <a:t>Acidometric</a:t>
            </a:r>
            <a:r>
              <a:rPr lang="en-GB" dirty="0"/>
              <a:t> and alkalimetric titrations</a:t>
            </a:r>
          </a:p>
        </p:txBody>
      </p:sp>
      <p:sp>
        <p:nvSpPr>
          <p:cNvPr id="7" name="Table Placeholder 6">
            <a:extLst>
              <a:ext uri="{FF2B5EF4-FFF2-40B4-BE49-F238E27FC236}">
                <a16:creationId xmlns:a16="http://schemas.microsoft.com/office/drawing/2014/main" id="{FE86B7E3-881B-7E8D-A9D2-4DFA8EF071A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As a titration proceeds, we expect a sharp change in the pH of the solution at the equivalence point, when the acid or base being titrated is fully neutralised.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We will see later in the term how to calculate these curves.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2" name="Picture 1" descr=" ">
            <a:extLst>
              <a:ext uri="{FF2B5EF4-FFF2-40B4-BE49-F238E27FC236}">
                <a16:creationId xmlns:a16="http://schemas.microsoft.com/office/drawing/2014/main" id="{F5911903-185A-7838-97F0-07BE1A7336D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670448" y="2453958"/>
            <a:ext cx="6851104" cy="351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036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B71F-81CC-3F1C-B722-B05B139A83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EC09B6-03D2-BC7A-9668-CD8D727B9D57}"/>
              </a:ext>
            </a:extLst>
          </p:cNvPr>
          <p:cNvSpPr>
            <a:spLocks noGrp="1"/>
          </p:cNvSpPr>
          <p:nvPr>
            <p:ph type="title"/>
          </p:nvPr>
        </p:nvSpPr>
        <p:spPr/>
        <p:txBody>
          <a:bodyPr/>
          <a:lstStyle/>
          <a:p>
            <a:r>
              <a:rPr lang="en-GB" dirty="0"/>
              <a:t>Indicators for acid–base titrations</a:t>
            </a:r>
          </a:p>
        </p:txBody>
      </p:sp>
      <p:sp>
        <p:nvSpPr>
          <p:cNvPr id="7" name="Table Placeholder 6">
            <a:extLst>
              <a:ext uri="{FF2B5EF4-FFF2-40B4-BE49-F238E27FC236}">
                <a16:creationId xmlns:a16="http://schemas.microsoft.com/office/drawing/2014/main" id="{5CA6AED3-3D3D-A3DC-0D30-D9A295ABB6EF}"/>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Chemical indicators are typically used for end-point detection in acid-base titrations.</a:t>
            </a:r>
          </a:p>
          <a:p>
            <a:pPr marL="285750" indent="-285750">
              <a:buFont typeface="Arial" panose="020B0604020202020204" pitchFamily="34" charset="0"/>
              <a:buChar char="•"/>
            </a:pPr>
            <a:r>
              <a:rPr lang="en-GB" dirty="0"/>
              <a:t>An indicator is simply a weak organic acid in which the various ionised states differ in colour.</a:t>
            </a:r>
          </a:p>
          <a:p>
            <a:pPr marL="285750" indent="-285750">
              <a:buFont typeface="Arial" panose="020B0604020202020204" pitchFamily="34" charset="0"/>
              <a:buChar char="•"/>
            </a:pPr>
            <a:r>
              <a:rPr lang="en-GB" dirty="0"/>
              <a:t>There is a rapid change in pH when the reaction is complete.</a:t>
            </a:r>
          </a:p>
          <a:p>
            <a:pPr marL="285750" indent="-285750">
              <a:buFont typeface="Arial" panose="020B0604020202020204" pitchFamily="34" charset="0"/>
              <a:buChar char="•"/>
            </a:pPr>
            <a:r>
              <a:rPr lang="en-GB" dirty="0"/>
              <a:t>The indicator is chosen so that the colour change occurs as close to the equivalence point as possible.</a:t>
            </a:r>
          </a:p>
          <a:p>
            <a:pPr marL="861750" lvl="1" indent="-285750">
              <a:buFont typeface="Arial" panose="020B0604020202020204" pitchFamily="34" charset="0"/>
              <a:buChar char="•"/>
            </a:pPr>
            <a:r>
              <a:rPr lang="en-GB" dirty="0"/>
              <a:t>e.g. methyl orange</a:t>
            </a:r>
          </a:p>
        </p:txBody>
      </p:sp>
      <p:graphicFrame>
        <p:nvGraphicFramePr>
          <p:cNvPr id="2" name="Object 1">
            <a:extLst>
              <a:ext uri="{FF2B5EF4-FFF2-40B4-BE49-F238E27FC236}">
                <a16:creationId xmlns:a16="http://schemas.microsoft.com/office/drawing/2014/main" id="{461742BA-C607-640D-7494-D0923CDFFDED}"/>
              </a:ext>
            </a:extLst>
          </p:cNvPr>
          <p:cNvGraphicFramePr>
            <a:graphicFrameLocks noChangeAspect="1"/>
          </p:cNvGraphicFramePr>
          <p:nvPr>
            <p:extLst>
              <p:ext uri="{D42A27DB-BD31-4B8C-83A1-F6EECF244321}">
                <p14:modId xmlns:p14="http://schemas.microsoft.com/office/powerpoint/2010/main" val="3648391329"/>
              </p:ext>
            </p:extLst>
          </p:nvPr>
        </p:nvGraphicFramePr>
        <p:xfrm>
          <a:off x="3681656" y="3421062"/>
          <a:ext cx="7485063" cy="1033463"/>
        </p:xfrm>
        <a:graphic>
          <a:graphicData uri="http://schemas.openxmlformats.org/presentationml/2006/ole">
            <mc:AlternateContent xmlns:mc="http://schemas.openxmlformats.org/markup-compatibility/2006">
              <mc:Choice xmlns:v="urn:schemas-microsoft-com:vml" Requires="v">
                <p:oleObj name="CS ChemDraw Drawing" r:id="rId2" imgW="5037963" imgH="689991" progId="ChemDraw.Document.6.0">
                  <p:embed/>
                </p:oleObj>
              </mc:Choice>
              <mc:Fallback>
                <p:oleObj name="CS ChemDraw Drawing" r:id="rId2" imgW="5037963" imgH="689991" progId="ChemDraw.Document.6.0">
                  <p:embed/>
                  <p:pic>
                    <p:nvPicPr>
                      <p:cNvPr id="343041" name="Object 1">
                        <a:extLst>
                          <a:ext uri="{FF2B5EF4-FFF2-40B4-BE49-F238E27FC236}">
                            <a16:creationId xmlns:a16="http://schemas.microsoft.com/office/drawing/2014/main" id="{43A86AF8-9D84-305E-EC71-5DE269AAA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656" y="3421062"/>
                        <a:ext cx="7485063"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90304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4C3B-AA4A-E5EE-6DA5-88E1F93038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77D2C3-BC90-920B-A711-0FAC6ADB2AB6}"/>
              </a:ext>
            </a:extLst>
          </p:cNvPr>
          <p:cNvSpPr>
            <a:spLocks noGrp="1"/>
          </p:cNvSpPr>
          <p:nvPr>
            <p:ph type="title"/>
          </p:nvPr>
        </p:nvSpPr>
        <p:spPr/>
        <p:txBody>
          <a:bodyPr/>
          <a:lstStyle/>
          <a:p>
            <a:r>
              <a:rPr lang="en-GB" dirty="0"/>
              <a:t>Indicators for acid–base titrations</a:t>
            </a:r>
          </a:p>
        </p:txBody>
      </p:sp>
      <p:sp>
        <p:nvSpPr>
          <p:cNvPr id="7" name="Table Placeholder 6">
            <a:extLst>
              <a:ext uri="{FF2B5EF4-FFF2-40B4-BE49-F238E27FC236}">
                <a16:creationId xmlns:a16="http://schemas.microsoft.com/office/drawing/2014/main" id="{9B5F023C-82B6-EE34-7475-4F239B41C97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 variety of indicators are available depending on the expected pH change at the equivalence point (you do not need to know these names!)</a:t>
            </a:r>
          </a:p>
          <a:p>
            <a:pPr marL="285750" indent="-285750">
              <a:buFont typeface="Arial" panose="020B0604020202020204" pitchFamily="34" charset="0"/>
              <a:buChar char="•"/>
            </a:pPr>
            <a:endParaRPr lang="en-GB" dirty="0"/>
          </a:p>
        </p:txBody>
      </p:sp>
      <p:pic>
        <p:nvPicPr>
          <p:cNvPr id="3" name="Picture 2" descr="A graph showing different colors&#10;&#10;Description automatically generated">
            <a:extLst>
              <a:ext uri="{FF2B5EF4-FFF2-40B4-BE49-F238E27FC236}">
                <a16:creationId xmlns:a16="http://schemas.microsoft.com/office/drawing/2014/main" id="{EDDB2A0C-7387-8572-5F4B-837C19D4BE52}"/>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925798" y="2545181"/>
            <a:ext cx="8340405" cy="388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469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FDAD-9186-3C55-1DCE-ABD5FEADCB5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CAD297-0AC7-5394-FE3D-92C4DB6F6E28}"/>
              </a:ext>
            </a:extLst>
          </p:cNvPr>
          <p:cNvSpPr>
            <a:spLocks noGrp="1"/>
          </p:cNvSpPr>
          <p:nvPr>
            <p:ph type="title"/>
          </p:nvPr>
        </p:nvSpPr>
        <p:spPr/>
        <p:txBody>
          <a:bodyPr/>
          <a:lstStyle/>
          <a:p>
            <a:r>
              <a:rPr lang="en-GB" dirty="0"/>
              <a:t>Non-aqueous titrations</a:t>
            </a:r>
          </a:p>
        </p:txBody>
      </p:sp>
      <p:sp>
        <p:nvSpPr>
          <p:cNvPr id="7" name="Table Placeholder 6">
            <a:extLst>
              <a:ext uri="{FF2B5EF4-FFF2-40B4-BE49-F238E27FC236}">
                <a16:creationId xmlns:a16="http://schemas.microsoft.com/office/drawing/2014/main" id="{F4B318C9-71B6-AAAF-ABBC-2F47BB5ED723}"/>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strongest possible acid in water is the H</a:t>
            </a:r>
            <a:r>
              <a:rPr lang="en-GB" baseline="-25000" dirty="0"/>
              <a:t>3</a:t>
            </a:r>
            <a:r>
              <a:rPr lang="en-GB" dirty="0"/>
              <a:t>O</a:t>
            </a:r>
            <a:r>
              <a:rPr lang="en-GB" baseline="30000" dirty="0"/>
              <a:t>+</a:t>
            </a:r>
            <a:r>
              <a:rPr lang="en-GB" dirty="0"/>
              <a:t> ion, which in the presence of excess water, is not sufficiently acidic to give a sharp end-point with weak bases such as amines. </a:t>
            </a:r>
          </a:p>
          <a:p>
            <a:pPr marL="285750" indent="-285750">
              <a:buFont typeface="Arial" panose="020B0604020202020204" pitchFamily="34" charset="0"/>
              <a:buChar char="•"/>
            </a:pPr>
            <a:r>
              <a:rPr lang="en-GB" dirty="0"/>
              <a:t>OH</a:t>
            </a:r>
            <a:r>
              <a:rPr lang="en-GB" baseline="30000" dirty="0"/>
              <a:t>–</a:t>
            </a:r>
            <a:r>
              <a:rPr lang="en-GB" dirty="0"/>
              <a:t> is the strongest base in water, but is not strong enough for the accurate determination of weak acids such as phenols. </a:t>
            </a:r>
          </a:p>
          <a:p>
            <a:pPr marL="285750" indent="-285750">
              <a:buFont typeface="Arial" panose="020B0604020202020204" pitchFamily="34" charset="0"/>
              <a:buChar char="•"/>
            </a:pPr>
            <a:r>
              <a:rPr lang="en-GB" dirty="0"/>
              <a:t>These limitations at both ends of the scale are so serious that many classes of compounds cannot be determined by titration in aqueous solution. </a:t>
            </a:r>
          </a:p>
          <a:p>
            <a:pPr marL="285750" indent="-285750">
              <a:buFont typeface="Arial" panose="020B0604020202020204" pitchFamily="34" charset="0"/>
              <a:buChar char="•"/>
            </a:pPr>
            <a:r>
              <a:rPr lang="en-GB" dirty="0"/>
              <a:t>Many organic compounds have very limited solubility in water and this also makes titration in aqueous media difficult.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By using solvents other than water the range of acids and bases which can be determined may be extended.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189440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31C9A-D726-52B5-8B17-8204CC8F5F1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DF53B8-E3B5-E548-A422-0925EF54C828}"/>
              </a:ext>
            </a:extLst>
          </p:cNvPr>
          <p:cNvSpPr>
            <a:spLocks noGrp="1"/>
          </p:cNvSpPr>
          <p:nvPr>
            <p:ph type="title"/>
          </p:nvPr>
        </p:nvSpPr>
        <p:spPr/>
        <p:txBody>
          <a:bodyPr/>
          <a:lstStyle/>
          <a:p>
            <a:r>
              <a:rPr lang="en-GB" dirty="0"/>
              <a:t>Non-aqueous titrations – example</a:t>
            </a:r>
          </a:p>
        </p:txBody>
      </p:sp>
      <p:sp>
        <p:nvSpPr>
          <p:cNvPr id="7" name="Table Placeholder 6">
            <a:extLst>
              <a:ext uri="{FF2B5EF4-FFF2-40B4-BE49-F238E27FC236}">
                <a16:creationId xmlns:a16="http://schemas.microsoft.com/office/drawing/2014/main" id="{2E39D74B-A1B6-EEED-A124-67F1C34915B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An amine (R–NH</a:t>
            </a:r>
            <a:r>
              <a:rPr lang="en-GB" baseline="-25000" dirty="0"/>
              <a:t>2</a:t>
            </a:r>
            <a:r>
              <a:rPr lang="en-GB" dirty="0"/>
              <a:t>) dissolved in water is titrated with a strong acid (H</a:t>
            </a:r>
            <a:r>
              <a:rPr lang="en-GB" baseline="30000" dirty="0"/>
              <a:t>+</a:t>
            </a:r>
            <a:r>
              <a:rPr lang="en-GB" dirty="0"/>
              <a:t>).</a:t>
            </a:r>
          </a:p>
          <a:p>
            <a:pPr marL="285750" indent="-285750">
              <a:buFont typeface="Arial" panose="020B0604020202020204" pitchFamily="34" charset="0"/>
              <a:buChar char="•"/>
            </a:pPr>
            <a:r>
              <a:rPr lang="en-GB" dirty="0"/>
              <a:t>The added H</a:t>
            </a:r>
            <a:r>
              <a:rPr lang="en-GB" baseline="30000" dirty="0"/>
              <a:t>+</a:t>
            </a:r>
            <a:r>
              <a:rPr lang="en-GB" dirty="0"/>
              <a:t> can react with the nitrogen lone pair forming R–NH</a:t>
            </a:r>
            <a:r>
              <a:rPr lang="en-GB" baseline="-25000" dirty="0"/>
              <a:t>3</a:t>
            </a:r>
            <a:r>
              <a:rPr lang="en-GB" baseline="30000" dirty="0"/>
              <a:t>+</a:t>
            </a:r>
            <a:r>
              <a:rPr lang="en-GB" dirty="0"/>
              <a:t>.</a:t>
            </a:r>
          </a:p>
          <a:p>
            <a:pPr marL="285750" indent="-285750">
              <a:buFont typeface="Arial" panose="020B0604020202020204" pitchFamily="34" charset="0"/>
              <a:buChar char="•"/>
            </a:pPr>
            <a:r>
              <a:rPr lang="en-GB" dirty="0"/>
              <a:t>But H</a:t>
            </a:r>
            <a:r>
              <a:rPr lang="en-GB" baseline="30000" dirty="0"/>
              <a:t>+</a:t>
            </a:r>
            <a:r>
              <a:rPr lang="en-GB" dirty="0"/>
              <a:t> could also react with an oxygen lone pair in water forming H</a:t>
            </a:r>
            <a:r>
              <a:rPr lang="en-GB" baseline="-25000" dirty="0"/>
              <a:t>3</a:t>
            </a:r>
            <a:r>
              <a:rPr lang="en-GB" dirty="0"/>
              <a:t>O</a:t>
            </a:r>
            <a:r>
              <a:rPr lang="en-GB" baseline="30000" dirty="0"/>
              <a:t>+</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Competition for H</a:t>
            </a:r>
            <a:r>
              <a:rPr lang="en-GB" baseline="30000" dirty="0"/>
              <a:t>+</a:t>
            </a:r>
            <a:r>
              <a:rPr lang="en-GB" dirty="0"/>
              <a:t> between a weak base and solvent water during a titration means that there will not be a sharp change in pH and it may be difficult to detect the end-point of the titration.</a:t>
            </a:r>
          </a:p>
        </p:txBody>
      </p:sp>
    </p:spTree>
    <p:extLst>
      <p:ext uri="{BB962C8B-B14F-4D97-AF65-F5344CB8AC3E}">
        <p14:creationId xmlns:p14="http://schemas.microsoft.com/office/powerpoint/2010/main" val="2932135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400A-589E-3BEC-3FD7-D9C27CE62C0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C19EA0-7A0F-8996-1571-A33A9DD1C07E}"/>
              </a:ext>
            </a:extLst>
          </p:cNvPr>
          <p:cNvSpPr>
            <a:spLocks noGrp="1"/>
          </p:cNvSpPr>
          <p:nvPr>
            <p:ph type="title"/>
          </p:nvPr>
        </p:nvSpPr>
        <p:spPr/>
        <p:txBody>
          <a:bodyPr/>
          <a:lstStyle/>
          <a:p>
            <a:r>
              <a:rPr lang="en-GB" dirty="0"/>
              <a:t>Non-aqueous titrations</a:t>
            </a:r>
          </a:p>
        </p:txBody>
      </p:sp>
      <p:sp>
        <p:nvSpPr>
          <p:cNvPr id="7" name="Table Placeholder 6">
            <a:extLst>
              <a:ext uri="{FF2B5EF4-FFF2-40B4-BE49-F238E27FC236}">
                <a16:creationId xmlns:a16="http://schemas.microsoft.com/office/drawing/2014/main" id="{6EBD1BD0-42C8-7ABF-B7BA-CD188BA328CC}"/>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err="1"/>
              <a:t>p</a:t>
            </a:r>
            <a:r>
              <a:rPr lang="en-GB" i="1" dirty="0" err="1"/>
              <a:t>K</a:t>
            </a:r>
            <a:r>
              <a:rPr lang="en-GB" baseline="-25000" dirty="0" err="1"/>
              <a:t>a</a:t>
            </a:r>
            <a:r>
              <a:rPr lang="en-GB" dirty="0"/>
              <a:t> is a measurement of the strength of an acid or base.  We will explore this later in the term.</a:t>
            </a:r>
          </a:p>
          <a:p>
            <a:pPr marL="285750" indent="-285750">
              <a:buFont typeface="Arial" panose="020B0604020202020204" pitchFamily="34" charset="0"/>
              <a:buChar char="•"/>
            </a:pPr>
            <a:r>
              <a:rPr lang="en-GB" dirty="0"/>
              <a:t>High </a:t>
            </a:r>
            <a:r>
              <a:rPr lang="en-GB" dirty="0" err="1"/>
              <a:t>p</a:t>
            </a:r>
            <a:r>
              <a:rPr lang="en-GB" i="1" dirty="0" err="1"/>
              <a:t>K</a:t>
            </a:r>
            <a:r>
              <a:rPr lang="en-GB" baseline="-25000" dirty="0" err="1"/>
              <a:t>a</a:t>
            </a:r>
            <a:r>
              <a:rPr lang="en-GB" dirty="0"/>
              <a:t> values indicate a weak acid, and low </a:t>
            </a:r>
            <a:r>
              <a:rPr lang="en-GB" dirty="0" err="1"/>
              <a:t>p</a:t>
            </a:r>
            <a:r>
              <a:rPr lang="en-GB" i="1" dirty="0" err="1"/>
              <a:t>K</a:t>
            </a:r>
            <a:r>
              <a:rPr lang="en-GB" baseline="-25000" dirty="0" err="1"/>
              <a:t>a</a:t>
            </a:r>
            <a:r>
              <a:rPr lang="en-GB" baseline="-25000" dirty="0"/>
              <a:t> </a:t>
            </a:r>
            <a:r>
              <a:rPr lang="en-GB" dirty="0"/>
              <a:t>values indicate a weak base.</a:t>
            </a:r>
          </a:p>
          <a:p>
            <a:pPr marL="285750" indent="-285750">
              <a:buFont typeface="Arial" panose="020B0604020202020204" pitchFamily="34" charset="0"/>
              <a:buChar char="•"/>
            </a:pPr>
            <a:endParaRPr lang="en-GB" dirty="0"/>
          </a:p>
        </p:txBody>
      </p:sp>
      <p:pic>
        <p:nvPicPr>
          <p:cNvPr id="2" name="Picture 3" descr=" ">
            <a:extLst>
              <a:ext uri="{FF2B5EF4-FFF2-40B4-BE49-F238E27FC236}">
                <a16:creationId xmlns:a16="http://schemas.microsoft.com/office/drawing/2014/main" id="{89528FFB-3F32-3203-79DA-7DAD55A1E08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133844" y="2510963"/>
            <a:ext cx="7704856" cy="397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664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BE7-22D2-F3CF-3A0C-8262DE32B4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67C3E6E-B33A-7952-286F-BFE18DC8C79D}"/>
              </a:ext>
            </a:extLst>
          </p:cNvPr>
          <p:cNvSpPr>
            <a:spLocks noGrp="1"/>
          </p:cNvSpPr>
          <p:nvPr>
            <p:ph type="title"/>
          </p:nvPr>
        </p:nvSpPr>
        <p:spPr/>
        <p:txBody>
          <a:bodyPr/>
          <a:lstStyle/>
          <a:p>
            <a:r>
              <a:rPr lang="en-GB" dirty="0"/>
              <a:t>Other types of reaction – redox titrations</a:t>
            </a:r>
          </a:p>
        </p:txBody>
      </p:sp>
      <p:sp>
        <p:nvSpPr>
          <p:cNvPr id="7" name="Table Placeholder 6">
            <a:extLst>
              <a:ext uri="{FF2B5EF4-FFF2-40B4-BE49-F238E27FC236}">
                <a16:creationId xmlns:a16="http://schemas.microsoft.com/office/drawing/2014/main" id="{063FD51E-5C25-D3CC-5C5D-240B47ACCCD1}"/>
              </a:ext>
            </a:extLst>
          </p:cNvPr>
          <p:cNvSpPr>
            <a:spLocks noGrp="1"/>
          </p:cNvSpPr>
          <p:nvPr>
            <p:ph type="tbl" sz="quarter" idx="10"/>
          </p:nvPr>
        </p:nvSpPr>
        <p:spPr>
          <a:xfrm>
            <a:off x="334963" y="1385888"/>
            <a:ext cx="6078029" cy="5103812"/>
          </a:xfrm>
        </p:spPr>
        <p:txBody>
          <a:bodyPr/>
          <a:lstStyle/>
          <a:p>
            <a:pPr marL="285750" indent="-285750">
              <a:buFont typeface="Arial" panose="020B0604020202020204" pitchFamily="34" charset="0"/>
              <a:buChar char="•"/>
            </a:pPr>
            <a:r>
              <a:rPr lang="en-GB" dirty="0"/>
              <a:t>In redox reactions, one component of the reaction is reduced and the other component is oxidised.</a:t>
            </a:r>
          </a:p>
          <a:p>
            <a:pPr marL="285750" indent="-285750">
              <a:buFont typeface="Arial" panose="020B0604020202020204" pitchFamily="34" charset="0"/>
              <a:buChar char="•"/>
            </a:pPr>
            <a:r>
              <a:rPr lang="en-GB" dirty="0"/>
              <a:t>There is a transfer of electrons.</a:t>
            </a:r>
          </a:p>
          <a:p>
            <a:pPr marL="285750" indent="-285750">
              <a:buFont typeface="Arial" panose="020B0604020202020204" pitchFamily="34" charset="0"/>
              <a:buChar char="•"/>
            </a:pPr>
            <a:r>
              <a:rPr lang="en-GB" dirty="0"/>
              <a:t>(Whether a reaction </a:t>
            </a:r>
            <a:r>
              <a:rPr lang="en-GB" i="1" dirty="0"/>
              <a:t>actually </a:t>
            </a:r>
            <a:r>
              <a:rPr lang="en-GB" dirty="0"/>
              <a:t>occurs depends on the redox potentials of the corresponding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 equations can be generated by matching the number of electrons on each side of the relevant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1D413612-6B3B-C00A-EC65-E80DE95A02EB}"/>
              </a:ext>
            </a:extLst>
          </p:cNvPr>
          <p:cNvSpPr txBox="1"/>
          <p:nvPr/>
        </p:nvSpPr>
        <p:spPr>
          <a:xfrm>
            <a:off x="7863840" y="1880306"/>
            <a:ext cx="3852672" cy="2585323"/>
          </a:xfrm>
          <a:prstGeom prst="rect">
            <a:avLst/>
          </a:prstGeom>
          <a:solidFill>
            <a:schemeClr val="accent4"/>
          </a:solidFill>
        </p:spPr>
        <p:txBody>
          <a:bodyPr wrap="square">
            <a:spAutoFit/>
          </a:bodyPr>
          <a:lstStyle/>
          <a:p>
            <a:pPr marL="0" indent="0">
              <a:buNone/>
            </a:pPr>
            <a:r>
              <a:rPr lang="en-GB" dirty="0"/>
              <a:t>Mnemonic to help distinguish reduction and oxidation: </a:t>
            </a:r>
            <a:r>
              <a:rPr lang="en-GB" b="1" dirty="0"/>
              <a:t>OIL RIG</a:t>
            </a:r>
          </a:p>
          <a:p>
            <a:pPr marL="0" indent="0">
              <a:buNone/>
            </a:pPr>
            <a:endParaRPr lang="en-GB" sz="1800" dirty="0"/>
          </a:p>
          <a:p>
            <a:pPr marL="0" indent="0">
              <a:buNone/>
            </a:pPr>
            <a:r>
              <a:rPr lang="en-GB" sz="1800" b="1" dirty="0"/>
              <a:t>O</a:t>
            </a:r>
            <a:r>
              <a:rPr lang="en-GB" sz="1800" dirty="0"/>
              <a:t>	Oxidation</a:t>
            </a:r>
          </a:p>
          <a:p>
            <a:pPr marL="0" indent="0">
              <a:buNone/>
            </a:pPr>
            <a:r>
              <a:rPr lang="en-GB" b="1" dirty="0"/>
              <a:t>I</a:t>
            </a:r>
            <a:r>
              <a:rPr lang="en-GB" dirty="0"/>
              <a:t>	Is</a:t>
            </a:r>
          </a:p>
          <a:p>
            <a:pPr marL="0" indent="0">
              <a:buNone/>
            </a:pPr>
            <a:r>
              <a:rPr lang="en-GB" sz="1800" b="1" dirty="0"/>
              <a:t>L</a:t>
            </a:r>
            <a:r>
              <a:rPr lang="en-GB" sz="1800" dirty="0"/>
              <a:t>	Loss (of electrons)</a:t>
            </a:r>
          </a:p>
          <a:p>
            <a:pPr marL="0" indent="0">
              <a:buNone/>
            </a:pPr>
            <a:r>
              <a:rPr lang="en-GB" b="1" dirty="0"/>
              <a:t>R</a:t>
            </a:r>
            <a:r>
              <a:rPr lang="en-GB" dirty="0"/>
              <a:t>	Reduction</a:t>
            </a:r>
          </a:p>
          <a:p>
            <a:pPr marL="0" indent="0">
              <a:buNone/>
            </a:pPr>
            <a:r>
              <a:rPr lang="en-GB" b="1" dirty="0"/>
              <a:t>I</a:t>
            </a:r>
            <a:r>
              <a:rPr lang="en-GB" dirty="0"/>
              <a:t>	Is</a:t>
            </a:r>
          </a:p>
          <a:p>
            <a:pPr marL="0" indent="0">
              <a:buNone/>
            </a:pPr>
            <a:r>
              <a:rPr lang="en-GB" sz="1800" b="1" dirty="0"/>
              <a:t>G</a:t>
            </a:r>
            <a:r>
              <a:rPr lang="en-GB" sz="1800" dirty="0"/>
              <a:t>	Gain (of electrons)</a:t>
            </a:r>
          </a:p>
        </p:txBody>
      </p:sp>
    </p:spTree>
    <p:extLst>
      <p:ext uri="{BB962C8B-B14F-4D97-AF65-F5344CB8AC3E}">
        <p14:creationId xmlns:p14="http://schemas.microsoft.com/office/powerpoint/2010/main" val="1036900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E55F-6FD1-258B-1AE4-AEA4468F2B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423A001-4CDA-9DCD-359B-B2FCDD380EC2}"/>
              </a:ext>
            </a:extLst>
          </p:cNvPr>
          <p:cNvSpPr>
            <a:spLocks noGrp="1"/>
          </p:cNvSpPr>
          <p:nvPr>
            <p:ph type="title"/>
          </p:nvPr>
        </p:nvSpPr>
        <p:spPr/>
        <p:txBody>
          <a:bodyPr/>
          <a:lstStyle/>
          <a:p>
            <a:r>
              <a:rPr lang="en-GB" dirty="0"/>
              <a:t>Redox – potassium permanganate (KMnO</a:t>
            </a:r>
            <a:r>
              <a:rPr lang="en-GB" baseline="-25000" dirty="0"/>
              <a:t>4</a:t>
            </a:r>
            <a:r>
              <a:rPr lang="en-GB" dirty="0"/>
              <a:t>)</a:t>
            </a:r>
          </a:p>
        </p:txBody>
      </p:sp>
      <p:sp>
        <p:nvSpPr>
          <p:cNvPr id="7" name="Table Placeholder 6">
            <a:extLst>
              <a:ext uri="{FF2B5EF4-FFF2-40B4-BE49-F238E27FC236}">
                <a16:creationId xmlns:a16="http://schemas.microsoft.com/office/drawing/2014/main" id="{26F9897B-BC11-9ABB-19AF-9BA7EC38C6DF}"/>
              </a:ext>
            </a:extLst>
          </p:cNvPr>
          <p:cNvSpPr>
            <a:spLocks noGrp="1"/>
          </p:cNvSpPr>
          <p:nvPr>
            <p:ph type="tbl" sz="quarter" idx="10"/>
          </p:nvPr>
        </p:nvSpPr>
        <p:spPr>
          <a:xfrm>
            <a:off x="334963" y="1385888"/>
            <a:ext cx="8004365" cy="5103812"/>
          </a:xfrm>
        </p:spPr>
        <p:txBody>
          <a:bodyPr/>
          <a:lstStyle/>
          <a:p>
            <a:pPr marL="285750" indent="-285750">
              <a:buFont typeface="Arial" panose="020B0604020202020204" pitchFamily="34" charset="0"/>
              <a:buChar char="•"/>
            </a:pPr>
            <a:r>
              <a:rPr lang="en-GB" dirty="0"/>
              <a:t>Potassium permanganate is a cheap, widely used </a:t>
            </a:r>
            <a:r>
              <a:rPr lang="en-GB" i="1" dirty="0"/>
              <a:t>oxidising agent</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+ 8H</a:t>
            </a:r>
            <a:r>
              <a:rPr lang="en-GB" baseline="30000" dirty="0"/>
              <a:t>+</a:t>
            </a:r>
            <a:r>
              <a:rPr lang="en-GB" dirty="0"/>
              <a:t> + 5e</a:t>
            </a:r>
            <a:r>
              <a:rPr lang="en-GB" baseline="30000" dirty="0"/>
              <a:t>–</a:t>
            </a:r>
            <a:r>
              <a:rPr lang="en-GB" dirty="0"/>
              <a:t> → Mn</a:t>
            </a:r>
            <a:r>
              <a:rPr lang="en-GB" baseline="30000" dirty="0"/>
              <a:t>2+</a:t>
            </a:r>
            <a:r>
              <a:rPr lang="en-GB" dirty="0"/>
              <a:t> + 4H</a:t>
            </a:r>
            <a:r>
              <a:rPr lang="en-GB" baseline="-25000" dirty="0"/>
              <a:t>2</a:t>
            </a:r>
            <a:r>
              <a:rPr lang="en-GB" dirty="0"/>
              <a:t>O</a:t>
            </a:r>
          </a:p>
          <a:p>
            <a:pPr marL="861750" lvl="1" indent="-285750">
              <a:buFont typeface="Arial" panose="020B0604020202020204" pitchFamily="34" charset="0"/>
              <a:buChar char="•"/>
            </a:pPr>
            <a:r>
              <a:rPr lang="en-GB" i="1" dirty="0"/>
              <a:t>Ensure the charge is balanced when writing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 Most permanganate titrations are performed using 0.02 M KMnO</a:t>
            </a:r>
            <a:r>
              <a:rPr lang="en-GB" baseline="-25000" dirty="0"/>
              <a:t>4</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Titrations are self-indicating – first drop of excess permanganate gives a pink colouration to the solution (Mn2+ salts are colourless, where as the MnO4- ions are a deep purple colour in solution).</a:t>
            </a:r>
          </a:p>
          <a:p>
            <a:pPr marL="285750" indent="-285750">
              <a:buFont typeface="Arial" panose="020B0604020202020204" pitchFamily="34" charset="0"/>
              <a:buChar char="•"/>
            </a:pPr>
            <a:endParaRPr lang="en-GB" dirty="0"/>
          </a:p>
        </p:txBody>
      </p:sp>
      <p:pic>
        <p:nvPicPr>
          <p:cNvPr id="2" name="Picture 2" descr="Potassium Permanganate at Rs 300/kg | KMnO4 in Mangalore | ID: 8521996273">
            <a:extLst>
              <a:ext uri="{FF2B5EF4-FFF2-40B4-BE49-F238E27FC236}">
                <a16:creationId xmlns:a16="http://schemas.microsoft.com/office/drawing/2014/main" id="{07148857-CA72-E9D1-11A5-43319C110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5166" y="1385888"/>
            <a:ext cx="2914703" cy="218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1303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0A66-1E3D-8E1F-61D1-7ABB3ED55B7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C5DD9E-70E4-2D94-FB24-83EF71585AFE}"/>
              </a:ext>
            </a:extLst>
          </p:cNvPr>
          <p:cNvSpPr>
            <a:spLocks noGrp="1"/>
          </p:cNvSpPr>
          <p:nvPr>
            <p:ph type="title"/>
          </p:nvPr>
        </p:nvSpPr>
        <p:spPr/>
        <p:txBody>
          <a:bodyPr/>
          <a:lstStyle/>
          <a:p>
            <a:r>
              <a:rPr lang="en-GB" dirty="0"/>
              <a:t>Example – potassium permanganate (KMnO</a:t>
            </a:r>
            <a:r>
              <a:rPr lang="en-GB" baseline="-25000" dirty="0"/>
              <a:t>4</a:t>
            </a:r>
            <a:r>
              <a:rPr lang="en-GB" dirty="0"/>
              <a:t>)</a:t>
            </a:r>
          </a:p>
        </p:txBody>
      </p:sp>
      <p:sp>
        <p:nvSpPr>
          <p:cNvPr id="7" name="Table Placeholder 6">
            <a:extLst>
              <a:ext uri="{FF2B5EF4-FFF2-40B4-BE49-F238E27FC236}">
                <a16:creationId xmlns:a16="http://schemas.microsoft.com/office/drawing/2014/main" id="{188822CA-AFEA-74FA-ABD8-9BD3C90871C9}"/>
              </a:ext>
            </a:extLst>
          </p:cNvPr>
          <p:cNvSpPr>
            <a:spLocks noGrp="1"/>
          </p:cNvSpPr>
          <p:nvPr>
            <p:ph type="tbl" sz="quarter" idx="10"/>
          </p:nvPr>
        </p:nvSpPr>
        <p:spPr>
          <a:xfrm>
            <a:off x="334963" y="1385888"/>
            <a:ext cx="8004365" cy="5103812"/>
          </a:xfrm>
        </p:spPr>
        <p:txBody>
          <a:bodyPr/>
          <a:lstStyle/>
          <a:p>
            <a:pPr marL="285750" indent="-285750">
              <a:buFont typeface="Arial" panose="020B0604020202020204" pitchFamily="34" charset="0"/>
              <a:buChar char="•"/>
            </a:pPr>
            <a:r>
              <a:rPr lang="en-GB" dirty="0"/>
              <a:t>Determination of iron(II) by oxidation to iron(III) using KMnO</a:t>
            </a:r>
            <a:r>
              <a:rPr lang="en-GB" baseline="-25000" dirty="0"/>
              <a:t>4</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reactions:</a:t>
            </a:r>
          </a:p>
          <a:p>
            <a:pPr marL="861750" lvl="1" indent="-285750">
              <a:buFont typeface="Arial" panose="020B0604020202020204" pitchFamily="34" charset="0"/>
              <a:buChar char="•"/>
            </a:pPr>
            <a:r>
              <a:rPr lang="en-GB" dirty="0"/>
              <a:t>Fe</a:t>
            </a:r>
            <a:r>
              <a:rPr lang="en-GB" baseline="30000" dirty="0"/>
              <a:t>2+</a:t>
            </a:r>
            <a:r>
              <a:rPr lang="en-GB" dirty="0"/>
              <a:t> → Fe</a:t>
            </a:r>
            <a:r>
              <a:rPr lang="en-GB" baseline="30000" dirty="0"/>
              <a:t>3+</a:t>
            </a:r>
            <a:r>
              <a:rPr lang="en-GB" dirty="0"/>
              <a:t> + e</a:t>
            </a:r>
            <a:r>
              <a:rPr lang="en-GB" baseline="30000" dirty="0"/>
              <a:t>–</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+ 8H</a:t>
            </a:r>
            <a:r>
              <a:rPr lang="en-GB" baseline="30000" dirty="0"/>
              <a:t>+</a:t>
            </a:r>
            <a:r>
              <a:rPr lang="en-GB" dirty="0"/>
              <a:t> + 5e</a:t>
            </a:r>
            <a:r>
              <a:rPr lang="en-GB" baseline="30000" dirty="0"/>
              <a:t>–</a:t>
            </a:r>
            <a:r>
              <a:rPr lang="en-GB" dirty="0"/>
              <a:t> → Mn</a:t>
            </a:r>
            <a:r>
              <a:rPr lang="en-GB" baseline="30000" dirty="0"/>
              <a:t>2+</a:t>
            </a:r>
            <a:r>
              <a:rPr lang="en-GB" dirty="0"/>
              <a:t> + 4H</a:t>
            </a:r>
            <a:r>
              <a:rPr lang="en-GB" baseline="-25000" dirty="0"/>
              <a:t>2</a:t>
            </a:r>
            <a:r>
              <a:rPr lang="en-GB" dirty="0"/>
              <a:t>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+ 5Fe</a:t>
            </a:r>
            <a:r>
              <a:rPr lang="en-GB" baseline="30000" dirty="0"/>
              <a:t>2+</a:t>
            </a:r>
            <a:r>
              <a:rPr lang="en-GB" dirty="0"/>
              <a:t> + 8H</a:t>
            </a:r>
            <a:r>
              <a:rPr lang="en-GB" baseline="30000" dirty="0"/>
              <a:t>+</a:t>
            </a:r>
            <a:r>
              <a:rPr lang="en-GB" dirty="0"/>
              <a:t> → Mn</a:t>
            </a:r>
            <a:r>
              <a:rPr lang="en-GB" baseline="30000" dirty="0"/>
              <a:t>2+</a:t>
            </a:r>
            <a:r>
              <a:rPr lang="en-GB" dirty="0"/>
              <a:t> + 5Fe</a:t>
            </a:r>
            <a:r>
              <a:rPr lang="en-GB" baseline="30000" dirty="0"/>
              <a:t>3+</a:t>
            </a:r>
            <a:r>
              <a:rPr lang="en-GB" dirty="0"/>
              <a:t> + 4H</a:t>
            </a:r>
            <a:r>
              <a:rPr lang="en-GB" baseline="-25000" dirty="0"/>
              <a:t>2</a:t>
            </a:r>
            <a:r>
              <a:rPr lang="en-GB" dirty="0"/>
              <a:t>O</a:t>
            </a:r>
          </a:p>
          <a:p>
            <a:pPr marL="861750" lvl="1" indent="-285750">
              <a:buFont typeface="Arial" panose="020B0604020202020204" pitchFamily="34" charset="0"/>
              <a:buChar char="•"/>
            </a:pPr>
            <a:r>
              <a:rPr lang="en-GB" i="1" dirty="0"/>
              <a:t>Match the number of electrons for both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504715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DF173-99BC-80A4-BA21-669E822DD4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55786F-B1AC-BD8A-BED0-FE081B039372}"/>
              </a:ext>
            </a:extLst>
          </p:cNvPr>
          <p:cNvSpPr>
            <a:spLocks noGrp="1"/>
          </p:cNvSpPr>
          <p:nvPr>
            <p:ph type="title"/>
          </p:nvPr>
        </p:nvSpPr>
        <p:spPr/>
        <p:txBody>
          <a:bodyPr/>
          <a:lstStyle/>
          <a:p>
            <a:r>
              <a:rPr lang="en-GB" dirty="0"/>
              <a:t>Example – sodium thiosulphate (Na</a:t>
            </a:r>
            <a:r>
              <a:rPr lang="en-GB" baseline="-25000" dirty="0"/>
              <a:t>2</a:t>
            </a:r>
            <a:r>
              <a:rPr lang="en-GB" dirty="0"/>
              <a:t>S</a:t>
            </a:r>
            <a:r>
              <a:rPr lang="en-GB" baseline="-25000" dirty="0"/>
              <a:t>2</a:t>
            </a:r>
            <a:r>
              <a:rPr lang="en-GB" dirty="0"/>
              <a:t>O</a:t>
            </a:r>
            <a:r>
              <a:rPr lang="en-GB" baseline="-25000" dirty="0"/>
              <a:t>3</a:t>
            </a:r>
            <a:r>
              <a:rPr lang="en-GB" dirty="0"/>
              <a:t>)</a:t>
            </a:r>
          </a:p>
        </p:txBody>
      </p:sp>
      <p:sp>
        <p:nvSpPr>
          <p:cNvPr id="7" name="Table Placeholder 6">
            <a:extLst>
              <a:ext uri="{FF2B5EF4-FFF2-40B4-BE49-F238E27FC236}">
                <a16:creationId xmlns:a16="http://schemas.microsoft.com/office/drawing/2014/main" id="{14B74BFA-8288-E867-B30A-CAD5926C9D23}"/>
              </a:ext>
            </a:extLst>
          </p:cNvPr>
          <p:cNvSpPr>
            <a:spLocks noGrp="1"/>
          </p:cNvSpPr>
          <p:nvPr>
            <p:ph type="tbl" sz="quarter" idx="10"/>
          </p:nvPr>
        </p:nvSpPr>
        <p:spPr>
          <a:xfrm>
            <a:off x="334963" y="1385888"/>
            <a:ext cx="11223053" cy="5103812"/>
          </a:xfrm>
        </p:spPr>
        <p:txBody>
          <a:bodyPr/>
          <a:lstStyle/>
          <a:p>
            <a:pPr marL="285750" indent="-285750">
              <a:buFont typeface="Arial" panose="020B0604020202020204" pitchFamily="34" charset="0"/>
              <a:buChar char="•"/>
            </a:pPr>
            <a:r>
              <a:rPr lang="en-GB" dirty="0"/>
              <a:t>Sodium thiosulphate (Na</a:t>
            </a:r>
            <a:r>
              <a:rPr lang="en-GB" baseline="-25000" dirty="0"/>
              <a:t>2</a:t>
            </a:r>
            <a:r>
              <a:rPr lang="en-GB" dirty="0"/>
              <a:t>S</a:t>
            </a:r>
            <a:r>
              <a:rPr lang="en-GB" baseline="-25000" dirty="0"/>
              <a:t>2</a:t>
            </a:r>
            <a:r>
              <a:rPr lang="en-GB" dirty="0"/>
              <a:t>O</a:t>
            </a:r>
            <a:r>
              <a:rPr lang="en-GB" baseline="-25000" dirty="0"/>
              <a:t>3</a:t>
            </a:r>
            <a:r>
              <a:rPr lang="en-GB" dirty="0"/>
              <a:t>.5H</a:t>
            </a:r>
            <a:r>
              <a:rPr lang="en-GB" baseline="-25000" dirty="0"/>
              <a:t>2</a:t>
            </a:r>
            <a:r>
              <a:rPr lang="en-GB" dirty="0"/>
              <a:t>O) is a </a:t>
            </a:r>
            <a:r>
              <a:rPr lang="en-GB" i="1" dirty="0"/>
              <a:t>reducing agent</a:t>
            </a:r>
            <a:r>
              <a:rPr lang="en-GB" dirty="0"/>
              <a:t> used for the titration of iodine.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reactions:</a:t>
            </a:r>
          </a:p>
          <a:p>
            <a:pPr marL="861750" lvl="1" indent="-285750">
              <a:buFont typeface="Arial" panose="020B0604020202020204" pitchFamily="34" charset="0"/>
              <a:buChar char="•"/>
            </a:pPr>
            <a:r>
              <a:rPr lang="en-GB" dirty="0"/>
              <a:t>2S</a:t>
            </a:r>
            <a:r>
              <a:rPr lang="en-GB" baseline="-25000" dirty="0"/>
              <a:t>2</a:t>
            </a:r>
            <a:r>
              <a:rPr lang="en-GB" dirty="0"/>
              <a:t>O</a:t>
            </a:r>
            <a:r>
              <a:rPr lang="en-GB" baseline="-25000" dirty="0"/>
              <a:t>3</a:t>
            </a:r>
            <a:r>
              <a:rPr lang="en-GB" baseline="30000" dirty="0"/>
              <a:t>2–</a:t>
            </a:r>
            <a:r>
              <a:rPr lang="en-GB" dirty="0"/>
              <a:t> → S</a:t>
            </a:r>
            <a:r>
              <a:rPr lang="en-GB" baseline="-25000" dirty="0"/>
              <a:t>4</a:t>
            </a:r>
            <a:r>
              <a:rPr lang="en-GB" dirty="0"/>
              <a:t>O</a:t>
            </a:r>
            <a:r>
              <a:rPr lang="en-GB" baseline="-25000" dirty="0"/>
              <a:t>6</a:t>
            </a:r>
            <a:r>
              <a:rPr lang="en-GB" baseline="30000" dirty="0"/>
              <a:t>2–</a:t>
            </a:r>
            <a:r>
              <a:rPr lang="en-GB" dirty="0"/>
              <a:t> + 2e</a:t>
            </a:r>
            <a:r>
              <a:rPr lang="en-GB" baseline="30000" dirty="0"/>
              <a:t>–</a:t>
            </a:r>
          </a:p>
          <a:p>
            <a:pPr marL="861750" lvl="1" indent="-285750">
              <a:buFont typeface="Arial" panose="020B0604020202020204" pitchFamily="34" charset="0"/>
              <a:buChar char="•"/>
            </a:pPr>
            <a:r>
              <a:rPr lang="en-GB" dirty="0"/>
              <a:t>I</a:t>
            </a:r>
            <a:r>
              <a:rPr lang="en-GB" baseline="-25000" dirty="0"/>
              <a:t>2</a:t>
            </a:r>
            <a:r>
              <a:rPr lang="en-GB" dirty="0"/>
              <a:t> + 2e</a:t>
            </a:r>
            <a:r>
              <a:rPr lang="en-GB" baseline="30000" dirty="0"/>
              <a:t>–</a:t>
            </a:r>
            <a:r>
              <a:rPr lang="en-GB" dirty="0"/>
              <a:t> → 2I</a:t>
            </a:r>
            <a:r>
              <a:rPr lang="en-GB" baseline="30000"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a:t>
            </a:r>
          </a:p>
          <a:p>
            <a:pPr marL="861750" lvl="1" indent="-285750">
              <a:buFont typeface="Arial" panose="020B0604020202020204" pitchFamily="34" charset="0"/>
              <a:buChar char="•"/>
            </a:pPr>
            <a:r>
              <a:rPr lang="en-GB" dirty="0"/>
              <a:t>2S</a:t>
            </a:r>
            <a:r>
              <a:rPr lang="en-GB" baseline="-25000" dirty="0"/>
              <a:t>2</a:t>
            </a:r>
            <a:r>
              <a:rPr lang="en-GB" dirty="0"/>
              <a:t>O</a:t>
            </a:r>
            <a:r>
              <a:rPr lang="en-GB" baseline="-25000" dirty="0"/>
              <a:t>3</a:t>
            </a:r>
            <a:r>
              <a:rPr lang="en-GB" baseline="30000" dirty="0"/>
              <a:t>2–</a:t>
            </a:r>
            <a:r>
              <a:rPr lang="en-GB" dirty="0"/>
              <a:t> + I</a:t>
            </a:r>
            <a:r>
              <a:rPr lang="en-GB" baseline="-25000" dirty="0"/>
              <a:t>2 </a:t>
            </a:r>
            <a:r>
              <a:rPr lang="en-GB" dirty="0"/>
              <a:t>→ S</a:t>
            </a:r>
            <a:r>
              <a:rPr lang="en-GB" baseline="-25000" dirty="0"/>
              <a:t>4</a:t>
            </a:r>
            <a:r>
              <a:rPr lang="en-GB" dirty="0"/>
              <a:t>O</a:t>
            </a:r>
            <a:r>
              <a:rPr lang="en-GB" baseline="-25000" dirty="0"/>
              <a:t>6</a:t>
            </a:r>
            <a:r>
              <a:rPr lang="en-GB" baseline="30000" dirty="0"/>
              <a:t>2–</a:t>
            </a:r>
            <a:r>
              <a:rPr lang="en-GB" dirty="0"/>
              <a:t> + 2I</a:t>
            </a:r>
            <a:r>
              <a:rPr lang="en-GB" baseline="30000"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colour of iodine clearly indicates its first appearance or disappearance from a solution.</a:t>
            </a:r>
          </a:p>
          <a:p>
            <a:pPr marL="285750" indent="-285750">
              <a:buFont typeface="Arial" panose="020B0604020202020204" pitchFamily="34" charset="0"/>
              <a:buChar char="•"/>
            </a:pPr>
            <a:r>
              <a:rPr lang="en-GB" dirty="0"/>
              <a:t>For added sensitivity starch is usually added as an indicator to give the blue starch-iodine colour.</a:t>
            </a:r>
          </a:p>
        </p:txBody>
      </p:sp>
      <p:pic>
        <p:nvPicPr>
          <p:cNvPr id="2050" name="Picture 2" descr="Iodine Test For Starch Practical Experiment">
            <a:extLst>
              <a:ext uri="{FF2B5EF4-FFF2-40B4-BE49-F238E27FC236}">
                <a16:creationId xmlns:a16="http://schemas.microsoft.com/office/drawing/2014/main" id="{C5357BC2-5AB0-9BBC-98AA-A451E363E4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09" t="26744" r="14883"/>
          <a:stretch>
            <a:fillRect/>
          </a:stretch>
        </p:blipFill>
        <p:spPr bwMode="auto">
          <a:xfrm>
            <a:off x="7790688" y="2348865"/>
            <a:ext cx="3560064" cy="2160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839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7B47-8E7F-0FB5-F92A-17AEBB09BC3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448CB4F-956D-C30F-82AD-03ACD3D59A7D}"/>
              </a:ext>
            </a:extLst>
          </p:cNvPr>
          <p:cNvSpPr>
            <a:spLocks noGrp="1"/>
          </p:cNvSpPr>
          <p:nvPr>
            <p:ph type="title"/>
          </p:nvPr>
        </p:nvSpPr>
        <p:spPr/>
        <p:txBody>
          <a:bodyPr/>
          <a:lstStyle/>
          <a:p>
            <a:r>
              <a:rPr lang="en-GB" dirty="0"/>
              <a:t>Complexometric titrations</a:t>
            </a:r>
          </a:p>
        </p:txBody>
      </p:sp>
      <p:sp>
        <p:nvSpPr>
          <p:cNvPr id="7" name="Table Placeholder 6">
            <a:extLst>
              <a:ext uri="{FF2B5EF4-FFF2-40B4-BE49-F238E27FC236}">
                <a16:creationId xmlns:a16="http://schemas.microsoft.com/office/drawing/2014/main" id="{B170B764-BA9F-DE1F-F778-EEE7FD509501}"/>
              </a:ext>
            </a:extLst>
          </p:cNvPr>
          <p:cNvSpPr>
            <a:spLocks noGrp="1"/>
          </p:cNvSpPr>
          <p:nvPr>
            <p:ph type="tbl" sz="quarter" idx="10"/>
          </p:nvPr>
        </p:nvSpPr>
        <p:spPr>
          <a:xfrm>
            <a:off x="334963" y="1385888"/>
            <a:ext cx="7480109" cy="5103812"/>
          </a:xfrm>
        </p:spPr>
        <p:txBody>
          <a:bodyPr/>
          <a:lstStyle/>
          <a:p>
            <a:pPr marL="285750" indent="-285750">
              <a:buFont typeface="Arial" panose="020B0604020202020204" pitchFamily="34" charset="0"/>
              <a:buChar char="•"/>
            </a:pPr>
            <a:r>
              <a:rPr lang="en-GB" dirty="0"/>
              <a:t>These reactions usually involve a complex forming reaction between a metal ion and a chelating agent.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most important titrant in this class is ethylenediamine-</a:t>
            </a:r>
            <a:r>
              <a:rPr lang="en-GB" dirty="0" err="1"/>
              <a:t>tetraacetic</a:t>
            </a:r>
            <a:r>
              <a:rPr lang="en-GB" dirty="0"/>
              <a:t> acid (EDTA) which is widely used for the determination of metal ions.</a:t>
            </a:r>
          </a:p>
          <a:p>
            <a:pPr marL="861750" lvl="1" indent="-285750">
              <a:buFont typeface="Arial" panose="020B0604020202020204" pitchFamily="34" charset="0"/>
              <a:buChar char="•"/>
            </a:pPr>
            <a:r>
              <a:rPr lang="en-GB" dirty="0"/>
              <a:t>The free acid is not very soluble in water and solutions of the disodium salt are used in </a:t>
            </a:r>
            <a:r>
              <a:rPr lang="en-GB" dirty="0" err="1"/>
              <a:t>titrimetry</a:t>
            </a:r>
            <a:r>
              <a:rPr lang="en-GB" dirty="0"/>
              <a:t>. The BP refers to the disodium salt as </a:t>
            </a:r>
            <a:r>
              <a:rPr lang="en-GB" b="1" dirty="0"/>
              <a:t>disodium edetate</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EDTA is a polydentate ligand and forms chelate complexes.</a:t>
            </a:r>
          </a:p>
          <a:p>
            <a:pPr marL="285750" indent="-285750">
              <a:buFont typeface="Arial" panose="020B0604020202020204" pitchFamily="34" charset="0"/>
              <a:buChar char="•"/>
            </a:pPr>
            <a:r>
              <a:rPr lang="en-GB" dirty="0"/>
              <a:t>EDTA always reacts to form </a:t>
            </a:r>
            <a:r>
              <a:rPr lang="en-GB" b="1" dirty="0"/>
              <a:t>1:1 complexes</a:t>
            </a:r>
            <a:r>
              <a:rPr lang="en-GB" dirty="0"/>
              <a:t> with metal ions irrespective of the valency of the metal ion.</a:t>
            </a:r>
          </a:p>
        </p:txBody>
      </p:sp>
      <p:pic>
        <p:nvPicPr>
          <p:cNvPr id="3" name="Picture 1" descr="edetate disodium - Wikidata">
            <a:extLst>
              <a:ext uri="{FF2B5EF4-FFF2-40B4-BE49-F238E27FC236}">
                <a16:creationId xmlns:a16="http://schemas.microsoft.com/office/drawing/2014/main" id="{5EF96908-6115-8207-3B14-DEFC6C8602DA}"/>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226919" y="4367708"/>
            <a:ext cx="3114243" cy="18330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Hexadentate ligand - Wikipedia">
            <a:extLst>
              <a:ext uri="{FF2B5EF4-FFF2-40B4-BE49-F238E27FC236}">
                <a16:creationId xmlns:a16="http://schemas.microsoft.com/office/drawing/2014/main" id="{5B25E7EB-6FA6-85E3-EB7C-87D704029BF3}"/>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8574728" y="887911"/>
            <a:ext cx="1979712" cy="2780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62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0573F-2E92-7D91-ACE3-A02AFE0B718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079148-46D7-B858-6BCE-08EB0400BBD0}"/>
              </a:ext>
            </a:extLst>
          </p:cNvPr>
          <p:cNvSpPr>
            <a:spLocks noGrp="1"/>
          </p:cNvSpPr>
          <p:nvPr>
            <p:ph type="title"/>
          </p:nvPr>
        </p:nvSpPr>
        <p:spPr/>
        <p:txBody>
          <a:bodyPr/>
          <a:lstStyle/>
          <a:p>
            <a:r>
              <a:rPr lang="en-GB" dirty="0"/>
              <a:t>Precipitation titrations</a:t>
            </a:r>
          </a:p>
        </p:txBody>
      </p:sp>
      <p:sp>
        <p:nvSpPr>
          <p:cNvPr id="7" name="Table Placeholder 6">
            <a:extLst>
              <a:ext uri="{FF2B5EF4-FFF2-40B4-BE49-F238E27FC236}">
                <a16:creationId xmlns:a16="http://schemas.microsoft.com/office/drawing/2014/main" id="{65C282F1-AA73-3667-1317-9E8F14210943}"/>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Not used very often in analysis.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most important titrations are those between silver nitrate and halide ions.</a:t>
            </a:r>
          </a:p>
          <a:p>
            <a:pPr marL="861750" lvl="1" indent="-285750">
              <a:buFont typeface="Arial" panose="020B0604020202020204" pitchFamily="34" charset="0"/>
              <a:buChar char="•"/>
            </a:pPr>
            <a:r>
              <a:rPr lang="en-GB" dirty="0"/>
              <a:t>e.g. Ag</a:t>
            </a:r>
            <a:r>
              <a:rPr lang="en-GB" baseline="30000" dirty="0"/>
              <a:t>+</a:t>
            </a:r>
            <a:r>
              <a:rPr lang="en-GB" dirty="0"/>
              <a:t> + Cl</a:t>
            </a:r>
            <a:r>
              <a:rPr lang="en-GB" baseline="30000" dirty="0"/>
              <a:t>–</a:t>
            </a:r>
            <a:r>
              <a:rPr lang="en-GB" dirty="0"/>
              <a:t> → AgCl(s)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Volumetric methods in which silver nitrate is used are often called </a:t>
            </a:r>
            <a:r>
              <a:rPr lang="en-GB" i="1" dirty="0" err="1"/>
              <a:t>argentimetric</a:t>
            </a:r>
            <a:r>
              <a:rPr lang="en-GB" dirty="0"/>
              <a:t> methods.</a:t>
            </a:r>
          </a:p>
          <a:p>
            <a:pPr marL="861750" lvl="1" indent="-285750">
              <a:buFont typeface="Arial" panose="020B0604020202020204" pitchFamily="34" charset="0"/>
              <a:buChar char="•"/>
            </a:pPr>
            <a:r>
              <a:rPr lang="en-GB" dirty="0"/>
              <a:t>These methods are commonly used for the determination of chloride and bromide.</a:t>
            </a:r>
          </a:p>
          <a:p>
            <a:pPr marL="861750" lvl="1" indent="-285750">
              <a:buFont typeface="Arial" panose="020B0604020202020204" pitchFamily="34" charset="0"/>
              <a:buChar char="•"/>
            </a:pPr>
            <a:r>
              <a:rPr lang="en-GB" dirty="0"/>
              <a:t>The equivalence point occurs when no further precipitation is observed.</a:t>
            </a:r>
          </a:p>
          <a:p>
            <a:pPr marL="861750" lvl="1" indent="-285750">
              <a:buFont typeface="Arial" panose="020B0604020202020204" pitchFamily="34" charset="0"/>
              <a:buChar char="•"/>
            </a:pPr>
            <a:r>
              <a:rPr lang="en-GB" dirty="0"/>
              <a:t>Silver may be determined by using the procedure in reverse.</a:t>
            </a:r>
          </a:p>
        </p:txBody>
      </p:sp>
    </p:spTree>
    <p:extLst>
      <p:ext uri="{BB962C8B-B14F-4D97-AF65-F5344CB8AC3E}">
        <p14:creationId xmlns:p14="http://schemas.microsoft.com/office/powerpoint/2010/main" val="1764948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9E70-C764-E63B-E21A-600F4EA7F5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A0DCD7-AE66-8238-D05D-4116E5EB888F}"/>
              </a:ext>
            </a:extLst>
          </p:cNvPr>
          <p:cNvSpPr>
            <a:spLocks noGrp="1"/>
          </p:cNvSpPr>
          <p:nvPr>
            <p:ph type="title"/>
          </p:nvPr>
        </p:nvSpPr>
        <p:spPr/>
        <p:txBody>
          <a:bodyPr/>
          <a:lstStyle/>
          <a:p>
            <a:r>
              <a:rPr lang="en-GB" dirty="0"/>
              <a:t>Volumetric analysis – conversion factors</a:t>
            </a:r>
          </a:p>
        </p:txBody>
      </p:sp>
      <p:sp>
        <p:nvSpPr>
          <p:cNvPr id="7" name="Table Placeholder 6">
            <a:extLst>
              <a:ext uri="{FF2B5EF4-FFF2-40B4-BE49-F238E27FC236}">
                <a16:creationId xmlns:a16="http://schemas.microsoft.com/office/drawing/2014/main" id="{643C88E3-6637-75CF-56F4-BECDCFF75BD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 volumetric </a:t>
            </a:r>
            <a:r>
              <a:rPr lang="en-GB" i="1" dirty="0"/>
              <a:t>conversion factor </a:t>
            </a:r>
            <a:r>
              <a:rPr lang="en-GB" dirty="0"/>
              <a:t>simply gives the mass of the substance being determined equivalent to each mL of titrant.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Official analytical procedures such as those in the British Pharmacopoeia rarely require you to know the details of the chemistry involved. Instead, the methods provide conversion factors for performing the calculations.</a:t>
            </a:r>
          </a:p>
          <a:p>
            <a:pPr marL="285750" indent="-285750">
              <a:buFont typeface="Arial" panose="020B0604020202020204" pitchFamily="34" charset="0"/>
              <a:buChar char="•"/>
            </a:pPr>
            <a:endParaRPr lang="en-GB" dirty="0"/>
          </a:p>
          <a:p>
            <a:r>
              <a:rPr lang="en-GB" dirty="0"/>
              <a:t>Example:</a:t>
            </a:r>
          </a:p>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591682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BDF1F-2D06-AE3C-EBB6-391C054DC6F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47B290-E78C-D10A-4734-E1BBFB04D24A}"/>
              </a:ext>
            </a:extLst>
          </p:cNvPr>
          <p:cNvSpPr>
            <a:spLocks noGrp="1"/>
          </p:cNvSpPr>
          <p:nvPr>
            <p:ph type="title"/>
          </p:nvPr>
        </p:nvSpPr>
        <p:spPr/>
        <p:txBody>
          <a:bodyPr/>
          <a:lstStyle/>
          <a:p>
            <a:r>
              <a:rPr lang="en-GB" dirty="0"/>
              <a:t>Example: salicylic acid</a:t>
            </a:r>
          </a:p>
        </p:txBody>
      </p:sp>
      <p:sp>
        <p:nvSpPr>
          <p:cNvPr id="7" name="Table Placeholder 6">
            <a:extLst>
              <a:ext uri="{FF2B5EF4-FFF2-40B4-BE49-F238E27FC236}">
                <a16:creationId xmlns:a16="http://schemas.microsoft.com/office/drawing/2014/main" id="{6FC1DC33-8F99-170B-3FF5-08CC88768E7B}"/>
              </a:ext>
            </a:extLst>
          </p:cNvPr>
          <p:cNvSpPr>
            <a:spLocks noGrp="1"/>
          </p:cNvSpPr>
          <p:nvPr>
            <p:ph type="tbl" sz="quarter" idx="10"/>
          </p:nvPr>
        </p:nvSpPr>
        <p:spPr/>
        <p:txBody>
          <a:bodyPr/>
          <a:lstStyle/>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r>
              <a:rPr lang="en-GB" dirty="0"/>
              <a:t>A 0.132 g sample of material was analysed according to the procedure above. A 0.107 M NaOH solution was used and 8.2 mL was required to reach the end-point. Calculate the percentage salicylic acid in the sample.</a:t>
            </a:r>
          </a:p>
          <a:p>
            <a:endParaRPr lang="en-GB" dirty="0"/>
          </a:p>
          <a:p>
            <a:r>
              <a:rPr lang="en-GB" b="1" dirty="0"/>
              <a:t>1. Read and identify:</a:t>
            </a:r>
          </a:p>
          <a:p>
            <a:pPr marL="861750" lvl="1" indent="-285750">
              <a:buFont typeface="Arial" panose="020B0604020202020204" pitchFamily="34" charset="0"/>
              <a:buChar char="•"/>
            </a:pPr>
            <a:r>
              <a:rPr lang="en-GB" dirty="0"/>
              <a:t>What’s being asked? </a:t>
            </a:r>
            <a:r>
              <a:rPr lang="en-GB" i="1" dirty="0"/>
              <a:t>Percentage salicylic acid (assume %m/m)</a:t>
            </a:r>
          </a:p>
          <a:p>
            <a:pPr marL="861750" lvl="1" indent="-285750">
              <a:buFont typeface="Arial" panose="020B0604020202020204" pitchFamily="34" charset="0"/>
              <a:buChar char="•"/>
            </a:pPr>
            <a:r>
              <a:rPr lang="en-GB" dirty="0"/>
              <a:t>What data is given? </a:t>
            </a:r>
            <a:r>
              <a:rPr lang="en-GB" i="1" dirty="0"/>
              <a:t>Conversion factor, concentrations quoted and used, mass of sample, volume of titrant</a:t>
            </a:r>
          </a:p>
          <a:p>
            <a:r>
              <a:rPr lang="en-GB" b="1" dirty="0"/>
              <a:t>2. Estimate</a:t>
            </a:r>
            <a:endParaRPr lang="en-GB" dirty="0"/>
          </a:p>
          <a:p>
            <a:pPr marL="861750" lvl="1" indent="-285750">
              <a:buFont typeface="Arial" panose="020B0604020202020204" pitchFamily="34" charset="0"/>
              <a:buChar char="•"/>
            </a:pPr>
            <a:r>
              <a:rPr lang="en-GB" dirty="0"/>
              <a:t>Our NaOH is a little stronger, but it’s roughly 10 mL at 0.1 M</a:t>
            </a:r>
          </a:p>
          <a:p>
            <a:pPr marL="861750" lvl="1" indent="-285750">
              <a:buFont typeface="Arial" panose="020B0604020202020204" pitchFamily="34" charset="0"/>
              <a:buChar char="•"/>
            </a:pPr>
            <a:r>
              <a:rPr lang="en-GB" dirty="0"/>
              <a:t>This would correspond to 138 mg, so our answer should be fairly close to 100% m/m</a:t>
            </a:r>
          </a:p>
        </p:txBody>
      </p:sp>
    </p:spTree>
    <p:extLst>
      <p:ext uri="{BB962C8B-B14F-4D97-AF65-F5344CB8AC3E}">
        <p14:creationId xmlns:p14="http://schemas.microsoft.com/office/powerpoint/2010/main" val="2875423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B4C6-7FAB-B49F-41FB-2C54E3DC36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B5C99FF-E0CF-D3A6-24F6-19DB84DF0D23}"/>
              </a:ext>
            </a:extLst>
          </p:cNvPr>
          <p:cNvSpPr>
            <a:spLocks noGrp="1"/>
          </p:cNvSpPr>
          <p:nvPr>
            <p:ph type="title"/>
          </p:nvPr>
        </p:nvSpPr>
        <p:spPr/>
        <p:txBody>
          <a:bodyPr/>
          <a:lstStyle/>
          <a:p>
            <a:r>
              <a:rPr lang="en-GB" dirty="0"/>
              <a:t>Example: salicylic acid</a:t>
            </a:r>
          </a:p>
        </p:txBody>
      </p:sp>
      <p:sp>
        <p:nvSpPr>
          <p:cNvPr id="7" name="Table Placeholder 6">
            <a:extLst>
              <a:ext uri="{FF2B5EF4-FFF2-40B4-BE49-F238E27FC236}">
                <a16:creationId xmlns:a16="http://schemas.microsoft.com/office/drawing/2014/main" id="{4472E9FC-EDC3-6065-EF6C-31A618F2FC06}"/>
              </a:ext>
            </a:extLst>
          </p:cNvPr>
          <p:cNvSpPr>
            <a:spLocks noGrp="1"/>
          </p:cNvSpPr>
          <p:nvPr>
            <p:ph type="tbl" sz="quarter" idx="10"/>
          </p:nvPr>
        </p:nvSpPr>
        <p:spPr/>
        <p:txBody>
          <a:bodyPr/>
          <a:lstStyle/>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r>
              <a:rPr lang="en-GB" dirty="0"/>
              <a:t>A 0.132 g sample of material was analysed according to the procedure above. A 0.107 M NaOH solution was used and 8.2 mL was required to reach the end-point. Calculate the percentage salicylic acid in the sample.</a:t>
            </a:r>
          </a:p>
          <a:p>
            <a:endParaRPr lang="en-GB" dirty="0"/>
          </a:p>
          <a:p>
            <a:r>
              <a:rPr lang="en-GB" b="1" dirty="0"/>
              <a:t>3. Plan</a:t>
            </a:r>
          </a:p>
          <a:p>
            <a:r>
              <a:rPr lang="en-GB" b="1" dirty="0"/>
              <a:t>4. Execute</a:t>
            </a:r>
          </a:p>
          <a:p>
            <a:r>
              <a:rPr lang="en-GB" b="1" dirty="0"/>
              <a:t>5. Check</a:t>
            </a:r>
            <a:endParaRPr lang="en-GB" dirty="0"/>
          </a:p>
        </p:txBody>
      </p:sp>
      <p:pic>
        <p:nvPicPr>
          <p:cNvPr id="2" name="Picture 1">
            <a:extLst>
              <a:ext uri="{FF2B5EF4-FFF2-40B4-BE49-F238E27FC236}">
                <a16:creationId xmlns:a16="http://schemas.microsoft.com/office/drawing/2014/main" id="{50E526EE-C259-258F-746A-09F2E1993240}"/>
              </a:ext>
            </a:extLst>
          </p:cNvPr>
          <p:cNvPicPr>
            <a:picLocks noChangeAspect="1"/>
          </p:cNvPicPr>
          <p:nvPr/>
        </p:nvPicPr>
        <p:blipFill>
          <a:blip r:embed="rId3"/>
          <a:stretch>
            <a:fillRect/>
          </a:stretch>
        </p:blipFill>
        <p:spPr>
          <a:xfrm>
            <a:off x="1974468" y="3364987"/>
            <a:ext cx="9706104" cy="2807705"/>
          </a:xfrm>
          <a:prstGeom prst="rect">
            <a:avLst/>
          </a:prstGeom>
        </p:spPr>
      </p:pic>
      <p:sp>
        <p:nvSpPr>
          <p:cNvPr id="3" name="TextBox 2">
            <a:extLst>
              <a:ext uri="{FF2B5EF4-FFF2-40B4-BE49-F238E27FC236}">
                <a16:creationId xmlns:a16="http://schemas.microsoft.com/office/drawing/2014/main" id="{1B9B0BE8-7263-46CB-F938-2C000A69D104}"/>
              </a:ext>
            </a:extLst>
          </p:cNvPr>
          <p:cNvSpPr txBox="1"/>
          <p:nvPr/>
        </p:nvSpPr>
        <p:spPr>
          <a:xfrm>
            <a:off x="2265046" y="4169648"/>
            <a:ext cx="1531188" cy="369332"/>
          </a:xfrm>
          <a:prstGeom prst="rect">
            <a:avLst/>
          </a:prstGeom>
          <a:noFill/>
        </p:spPr>
        <p:txBody>
          <a:bodyPr wrap="none" rtlCol="0">
            <a:spAutoFit/>
          </a:bodyPr>
          <a:lstStyle/>
          <a:p>
            <a:pPr algn="ctr"/>
            <a:r>
              <a:rPr lang="en-GB" dirty="0"/>
              <a:t>13.81 mg/mL</a:t>
            </a:r>
          </a:p>
        </p:txBody>
      </p:sp>
      <p:sp>
        <p:nvSpPr>
          <p:cNvPr id="4" name="TextBox 3">
            <a:extLst>
              <a:ext uri="{FF2B5EF4-FFF2-40B4-BE49-F238E27FC236}">
                <a16:creationId xmlns:a16="http://schemas.microsoft.com/office/drawing/2014/main" id="{672CF7D9-4750-22E1-AA62-3B426FBF2E22}"/>
              </a:ext>
            </a:extLst>
          </p:cNvPr>
          <p:cNvSpPr txBox="1"/>
          <p:nvPr/>
        </p:nvSpPr>
        <p:spPr>
          <a:xfrm>
            <a:off x="2649768" y="5132816"/>
            <a:ext cx="761747" cy="369332"/>
          </a:xfrm>
          <a:prstGeom prst="rect">
            <a:avLst/>
          </a:prstGeom>
          <a:noFill/>
        </p:spPr>
        <p:txBody>
          <a:bodyPr wrap="none" rtlCol="0">
            <a:spAutoFit/>
          </a:bodyPr>
          <a:lstStyle/>
          <a:p>
            <a:pPr algn="ctr"/>
            <a:r>
              <a:rPr lang="en-GB" dirty="0"/>
              <a:t>0.1 M</a:t>
            </a:r>
          </a:p>
        </p:txBody>
      </p:sp>
      <p:sp>
        <p:nvSpPr>
          <p:cNvPr id="5" name="TextBox 4">
            <a:extLst>
              <a:ext uri="{FF2B5EF4-FFF2-40B4-BE49-F238E27FC236}">
                <a16:creationId xmlns:a16="http://schemas.microsoft.com/office/drawing/2014/main" id="{1BE21A3E-C981-408F-E9D6-1D35A1580D4B}"/>
              </a:ext>
            </a:extLst>
          </p:cNvPr>
          <p:cNvSpPr txBox="1"/>
          <p:nvPr/>
        </p:nvSpPr>
        <p:spPr>
          <a:xfrm>
            <a:off x="2521528" y="6120368"/>
            <a:ext cx="1018228" cy="369332"/>
          </a:xfrm>
          <a:prstGeom prst="rect">
            <a:avLst/>
          </a:prstGeom>
          <a:noFill/>
        </p:spPr>
        <p:txBody>
          <a:bodyPr wrap="none" rtlCol="0">
            <a:spAutoFit/>
          </a:bodyPr>
          <a:lstStyle/>
          <a:p>
            <a:pPr algn="ctr"/>
            <a:r>
              <a:rPr lang="en-GB" dirty="0"/>
              <a:t>0.107 M</a:t>
            </a:r>
          </a:p>
        </p:txBody>
      </p:sp>
      <p:sp>
        <p:nvSpPr>
          <p:cNvPr id="8" name="TextBox 7">
            <a:extLst>
              <a:ext uri="{FF2B5EF4-FFF2-40B4-BE49-F238E27FC236}">
                <a16:creationId xmlns:a16="http://schemas.microsoft.com/office/drawing/2014/main" id="{568A4828-0173-AD4F-DEA3-21A847B3401B}"/>
              </a:ext>
            </a:extLst>
          </p:cNvPr>
          <p:cNvSpPr txBox="1"/>
          <p:nvPr/>
        </p:nvSpPr>
        <p:spPr>
          <a:xfrm>
            <a:off x="5060626" y="3962384"/>
            <a:ext cx="889987" cy="369332"/>
          </a:xfrm>
          <a:prstGeom prst="rect">
            <a:avLst/>
          </a:prstGeom>
          <a:noFill/>
        </p:spPr>
        <p:txBody>
          <a:bodyPr wrap="none" rtlCol="0">
            <a:spAutoFit/>
          </a:bodyPr>
          <a:lstStyle/>
          <a:p>
            <a:pPr algn="ctr"/>
            <a:r>
              <a:rPr lang="en-GB" dirty="0"/>
              <a:t>8.2 mL</a:t>
            </a:r>
          </a:p>
        </p:txBody>
      </p:sp>
      <p:sp>
        <p:nvSpPr>
          <p:cNvPr id="9" name="TextBox 8">
            <a:extLst>
              <a:ext uri="{FF2B5EF4-FFF2-40B4-BE49-F238E27FC236}">
                <a16:creationId xmlns:a16="http://schemas.microsoft.com/office/drawing/2014/main" id="{2CBDE2C8-E64E-2D41-8DBE-866FDA330D08}"/>
              </a:ext>
            </a:extLst>
          </p:cNvPr>
          <p:cNvSpPr txBox="1"/>
          <p:nvPr/>
        </p:nvSpPr>
        <p:spPr>
          <a:xfrm>
            <a:off x="4252716" y="5498576"/>
            <a:ext cx="2505815" cy="646331"/>
          </a:xfrm>
          <a:prstGeom prst="rect">
            <a:avLst/>
          </a:prstGeom>
          <a:noFill/>
        </p:spPr>
        <p:txBody>
          <a:bodyPr wrap="none" rtlCol="0">
            <a:spAutoFit/>
          </a:bodyPr>
          <a:lstStyle/>
          <a:p>
            <a:pPr algn="ctr"/>
            <a:r>
              <a:rPr lang="en-GB" dirty="0"/>
              <a:t>(0.107 / 0.100) x 13.81</a:t>
            </a:r>
          </a:p>
          <a:p>
            <a:pPr algn="ctr"/>
            <a:r>
              <a:rPr lang="en-GB" dirty="0"/>
              <a:t>= 14.78 mg/mL</a:t>
            </a:r>
          </a:p>
        </p:txBody>
      </p:sp>
      <p:sp>
        <p:nvSpPr>
          <p:cNvPr id="10" name="TextBox 9">
            <a:extLst>
              <a:ext uri="{FF2B5EF4-FFF2-40B4-BE49-F238E27FC236}">
                <a16:creationId xmlns:a16="http://schemas.microsoft.com/office/drawing/2014/main" id="{B12BD682-7D0D-3321-0874-720A0D40AF26}"/>
              </a:ext>
            </a:extLst>
          </p:cNvPr>
          <p:cNvSpPr txBox="1"/>
          <p:nvPr/>
        </p:nvSpPr>
        <p:spPr>
          <a:xfrm>
            <a:off x="6705250" y="4547600"/>
            <a:ext cx="2550699" cy="369332"/>
          </a:xfrm>
          <a:prstGeom prst="rect">
            <a:avLst/>
          </a:prstGeom>
          <a:noFill/>
        </p:spPr>
        <p:txBody>
          <a:bodyPr wrap="none" rtlCol="0">
            <a:spAutoFit/>
          </a:bodyPr>
          <a:lstStyle/>
          <a:p>
            <a:pPr algn="ctr"/>
            <a:r>
              <a:rPr lang="en-GB" dirty="0"/>
              <a:t>14.78 x 8.2 = 121.2 mg</a:t>
            </a:r>
          </a:p>
        </p:txBody>
      </p:sp>
      <p:sp>
        <p:nvSpPr>
          <p:cNvPr id="11" name="TextBox 10">
            <a:extLst>
              <a:ext uri="{FF2B5EF4-FFF2-40B4-BE49-F238E27FC236}">
                <a16:creationId xmlns:a16="http://schemas.microsoft.com/office/drawing/2014/main" id="{3EA17FE6-52F9-F552-D7E5-0AFD759AC083}"/>
              </a:ext>
            </a:extLst>
          </p:cNvPr>
          <p:cNvSpPr txBox="1"/>
          <p:nvPr/>
        </p:nvSpPr>
        <p:spPr>
          <a:xfrm>
            <a:off x="7503547" y="5547344"/>
            <a:ext cx="954108" cy="369332"/>
          </a:xfrm>
          <a:prstGeom prst="rect">
            <a:avLst/>
          </a:prstGeom>
          <a:noFill/>
        </p:spPr>
        <p:txBody>
          <a:bodyPr wrap="none" rtlCol="0">
            <a:spAutoFit/>
          </a:bodyPr>
          <a:lstStyle/>
          <a:p>
            <a:pPr algn="ctr"/>
            <a:r>
              <a:rPr lang="en-GB" dirty="0"/>
              <a:t>132 mg</a:t>
            </a:r>
          </a:p>
        </p:txBody>
      </p:sp>
      <p:sp>
        <p:nvSpPr>
          <p:cNvPr id="12" name="TextBox 11">
            <a:extLst>
              <a:ext uri="{FF2B5EF4-FFF2-40B4-BE49-F238E27FC236}">
                <a16:creationId xmlns:a16="http://schemas.microsoft.com/office/drawing/2014/main" id="{C9F75E9E-8310-F013-1A8B-EF3DA6D368DC}"/>
              </a:ext>
            </a:extLst>
          </p:cNvPr>
          <p:cNvSpPr txBox="1"/>
          <p:nvPr/>
        </p:nvSpPr>
        <p:spPr>
          <a:xfrm>
            <a:off x="9938250" y="5157200"/>
            <a:ext cx="1351652" cy="369332"/>
          </a:xfrm>
          <a:prstGeom prst="rect">
            <a:avLst/>
          </a:prstGeom>
          <a:noFill/>
        </p:spPr>
        <p:txBody>
          <a:bodyPr wrap="none" rtlCol="0">
            <a:spAutoFit/>
          </a:bodyPr>
          <a:lstStyle/>
          <a:p>
            <a:pPr algn="ctr"/>
            <a:r>
              <a:rPr lang="en-GB" dirty="0"/>
              <a:t>91.8% m/m</a:t>
            </a:r>
          </a:p>
        </p:txBody>
      </p:sp>
    </p:spTree>
    <p:extLst>
      <p:ext uri="{BB962C8B-B14F-4D97-AF65-F5344CB8AC3E}">
        <p14:creationId xmlns:p14="http://schemas.microsoft.com/office/powerpoint/2010/main" val="263416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DE9F-84A0-CE79-6839-BBC49F464A2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14F79F-B029-C925-562C-9A7F1E58ACE6}"/>
              </a:ext>
            </a:extLst>
          </p:cNvPr>
          <p:cNvSpPr>
            <a:spLocks noGrp="1"/>
          </p:cNvSpPr>
          <p:nvPr>
            <p:ph type="title"/>
          </p:nvPr>
        </p:nvSpPr>
        <p:spPr/>
        <p:txBody>
          <a:bodyPr/>
          <a:lstStyle/>
          <a:p>
            <a:r>
              <a:rPr lang="en-GB" dirty="0"/>
              <a:t>Gravimetric analysis</a:t>
            </a:r>
          </a:p>
        </p:txBody>
      </p:sp>
      <p:sp>
        <p:nvSpPr>
          <p:cNvPr id="7" name="Table Placeholder 6">
            <a:extLst>
              <a:ext uri="{FF2B5EF4-FFF2-40B4-BE49-F238E27FC236}">
                <a16:creationId xmlns:a16="http://schemas.microsoft.com/office/drawing/2014/main" id="{FF671CAC-C1DB-D26E-8475-80F96AB2CF76}"/>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An alternative to volumetric analysis.</a:t>
            </a:r>
          </a:p>
          <a:p>
            <a:pPr marL="285750" indent="-285750">
              <a:buFont typeface="Arial" panose="020B0604020202020204" pitchFamily="34" charset="0"/>
              <a:buChar char="•"/>
            </a:pPr>
            <a:r>
              <a:rPr lang="en-GB" dirty="0"/>
              <a:t>The desired constituent of the test material is isolated and </a:t>
            </a:r>
            <a:r>
              <a:rPr lang="en-GB" b="1" dirty="0"/>
              <a:t>weighed</a:t>
            </a:r>
            <a:r>
              <a:rPr lang="en-GB" dirty="0"/>
              <a:t>.</a:t>
            </a:r>
          </a:p>
          <a:p>
            <a:pPr marL="285750" indent="-285750">
              <a:buFont typeface="Arial" panose="020B0604020202020204" pitchFamily="34" charset="0"/>
              <a:buChar char="•"/>
            </a:pPr>
            <a:r>
              <a:rPr lang="en-GB" dirty="0"/>
              <a:t>Generally, the desired constituent is converted into a pure stable compound that can easily be isolated and weighed. </a:t>
            </a:r>
          </a:p>
          <a:p>
            <a:pPr marL="285750" indent="-285750">
              <a:buFont typeface="Arial" panose="020B0604020202020204" pitchFamily="34" charset="0"/>
              <a:buChar char="•"/>
            </a:pPr>
            <a:r>
              <a:rPr lang="en-GB" dirty="0"/>
              <a:t>The compound that is weighed is called the ‘weighing form’. Simple calculation gives the amount of the constituent under consideration. </a:t>
            </a:r>
          </a:p>
          <a:p>
            <a:pPr marL="285750" indent="-285750">
              <a:buFont typeface="Arial" panose="020B0604020202020204" pitchFamily="34" charset="0"/>
              <a:buChar char="•"/>
            </a:pPr>
            <a:r>
              <a:rPr lang="en-GB" dirty="0"/>
              <a:t>For example, sulphate (SO</a:t>
            </a:r>
            <a:r>
              <a:rPr lang="en-GB" baseline="-25000" dirty="0"/>
              <a:t>4</a:t>
            </a:r>
            <a:r>
              <a:rPr lang="en-GB" baseline="30000" dirty="0"/>
              <a:t>2-</a:t>
            </a:r>
            <a:r>
              <a:rPr lang="en-GB" dirty="0"/>
              <a:t>) can be precipitated as barium sulphate (BaSO</a:t>
            </a:r>
            <a:r>
              <a:rPr lang="en-GB" baseline="-25000" dirty="0"/>
              <a:t>4</a:t>
            </a:r>
            <a:r>
              <a:rPr lang="en-GB" dirty="0"/>
              <a:t>). The barium sulphate is filtered off, dried and weighed.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Gravimetric procedures are time consuming and are not widely used. </a:t>
            </a:r>
          </a:p>
          <a:p>
            <a:pPr marL="285750" indent="-285750">
              <a:buFont typeface="Arial" panose="020B0604020202020204" pitchFamily="34" charset="0"/>
              <a:buChar char="•"/>
            </a:pPr>
            <a:r>
              <a:rPr lang="en-GB" dirty="0"/>
              <a:t>The British Pharmacopoeia contains few examples.</a:t>
            </a:r>
          </a:p>
        </p:txBody>
      </p:sp>
    </p:spTree>
    <p:extLst>
      <p:ext uri="{BB962C8B-B14F-4D97-AF65-F5344CB8AC3E}">
        <p14:creationId xmlns:p14="http://schemas.microsoft.com/office/powerpoint/2010/main" val="2004731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22ACB-D72B-B454-D0D0-45B9674A843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C8E0B40-D672-A53F-40ED-5EA29382AA15}"/>
              </a:ext>
            </a:extLst>
          </p:cNvPr>
          <p:cNvSpPr>
            <a:spLocks noGrp="1"/>
          </p:cNvSpPr>
          <p:nvPr>
            <p:ph type="title"/>
          </p:nvPr>
        </p:nvSpPr>
        <p:spPr/>
        <p:txBody>
          <a:bodyPr/>
          <a:lstStyle/>
          <a:p>
            <a:r>
              <a:rPr lang="en-GB" dirty="0"/>
              <a:t>Gravimetric analysis: loss on drying</a:t>
            </a:r>
          </a:p>
        </p:txBody>
      </p:sp>
      <p:sp>
        <p:nvSpPr>
          <p:cNvPr id="7" name="Table Placeholder 6">
            <a:extLst>
              <a:ext uri="{FF2B5EF4-FFF2-40B4-BE49-F238E27FC236}">
                <a16:creationId xmlns:a16="http://schemas.microsoft.com/office/drawing/2014/main" id="{82357B9C-AEA5-4518-77FC-0C8199952D36}"/>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substances absorb moisture on storage.</a:t>
            </a:r>
          </a:p>
          <a:p>
            <a:pPr marL="285750" indent="-285750">
              <a:buFont typeface="Arial" panose="020B0604020202020204" pitchFamily="34" charset="0"/>
              <a:buChar char="•"/>
            </a:pPr>
            <a:r>
              <a:rPr lang="en-GB" dirty="0"/>
              <a:t>The British Pharmacopoeia sets limits for such deterioration. </a:t>
            </a:r>
          </a:p>
          <a:p>
            <a:pPr marL="285750" indent="-285750">
              <a:buFont typeface="Arial" panose="020B0604020202020204" pitchFamily="34" charset="0"/>
              <a:buChar char="•"/>
            </a:pPr>
            <a:r>
              <a:rPr lang="en-GB" dirty="0"/>
              <a:t>Gravimetric procedures are widely used for determining the moisture content.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known mass of sample is dried at a specified temperature until a constant mass is obtained and the percentage loss in mass calculated.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Most BP specifications for content are </a:t>
            </a:r>
            <a:r>
              <a:rPr lang="en-GB" i="1" dirty="0"/>
              <a:t>with respect to the dried substance</a:t>
            </a:r>
            <a:r>
              <a:rPr lang="en-GB" dirty="0"/>
              <a:t>.</a:t>
            </a:r>
          </a:p>
          <a:p>
            <a:pPr marL="285750" indent="-285750">
              <a:buFont typeface="Arial" panose="020B0604020202020204" pitchFamily="34" charset="0"/>
              <a:buChar char="•"/>
            </a:pPr>
            <a:r>
              <a:rPr lang="en-GB" dirty="0"/>
              <a:t>Assays may be carried out on a dried sample of the substance or an allowance for the loss on drying taken into account in the calculation.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20E2874-9EC1-A263-500F-01237B37FE8F}"/>
                  </a:ext>
                </a:extLst>
              </p:cNvPr>
              <p:cNvSpPr txBox="1"/>
              <p:nvPr/>
            </p:nvSpPr>
            <p:spPr>
              <a:xfrm>
                <a:off x="3484067" y="4120896"/>
                <a:ext cx="5223866" cy="574516"/>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𝑙𝑜𝑠𝑠</m:t>
                      </m:r>
                      <m:r>
                        <a:rPr lang="en-GB" b="0" i="1" smtClean="0">
                          <a:latin typeface="Cambria Math" panose="02040503050406030204" pitchFamily="18" charset="0"/>
                        </a:rPr>
                        <m:t> </m:t>
                      </m:r>
                      <m:r>
                        <a:rPr lang="en-GB" b="0" i="1" smtClean="0">
                          <a:latin typeface="Cambria Math" panose="02040503050406030204" pitchFamily="18" charset="0"/>
                        </a:rPr>
                        <m:t>𝑜𝑛</m:t>
                      </m:r>
                      <m:r>
                        <a:rPr lang="en-GB" b="0" i="1" smtClean="0">
                          <a:latin typeface="Cambria Math" panose="02040503050406030204" pitchFamily="18" charset="0"/>
                        </a:rPr>
                        <m:t> </m:t>
                      </m:r>
                      <m:r>
                        <a:rPr lang="en-GB" b="0" i="1" smtClean="0">
                          <a:latin typeface="Cambria Math" panose="02040503050406030204" pitchFamily="18" charset="0"/>
                        </a:rPr>
                        <m:t>𝑑𝑟𝑦𝑖𝑛𝑔</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𝑟𝑒𝑑𝑢𝑐𝑡𝑖𝑜𝑛</m:t>
                          </m:r>
                          <m:r>
                            <a:rPr lang="en-GB" b="0" i="1" smtClean="0">
                              <a:latin typeface="Cambria Math" panose="02040503050406030204" pitchFamily="18" charset="0"/>
                            </a:rPr>
                            <m:t> </m:t>
                          </m:r>
                          <m:r>
                            <a:rPr lang="en-GB" b="0" i="1" smtClean="0">
                              <a:latin typeface="Cambria Math" panose="02040503050406030204" pitchFamily="18" charset="0"/>
                            </a:rPr>
                            <m:t>𝑖𝑛</m:t>
                          </m:r>
                          <m:r>
                            <a:rPr lang="en-GB" b="0" i="1" smtClean="0">
                              <a:latin typeface="Cambria Math" panose="02040503050406030204" pitchFamily="18" charset="0"/>
                            </a:rPr>
                            <m:t> </m:t>
                          </m:r>
                          <m:r>
                            <a:rPr lang="en-GB" b="0" i="1" smtClean="0">
                              <a:latin typeface="Cambria Math" panose="02040503050406030204" pitchFamily="18" charset="0"/>
                            </a:rPr>
                            <m:t>𝑚𝑎𝑠𝑠</m:t>
                          </m:r>
                        </m:num>
                        <m:den>
                          <m:r>
                            <a:rPr lang="en-GB" b="0" i="1" smtClean="0">
                              <a:latin typeface="Cambria Math" panose="02040503050406030204" pitchFamily="18" charset="0"/>
                            </a:rPr>
                            <m:t>𝑜𝑟𝑖𝑔𝑖𝑛𝑎𝑙</m:t>
                          </m:r>
                          <m:r>
                            <a:rPr lang="en-GB" b="0" i="1" smtClean="0">
                              <a:latin typeface="Cambria Math" panose="02040503050406030204" pitchFamily="18" charset="0"/>
                            </a:rPr>
                            <m:t> </m:t>
                          </m:r>
                          <m:r>
                            <a:rPr lang="en-GB" b="0" i="1" smtClean="0">
                              <a:latin typeface="Cambria Math" panose="02040503050406030204" pitchFamily="18" charset="0"/>
                            </a:rPr>
                            <m:t>𝑚𝑎𝑠𝑠</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𝑠𝑎𝑚𝑝𝑙𝑒</m:t>
                          </m:r>
                        </m:den>
                      </m:f>
                      <m:r>
                        <a:rPr lang="en-GB" b="0" i="1" smtClean="0">
                          <a:latin typeface="Cambria Math" panose="02040503050406030204" pitchFamily="18" charset="0"/>
                        </a:rPr>
                        <m:t>×100%</m:t>
                      </m:r>
                    </m:oMath>
                  </m:oMathPara>
                </a14:m>
                <a:endParaRPr lang="en-GB" dirty="0"/>
              </a:p>
            </p:txBody>
          </p:sp>
        </mc:Choice>
        <mc:Fallback xmlns="">
          <p:sp>
            <p:nvSpPr>
              <p:cNvPr id="2" name="TextBox 1">
                <a:extLst>
                  <a:ext uri="{FF2B5EF4-FFF2-40B4-BE49-F238E27FC236}">
                    <a16:creationId xmlns:a16="http://schemas.microsoft.com/office/drawing/2014/main" id="{520E2874-9EC1-A263-500F-01237B37FE8F}"/>
                  </a:ext>
                </a:extLst>
              </p:cNvPr>
              <p:cNvSpPr txBox="1">
                <a:spLocks noRot="1" noChangeAspect="1" noMove="1" noResize="1" noEditPoints="1" noAdjustHandles="1" noChangeArrowheads="1" noChangeShapeType="1" noTextEdit="1"/>
              </p:cNvSpPr>
              <p:nvPr/>
            </p:nvSpPr>
            <p:spPr>
              <a:xfrm>
                <a:off x="3484067" y="4120896"/>
                <a:ext cx="5223866" cy="574516"/>
              </a:xfrm>
              <a:prstGeom prst="rect">
                <a:avLst/>
              </a:prstGeom>
              <a:blipFill>
                <a:blip r:embed="rId2"/>
                <a:stretch>
                  <a:fillRect l="-485" t="-6522" r="-485" b="-19565"/>
                </a:stretch>
              </a:blipFill>
            </p:spPr>
            <p:txBody>
              <a:bodyPr/>
              <a:lstStyle/>
              <a:p>
                <a:r>
                  <a:rPr lang="en-GB">
                    <a:noFill/>
                  </a:rPr>
                  <a:t> </a:t>
                </a:r>
              </a:p>
            </p:txBody>
          </p:sp>
        </mc:Fallback>
      </mc:AlternateContent>
    </p:spTree>
    <p:extLst>
      <p:ext uri="{BB962C8B-B14F-4D97-AF65-F5344CB8AC3E}">
        <p14:creationId xmlns:p14="http://schemas.microsoft.com/office/powerpoint/2010/main" val="3417847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1D23-BD08-10FB-11BB-BB1A797E9C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CD9E05-F479-3247-B2CE-01CA459A205C}"/>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5301AC01-109C-BC70-AB62-7CD0CC8E1DBE}"/>
              </a:ext>
            </a:extLst>
          </p:cNvPr>
          <p:cNvSpPr>
            <a:spLocks noGrp="1"/>
          </p:cNvSpPr>
          <p:nvPr>
            <p:ph type="tbl" sz="quarter" idx="10"/>
          </p:nvPr>
        </p:nvSpPr>
        <p:spPr/>
        <p:txBody>
          <a:bodyPr/>
          <a:lstStyle/>
          <a:p>
            <a:r>
              <a:rPr lang="en-GB" dirty="0"/>
              <a:t>1.034 g of a Fluorescein Sodium sample decreased in mass to 0.954 g on drying at 105°C. Calculate the loss on drying.</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1A9F47-8445-9CEA-E18F-7435CA52C996}"/>
                  </a:ext>
                </a:extLst>
              </p:cNvPr>
              <p:cNvSpPr txBox="1"/>
              <p:nvPr/>
            </p:nvSpPr>
            <p:spPr>
              <a:xfrm>
                <a:off x="3028289" y="2547739"/>
                <a:ext cx="6135421" cy="574516"/>
              </a:xfrm>
              <a:prstGeom prst="rect">
                <a:avLst/>
              </a:prstGeom>
              <a:noFill/>
            </p:spPr>
            <p:txBody>
              <a:bodyPr wrap="square" lIns="0" tIns="0" rIns="0" bIns="0" rtlCol="0">
                <a:spAutoFit/>
              </a:bodyPr>
              <a:lstStyle/>
              <a:p>
                <a:pPr/>
                <a14:m>
                  <m:oMathPara xmlns:m="http://schemas.openxmlformats.org/officeDocument/2006/math">
                    <m:oMath>
                      <m:r>
                        <a:rPr lang="en-GB" b="0" i="1" smtClean="0">
                          <a:latin typeface="Cambria Math" panose="02040503050406030204" pitchFamily="18" charset="0"/>
                        </a:rPr>
                        <m:t>𝑙𝑜𝑠𝑠</m:t>
                      </m:r>
                      <m:r>
                        <a:rPr lang="en-GB" b="0" i="1" smtClean="0">
                          <a:latin typeface="Cambria Math" panose="02040503050406030204" pitchFamily="18" charset="0"/>
                        </a:rPr>
                        <m:t> </m:t>
                      </m:r>
                      <m:r>
                        <a:rPr lang="en-GB" b="0" i="1" smtClean="0">
                          <a:latin typeface="Cambria Math" panose="02040503050406030204" pitchFamily="18" charset="0"/>
                        </a:rPr>
                        <m:t>𝑜𝑛</m:t>
                      </m:r>
                      <m:r>
                        <a:rPr lang="en-GB" b="0" i="1" smtClean="0">
                          <a:latin typeface="Cambria Math" panose="02040503050406030204" pitchFamily="18" charset="0"/>
                        </a:rPr>
                        <m:t> </m:t>
                      </m:r>
                      <m:r>
                        <a:rPr lang="en-GB" b="0" i="1" smtClean="0">
                          <a:latin typeface="Cambria Math" panose="02040503050406030204" pitchFamily="18" charset="0"/>
                        </a:rPr>
                        <m:t>𝑑𝑟𝑦𝑖𝑛𝑔</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𝑟𝑒𝑑𝑢𝑐𝑡𝑖𝑜𝑛</m:t>
                          </m:r>
                          <m:r>
                            <a:rPr lang="en-GB" b="0" i="1" smtClean="0">
                              <a:latin typeface="Cambria Math" panose="02040503050406030204" pitchFamily="18" charset="0"/>
                            </a:rPr>
                            <m:t> </m:t>
                          </m:r>
                          <m:r>
                            <a:rPr lang="en-GB" b="0" i="1" smtClean="0">
                              <a:latin typeface="Cambria Math" panose="02040503050406030204" pitchFamily="18" charset="0"/>
                            </a:rPr>
                            <m:t>𝑖𝑛</m:t>
                          </m:r>
                          <m:r>
                            <a:rPr lang="en-GB" b="0" i="1" smtClean="0">
                              <a:latin typeface="Cambria Math" panose="02040503050406030204" pitchFamily="18" charset="0"/>
                            </a:rPr>
                            <m:t> </m:t>
                          </m:r>
                          <m:r>
                            <a:rPr lang="en-GB" b="0" i="1" smtClean="0">
                              <a:latin typeface="Cambria Math" panose="02040503050406030204" pitchFamily="18" charset="0"/>
                            </a:rPr>
                            <m:t>𝑚𝑎𝑠𝑠</m:t>
                          </m:r>
                        </m:num>
                        <m:den>
                          <m:r>
                            <a:rPr lang="en-GB" b="0" i="1" smtClean="0">
                              <a:latin typeface="Cambria Math" panose="02040503050406030204" pitchFamily="18" charset="0"/>
                            </a:rPr>
                            <m:t>𝑜𝑟𝑖𝑔𝑖𝑛𝑎𝑙</m:t>
                          </m:r>
                          <m:r>
                            <a:rPr lang="en-GB" b="0" i="1" smtClean="0">
                              <a:latin typeface="Cambria Math" panose="02040503050406030204" pitchFamily="18" charset="0"/>
                            </a:rPr>
                            <m:t> </m:t>
                          </m:r>
                          <m:r>
                            <a:rPr lang="en-GB" b="0" i="1" smtClean="0">
                              <a:latin typeface="Cambria Math" panose="02040503050406030204" pitchFamily="18" charset="0"/>
                            </a:rPr>
                            <m:t>𝑚𝑎𝑠𝑠</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𝑠𝑎𝑚𝑝𝑙𝑒</m:t>
                          </m:r>
                        </m:den>
                      </m:f>
                      <m:r>
                        <a:rPr lang="en-GB" b="0" i="1" smtClean="0">
                          <a:latin typeface="Cambria Math" panose="02040503050406030204" pitchFamily="18" charset="0"/>
                        </a:rPr>
                        <m:t>×100%</m:t>
                      </m:r>
                    </m:oMath>
                  </m:oMathPara>
                </a14:m>
                <a:endParaRPr lang="en-GB" b="0" dirty="0"/>
              </a:p>
            </p:txBody>
          </p:sp>
        </mc:Choice>
        <mc:Fallback xmlns="">
          <p:sp>
            <p:nvSpPr>
              <p:cNvPr id="2" name="TextBox 1">
                <a:extLst>
                  <a:ext uri="{FF2B5EF4-FFF2-40B4-BE49-F238E27FC236}">
                    <a16:creationId xmlns:a16="http://schemas.microsoft.com/office/drawing/2014/main" id="{031A9F47-8445-9CEA-E18F-7435CA52C996}"/>
                  </a:ext>
                </a:extLst>
              </p:cNvPr>
              <p:cNvSpPr txBox="1">
                <a:spLocks noRot="1" noChangeAspect="1" noMove="1" noResize="1" noEditPoints="1" noAdjustHandles="1" noChangeArrowheads="1" noChangeShapeType="1" noTextEdit="1"/>
              </p:cNvSpPr>
              <p:nvPr/>
            </p:nvSpPr>
            <p:spPr>
              <a:xfrm>
                <a:off x="3028289" y="2547739"/>
                <a:ext cx="6135421" cy="574516"/>
              </a:xfrm>
              <a:prstGeom prst="rect">
                <a:avLst/>
              </a:prstGeom>
              <a:blipFill>
                <a:blip r:embed="rId2"/>
                <a:stretch>
                  <a:fillRect t="-6522" b="-195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E1B71E7-5C1D-2C88-E2B4-3FA6A68CB965}"/>
                  </a:ext>
                </a:extLst>
              </p:cNvPr>
              <p:cNvSpPr txBox="1"/>
              <p:nvPr/>
            </p:nvSpPr>
            <p:spPr>
              <a:xfrm>
                <a:off x="5103775" y="3429000"/>
                <a:ext cx="5023103" cy="1079976"/>
              </a:xfrm>
              <a:prstGeom prst="rect">
                <a:avLst/>
              </a:prstGeom>
              <a:noFill/>
            </p:spPr>
            <p:txBody>
              <a:bodyPr wrap="square" lIns="0" tIns="0" rIns="0" bIns="0" rtlCol="0">
                <a:spAutoFit/>
              </a:bodyPr>
              <a:lstStyle/>
              <a:p>
                <a:pPr/>
                <a14:m>
                  <m:oMathPara xmlns:m="http://schemas.openxmlformats.org/officeDocument/2006/math">
                    <m:oMathParaPr>
                      <m:jc m:val="left"/>
                    </m:oMathParaPr>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1.034−0.954</m:t>
                          </m:r>
                        </m:num>
                        <m:den>
                          <m:r>
                            <a:rPr lang="en-GB" b="0" i="1" smtClean="0">
                              <a:latin typeface="Cambria Math" panose="02040503050406030204" pitchFamily="18" charset="0"/>
                            </a:rPr>
                            <m:t>1.034</m:t>
                          </m:r>
                        </m:den>
                      </m:f>
                      <m:r>
                        <a:rPr lang="en-GB" b="0" i="1" smtClean="0">
                          <a:latin typeface="Cambria Math" panose="02040503050406030204" pitchFamily="18" charset="0"/>
                        </a:rPr>
                        <m:t>×100%</m:t>
                      </m:r>
                    </m:oMath>
                  </m:oMathPara>
                </a14:m>
                <a:endParaRPr lang="en-GB" b="0" i="1" dirty="0">
                  <a:latin typeface="Cambria Math" panose="02040503050406030204" pitchFamily="18" charset="0"/>
                </a:endParaRPr>
              </a:p>
              <a:p>
                <a:endParaRPr lang="en-GB" b="0" i="1" dirty="0">
                  <a:latin typeface="Cambria Math" panose="02040503050406030204" pitchFamily="18" charset="0"/>
                </a:endParaRPr>
              </a:p>
              <a:p>
                <a:pPr/>
                <a14:m>
                  <m:oMathPara xmlns:m="http://schemas.openxmlformats.org/officeDocument/2006/math">
                    <m:oMathParaPr>
                      <m:jc m:val="left"/>
                    </m:oMathParaPr>
                    <m:oMath>
                      <m:r>
                        <a:rPr lang="en-GB" b="0" i="1" smtClean="0">
                          <a:latin typeface="Cambria Math" panose="02040503050406030204" pitchFamily="18" charset="0"/>
                        </a:rPr>
                        <m:t>=7.76% </m:t>
                      </m:r>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𝑚</m:t>
                      </m:r>
                    </m:oMath>
                  </m:oMathPara>
                </a14:m>
                <a:endParaRPr lang="en-GB" b="0" dirty="0"/>
              </a:p>
            </p:txBody>
          </p:sp>
        </mc:Choice>
        <mc:Fallback xmlns="">
          <p:sp>
            <p:nvSpPr>
              <p:cNvPr id="3" name="TextBox 2">
                <a:extLst>
                  <a:ext uri="{FF2B5EF4-FFF2-40B4-BE49-F238E27FC236}">
                    <a16:creationId xmlns:a16="http://schemas.microsoft.com/office/drawing/2014/main" id="{0E1B71E7-5C1D-2C88-E2B4-3FA6A68CB965}"/>
                  </a:ext>
                </a:extLst>
              </p:cNvPr>
              <p:cNvSpPr txBox="1">
                <a:spLocks noRot="1" noChangeAspect="1" noMove="1" noResize="1" noEditPoints="1" noAdjustHandles="1" noChangeArrowheads="1" noChangeShapeType="1" noTextEdit="1"/>
              </p:cNvSpPr>
              <p:nvPr/>
            </p:nvSpPr>
            <p:spPr>
              <a:xfrm>
                <a:off x="5103775" y="3429000"/>
                <a:ext cx="5023103" cy="1079976"/>
              </a:xfrm>
              <a:prstGeom prst="rect">
                <a:avLst/>
              </a:prstGeom>
              <a:blipFill>
                <a:blip r:embed="rId3"/>
                <a:stretch>
                  <a:fillRect l="-1008" t="-2326" b="-9302"/>
                </a:stretch>
              </a:blipFill>
            </p:spPr>
            <p:txBody>
              <a:bodyPr/>
              <a:lstStyle/>
              <a:p>
                <a:r>
                  <a:rPr lang="en-GB">
                    <a:noFill/>
                  </a:rPr>
                  <a:t> </a:t>
                </a:r>
              </a:p>
            </p:txBody>
          </p:sp>
        </mc:Fallback>
      </mc:AlternateContent>
    </p:spTree>
    <p:extLst>
      <p:ext uri="{BB962C8B-B14F-4D97-AF65-F5344CB8AC3E}">
        <p14:creationId xmlns:p14="http://schemas.microsoft.com/office/powerpoint/2010/main" val="3799443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75901-8FF9-EF81-CE62-3C293E97924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FC18D21-0A29-F8B6-B2A5-175C62EFBE1D}"/>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501C4888-E331-3E02-F193-26BD7DDCA402}"/>
              </a:ext>
            </a:extLst>
          </p:cNvPr>
          <p:cNvSpPr>
            <a:spLocks noGrp="1"/>
          </p:cNvSpPr>
          <p:nvPr>
            <p:ph type="tbl" sz="quarter" idx="10"/>
          </p:nvPr>
        </p:nvSpPr>
        <p:spPr/>
        <p:txBody>
          <a:bodyPr/>
          <a:lstStyle/>
          <a:p>
            <a:r>
              <a:rPr lang="en-GB" dirty="0"/>
              <a:t>The BP(2008) requires Fluorescein Sodium to contain not less than 95.0 and not more than 103.0 per cent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with respect to the dried substance. A sample was found to contain the equivalent of 91.8% m/m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If the loss on drying was 7.76%, does the sample comply with the BP assay requirement?</a:t>
            </a:r>
          </a:p>
          <a:p>
            <a:endParaRPr lang="en-GB" dirty="0"/>
          </a:p>
          <a:p>
            <a:r>
              <a:rPr lang="en-GB" b="1" dirty="0"/>
              <a:t>1. Read and identify</a:t>
            </a:r>
            <a:endParaRPr lang="en-GB" dirty="0"/>
          </a:p>
          <a:p>
            <a:pPr marL="861750" lvl="1" indent="-285750">
              <a:buFont typeface="Arial" panose="020B0604020202020204" pitchFamily="34" charset="0"/>
              <a:buChar char="•"/>
            </a:pPr>
            <a:r>
              <a:rPr lang="en-GB" dirty="0"/>
              <a:t>What’s being asked? </a:t>
            </a:r>
            <a:r>
              <a:rPr lang="en-GB" i="1" dirty="0"/>
              <a:t>Percentage content of (dried) fluorescein vs BP limits</a:t>
            </a:r>
          </a:p>
          <a:p>
            <a:pPr marL="861750" lvl="1" indent="-285750">
              <a:buFont typeface="Arial" panose="020B0604020202020204" pitchFamily="34" charset="0"/>
              <a:buChar char="•"/>
            </a:pPr>
            <a:r>
              <a:rPr lang="en-GB" dirty="0"/>
              <a:t>What data is given? </a:t>
            </a:r>
            <a:r>
              <a:rPr lang="en-GB" i="1" dirty="0"/>
              <a:t>BP specifications, loss on drying, %m/m of original (wet) sample</a:t>
            </a:r>
          </a:p>
          <a:p>
            <a:r>
              <a:rPr lang="en-GB" b="1" dirty="0"/>
              <a:t>2. Estimate</a:t>
            </a:r>
            <a:endParaRPr lang="en-GB" dirty="0"/>
          </a:p>
          <a:p>
            <a:pPr marL="861750" lvl="1" indent="-285750">
              <a:buFont typeface="Arial" panose="020B0604020202020204" pitchFamily="34" charset="0"/>
              <a:buChar char="•"/>
            </a:pPr>
            <a:r>
              <a:rPr lang="en-GB" dirty="0"/>
              <a:t>The %m/m should be higher once we correct for moisture content</a:t>
            </a:r>
          </a:p>
          <a:p>
            <a:pPr marL="861750" lvl="1" indent="-285750">
              <a:buFont typeface="Arial" panose="020B0604020202020204" pitchFamily="34" charset="0"/>
              <a:buChar char="•"/>
            </a:pPr>
            <a:r>
              <a:rPr lang="en-GB" dirty="0"/>
              <a:t>If I started with 100 mg, I’d have just over 92 mg after drying</a:t>
            </a:r>
          </a:p>
          <a:p>
            <a:pPr marL="861750" lvl="1" indent="-285750">
              <a:buFont typeface="Arial" panose="020B0604020202020204" pitchFamily="34" charset="0"/>
              <a:buChar char="•"/>
            </a:pPr>
            <a:r>
              <a:rPr lang="en-GB" dirty="0"/>
              <a:t>Both wet and dry samples will contain 91.8 mg fluorescein – so the purity will be just slightly under 100%</a:t>
            </a:r>
          </a:p>
        </p:txBody>
      </p:sp>
    </p:spTree>
    <p:extLst>
      <p:ext uri="{BB962C8B-B14F-4D97-AF65-F5344CB8AC3E}">
        <p14:creationId xmlns:p14="http://schemas.microsoft.com/office/powerpoint/2010/main" val="99532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F0663-155F-5972-B9CF-8633A15472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E79926-2A21-3F9D-569F-830D626591AD}"/>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FD4354F7-A662-472D-C77F-1C80D822B7E0}"/>
              </a:ext>
            </a:extLst>
          </p:cNvPr>
          <p:cNvSpPr>
            <a:spLocks noGrp="1"/>
          </p:cNvSpPr>
          <p:nvPr>
            <p:ph type="tbl" sz="quarter" idx="10"/>
          </p:nvPr>
        </p:nvSpPr>
        <p:spPr/>
        <p:txBody>
          <a:bodyPr/>
          <a:lstStyle/>
          <a:p>
            <a:r>
              <a:rPr lang="en-GB" dirty="0"/>
              <a:t>The BP(2008) requires Fluorescein Sodium to contain not less than 95.0 and not more than 103.0 per cent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with respect to the dried substance. A sample was found to contain the equivalent of 91.8% m/m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If the loss on drying was 7.76%, does the sample comply with the BP assay requirement?</a:t>
            </a:r>
          </a:p>
          <a:p>
            <a:endParaRPr lang="en-GB" dirty="0"/>
          </a:p>
          <a:p>
            <a:r>
              <a:rPr lang="en-GB" b="1" dirty="0"/>
              <a:t>3. Plan</a:t>
            </a:r>
          </a:p>
          <a:p>
            <a:r>
              <a:rPr lang="en-GB" b="1" dirty="0"/>
              <a:t>4. Execute</a:t>
            </a:r>
          </a:p>
          <a:p>
            <a:r>
              <a:rPr lang="en-GB" b="1" dirty="0"/>
              <a:t>5. Check</a:t>
            </a:r>
            <a:endParaRPr lang="en-GB" dirty="0"/>
          </a:p>
        </p:txBody>
      </p:sp>
      <p:pic>
        <p:nvPicPr>
          <p:cNvPr id="2" name="Picture 1">
            <a:extLst>
              <a:ext uri="{FF2B5EF4-FFF2-40B4-BE49-F238E27FC236}">
                <a16:creationId xmlns:a16="http://schemas.microsoft.com/office/drawing/2014/main" id="{54BE5573-2EC5-6F8E-B7AA-D34A0C20EDAC}"/>
              </a:ext>
            </a:extLst>
          </p:cNvPr>
          <p:cNvPicPr>
            <a:picLocks noChangeAspect="1"/>
          </p:cNvPicPr>
          <p:nvPr/>
        </p:nvPicPr>
        <p:blipFill>
          <a:blip r:embed="rId3"/>
          <a:stretch>
            <a:fillRect/>
          </a:stretch>
        </p:blipFill>
        <p:spPr>
          <a:xfrm>
            <a:off x="1622837" y="2820176"/>
            <a:ext cx="10124472" cy="2761220"/>
          </a:xfrm>
          <a:prstGeom prst="rect">
            <a:avLst/>
          </a:prstGeom>
        </p:spPr>
      </p:pic>
      <p:sp>
        <p:nvSpPr>
          <p:cNvPr id="3" name="TextBox 2">
            <a:extLst>
              <a:ext uri="{FF2B5EF4-FFF2-40B4-BE49-F238E27FC236}">
                <a16:creationId xmlns:a16="http://schemas.microsoft.com/office/drawing/2014/main" id="{2C73C12C-F8D8-637E-B789-4A7062784D52}"/>
              </a:ext>
            </a:extLst>
          </p:cNvPr>
          <p:cNvSpPr txBox="1"/>
          <p:nvPr/>
        </p:nvSpPr>
        <p:spPr>
          <a:xfrm>
            <a:off x="2072640" y="4463048"/>
            <a:ext cx="954107" cy="369332"/>
          </a:xfrm>
          <a:prstGeom prst="rect">
            <a:avLst/>
          </a:prstGeom>
          <a:noFill/>
        </p:spPr>
        <p:txBody>
          <a:bodyPr wrap="none" rtlCol="0">
            <a:spAutoFit/>
          </a:bodyPr>
          <a:lstStyle/>
          <a:p>
            <a:r>
              <a:rPr lang="en-GB" dirty="0"/>
              <a:t>100 mg</a:t>
            </a:r>
          </a:p>
        </p:txBody>
      </p:sp>
      <p:sp>
        <p:nvSpPr>
          <p:cNvPr id="4" name="TextBox 3">
            <a:extLst>
              <a:ext uri="{FF2B5EF4-FFF2-40B4-BE49-F238E27FC236}">
                <a16:creationId xmlns:a16="http://schemas.microsoft.com/office/drawing/2014/main" id="{01C0C309-5CA4-C9E2-1499-5D595DD0E8EE}"/>
              </a:ext>
            </a:extLst>
          </p:cNvPr>
          <p:cNvSpPr txBox="1"/>
          <p:nvPr/>
        </p:nvSpPr>
        <p:spPr>
          <a:xfrm>
            <a:off x="2105964" y="5523752"/>
            <a:ext cx="838691" cy="369332"/>
          </a:xfrm>
          <a:prstGeom prst="rect">
            <a:avLst/>
          </a:prstGeom>
          <a:noFill/>
        </p:spPr>
        <p:txBody>
          <a:bodyPr wrap="none" rtlCol="0">
            <a:spAutoFit/>
          </a:bodyPr>
          <a:lstStyle/>
          <a:p>
            <a:pPr algn="ctr"/>
            <a:r>
              <a:rPr lang="en-GB" dirty="0"/>
              <a:t>7.76%</a:t>
            </a:r>
          </a:p>
        </p:txBody>
      </p:sp>
      <p:sp>
        <p:nvSpPr>
          <p:cNvPr id="5" name="TextBox 4">
            <a:extLst>
              <a:ext uri="{FF2B5EF4-FFF2-40B4-BE49-F238E27FC236}">
                <a16:creationId xmlns:a16="http://schemas.microsoft.com/office/drawing/2014/main" id="{BEE985FA-D377-8DF7-CCA0-3A7D7C174BD8}"/>
              </a:ext>
            </a:extLst>
          </p:cNvPr>
          <p:cNvSpPr txBox="1"/>
          <p:nvPr/>
        </p:nvSpPr>
        <p:spPr>
          <a:xfrm>
            <a:off x="4361038" y="3694952"/>
            <a:ext cx="1351652" cy="369332"/>
          </a:xfrm>
          <a:prstGeom prst="rect">
            <a:avLst/>
          </a:prstGeom>
          <a:noFill/>
        </p:spPr>
        <p:txBody>
          <a:bodyPr wrap="none" rtlCol="0">
            <a:spAutoFit/>
          </a:bodyPr>
          <a:lstStyle/>
          <a:p>
            <a:pPr algn="ctr"/>
            <a:r>
              <a:rPr lang="en-GB" dirty="0"/>
              <a:t>91.8% m/m</a:t>
            </a:r>
          </a:p>
        </p:txBody>
      </p:sp>
      <p:sp>
        <p:nvSpPr>
          <p:cNvPr id="8" name="TextBox 7">
            <a:extLst>
              <a:ext uri="{FF2B5EF4-FFF2-40B4-BE49-F238E27FC236}">
                <a16:creationId xmlns:a16="http://schemas.microsoft.com/office/drawing/2014/main" id="{1144AD71-AF65-DED5-B2A9-7050F83975AF}"/>
              </a:ext>
            </a:extLst>
          </p:cNvPr>
          <p:cNvSpPr txBox="1"/>
          <p:nvPr/>
        </p:nvSpPr>
        <p:spPr>
          <a:xfrm>
            <a:off x="4181504" y="5401832"/>
            <a:ext cx="1710725" cy="646331"/>
          </a:xfrm>
          <a:prstGeom prst="rect">
            <a:avLst/>
          </a:prstGeom>
          <a:noFill/>
        </p:spPr>
        <p:txBody>
          <a:bodyPr wrap="none" rtlCol="0">
            <a:spAutoFit/>
          </a:bodyPr>
          <a:lstStyle/>
          <a:p>
            <a:pPr algn="ctr"/>
            <a:r>
              <a:rPr lang="en-GB" dirty="0"/>
              <a:t>100 x 7.76/100</a:t>
            </a:r>
          </a:p>
          <a:p>
            <a:pPr algn="ctr"/>
            <a:r>
              <a:rPr lang="en-GB" dirty="0"/>
              <a:t>= 7.76 mg</a:t>
            </a:r>
          </a:p>
        </p:txBody>
      </p:sp>
      <p:sp>
        <p:nvSpPr>
          <p:cNvPr id="9" name="TextBox 8">
            <a:extLst>
              <a:ext uri="{FF2B5EF4-FFF2-40B4-BE49-F238E27FC236}">
                <a16:creationId xmlns:a16="http://schemas.microsoft.com/office/drawing/2014/main" id="{D3991122-7306-6A2D-D417-972119ACFDE4}"/>
              </a:ext>
            </a:extLst>
          </p:cNvPr>
          <p:cNvSpPr txBox="1"/>
          <p:nvPr/>
        </p:nvSpPr>
        <p:spPr>
          <a:xfrm>
            <a:off x="7119638" y="5401832"/>
            <a:ext cx="1345240" cy="646331"/>
          </a:xfrm>
          <a:prstGeom prst="rect">
            <a:avLst/>
          </a:prstGeom>
          <a:noFill/>
        </p:spPr>
        <p:txBody>
          <a:bodyPr wrap="none" rtlCol="0">
            <a:spAutoFit/>
          </a:bodyPr>
          <a:lstStyle/>
          <a:p>
            <a:pPr algn="ctr"/>
            <a:r>
              <a:rPr lang="en-GB" dirty="0"/>
              <a:t>100 - 7.76</a:t>
            </a:r>
          </a:p>
          <a:p>
            <a:pPr algn="ctr"/>
            <a:r>
              <a:rPr lang="en-GB" dirty="0"/>
              <a:t>= 92.24 mg</a:t>
            </a:r>
          </a:p>
        </p:txBody>
      </p:sp>
      <p:sp>
        <p:nvSpPr>
          <p:cNvPr id="10" name="TextBox 9">
            <a:extLst>
              <a:ext uri="{FF2B5EF4-FFF2-40B4-BE49-F238E27FC236}">
                <a16:creationId xmlns:a16="http://schemas.microsoft.com/office/drawing/2014/main" id="{57888726-1DA0-F269-5DF5-0F168B6E2DEA}"/>
              </a:ext>
            </a:extLst>
          </p:cNvPr>
          <p:cNvSpPr txBox="1"/>
          <p:nvPr/>
        </p:nvSpPr>
        <p:spPr>
          <a:xfrm>
            <a:off x="7270954" y="3950984"/>
            <a:ext cx="1018228" cy="369332"/>
          </a:xfrm>
          <a:prstGeom prst="rect">
            <a:avLst/>
          </a:prstGeom>
          <a:noFill/>
        </p:spPr>
        <p:txBody>
          <a:bodyPr wrap="none" rtlCol="0">
            <a:spAutoFit/>
          </a:bodyPr>
          <a:lstStyle/>
          <a:p>
            <a:pPr algn="ctr"/>
            <a:r>
              <a:rPr lang="en-GB" dirty="0"/>
              <a:t>91.8 mg</a:t>
            </a:r>
          </a:p>
        </p:txBody>
      </p:sp>
      <p:sp>
        <p:nvSpPr>
          <p:cNvPr id="11" name="TextBox 10">
            <a:extLst>
              <a:ext uri="{FF2B5EF4-FFF2-40B4-BE49-F238E27FC236}">
                <a16:creationId xmlns:a16="http://schemas.microsoft.com/office/drawing/2014/main" id="{6400CCE7-1AB5-0838-2CA0-44BA5E9C0FA5}"/>
              </a:ext>
            </a:extLst>
          </p:cNvPr>
          <p:cNvSpPr txBox="1"/>
          <p:nvPr/>
        </p:nvSpPr>
        <p:spPr>
          <a:xfrm>
            <a:off x="9417209" y="4719080"/>
            <a:ext cx="2236510" cy="646331"/>
          </a:xfrm>
          <a:prstGeom prst="rect">
            <a:avLst/>
          </a:prstGeom>
          <a:noFill/>
        </p:spPr>
        <p:txBody>
          <a:bodyPr wrap="none" rtlCol="0">
            <a:spAutoFit/>
          </a:bodyPr>
          <a:lstStyle/>
          <a:p>
            <a:pPr algn="ctr"/>
            <a:r>
              <a:rPr lang="en-GB" dirty="0"/>
              <a:t>91.8 / 92.24 x 100%</a:t>
            </a:r>
          </a:p>
          <a:p>
            <a:pPr algn="ctr"/>
            <a:r>
              <a:rPr lang="en-GB" dirty="0"/>
              <a:t>= 99.5% m/m</a:t>
            </a:r>
          </a:p>
        </p:txBody>
      </p:sp>
      <p:sp>
        <p:nvSpPr>
          <p:cNvPr id="12" name="TextBox 11">
            <a:extLst>
              <a:ext uri="{FF2B5EF4-FFF2-40B4-BE49-F238E27FC236}">
                <a16:creationId xmlns:a16="http://schemas.microsoft.com/office/drawing/2014/main" id="{BAD5C2BF-6E5E-59F4-77B5-AD01200DE0A1}"/>
              </a:ext>
            </a:extLst>
          </p:cNvPr>
          <p:cNvSpPr txBox="1"/>
          <p:nvPr/>
        </p:nvSpPr>
        <p:spPr>
          <a:xfrm>
            <a:off x="5517137" y="6302849"/>
            <a:ext cx="6473439" cy="400110"/>
          </a:xfrm>
          <a:prstGeom prst="rect">
            <a:avLst/>
          </a:prstGeom>
          <a:solidFill>
            <a:schemeClr val="accent4"/>
          </a:solidFill>
        </p:spPr>
        <p:txBody>
          <a:bodyPr wrap="none" rtlCol="0">
            <a:spAutoFit/>
          </a:bodyPr>
          <a:lstStyle/>
          <a:p>
            <a:r>
              <a:rPr lang="en-GB" sz="2000" b="1" dirty="0"/>
              <a:t>Conclusion: Sample complies with BP specification</a:t>
            </a:r>
          </a:p>
        </p:txBody>
      </p:sp>
    </p:spTree>
    <p:extLst>
      <p:ext uri="{BB962C8B-B14F-4D97-AF65-F5344CB8AC3E}">
        <p14:creationId xmlns:p14="http://schemas.microsoft.com/office/powerpoint/2010/main" val="1902965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6BBC-FC6C-DC43-8A52-10AEF8F60533}"/>
              </a:ext>
            </a:extLst>
          </p:cNvPr>
          <p:cNvSpPr>
            <a:spLocks noGrp="1"/>
          </p:cNvSpPr>
          <p:nvPr>
            <p:ph type="title"/>
          </p:nvPr>
        </p:nvSpPr>
        <p:spPr/>
        <p:txBody>
          <a:bodyPr/>
          <a:lstStyle/>
          <a:p>
            <a:r>
              <a:rPr lang="en-GB" dirty="0"/>
              <a:t>Summary: ‘Classical’ analytical chemistry</a:t>
            </a:r>
          </a:p>
        </p:txBody>
      </p:sp>
      <p:sp>
        <p:nvSpPr>
          <p:cNvPr id="3" name="Table Placeholder 2">
            <a:extLst>
              <a:ext uri="{FF2B5EF4-FFF2-40B4-BE49-F238E27FC236}">
                <a16:creationId xmlns:a16="http://schemas.microsoft.com/office/drawing/2014/main" id="{95B7DF38-E787-2777-74BC-9289C334C1E1}"/>
              </a:ext>
            </a:extLst>
          </p:cNvPr>
          <p:cNvSpPr>
            <a:spLocks noGrp="1"/>
          </p:cNvSpPr>
          <p:nvPr>
            <p:ph type="tbl" sz="quarter" idx="10"/>
          </p:nvPr>
        </p:nvSpPr>
        <p:spPr/>
        <p:txBody>
          <a:bodyPr/>
          <a:lstStyle/>
          <a:p>
            <a:r>
              <a:rPr lang="en-GB" dirty="0"/>
              <a:t>When do we use classical analytical techniques?</a:t>
            </a:r>
          </a:p>
          <a:p>
            <a:pPr marL="285750" indent="-285750">
              <a:buFont typeface="Arial" panose="020B0604020202020204" pitchFamily="34" charset="0"/>
              <a:buChar char="•"/>
            </a:pPr>
            <a:r>
              <a:rPr lang="en-GB" dirty="0"/>
              <a:t>Used for some drug substances and excipients</a:t>
            </a:r>
          </a:p>
          <a:p>
            <a:pPr marL="285750" indent="-285750">
              <a:buFont typeface="Arial" panose="020B0604020202020204" pitchFamily="34" charset="0"/>
              <a:buChar char="•"/>
            </a:pPr>
            <a:r>
              <a:rPr lang="en-GB" dirty="0"/>
              <a:t>Used for some drugs in medicines – tablets, capsules, suspensions, etc</a:t>
            </a:r>
          </a:p>
          <a:p>
            <a:pPr marL="285750" indent="-285750">
              <a:buFont typeface="Arial" panose="020B0604020202020204" pitchFamily="34" charset="0"/>
              <a:buChar char="•"/>
            </a:pPr>
            <a:r>
              <a:rPr lang="en-GB" dirty="0"/>
              <a:t>Used especially when instrumental methods may be unsuitable (e.g. lack of UV absorbance)</a:t>
            </a:r>
          </a:p>
          <a:p>
            <a:pPr marL="285750" indent="-285750">
              <a:buFont typeface="Arial" panose="020B0604020202020204" pitchFamily="34" charset="0"/>
              <a:buChar char="•"/>
            </a:pPr>
            <a:r>
              <a:rPr lang="en-GB" dirty="0"/>
              <a:t>Used for standardising raw materials</a:t>
            </a:r>
          </a:p>
        </p:txBody>
      </p:sp>
    </p:spTree>
    <p:extLst>
      <p:ext uri="{BB962C8B-B14F-4D97-AF65-F5344CB8AC3E}">
        <p14:creationId xmlns:p14="http://schemas.microsoft.com/office/powerpoint/2010/main" val="4259653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D329-0898-05FD-70F4-0A1A2CE13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CFA81-F734-0D51-4AA9-7DAD0DBED770}"/>
              </a:ext>
            </a:extLst>
          </p:cNvPr>
          <p:cNvSpPr>
            <a:spLocks noGrp="1"/>
          </p:cNvSpPr>
          <p:nvPr>
            <p:ph type="title"/>
          </p:nvPr>
        </p:nvSpPr>
        <p:spPr/>
        <p:txBody>
          <a:bodyPr/>
          <a:lstStyle/>
          <a:p>
            <a:r>
              <a:rPr lang="en-GB" dirty="0"/>
              <a:t>Summary: ‘Classical’ analytical chemistry</a:t>
            </a:r>
          </a:p>
        </p:txBody>
      </p:sp>
      <p:sp>
        <p:nvSpPr>
          <p:cNvPr id="3" name="Table Placeholder 2">
            <a:extLst>
              <a:ext uri="{FF2B5EF4-FFF2-40B4-BE49-F238E27FC236}">
                <a16:creationId xmlns:a16="http://schemas.microsoft.com/office/drawing/2014/main" id="{0DC42BAF-FB80-CD49-5CD8-2C41724D9420}"/>
              </a:ext>
            </a:extLst>
          </p:cNvPr>
          <p:cNvSpPr>
            <a:spLocks noGrp="1"/>
          </p:cNvSpPr>
          <p:nvPr>
            <p:ph type="tbl" sz="quarter" idx="10"/>
          </p:nvPr>
        </p:nvSpPr>
        <p:spPr/>
        <p:txBody>
          <a:bodyPr/>
          <a:lstStyle/>
          <a:p>
            <a:r>
              <a:rPr lang="en-GB" b="1" dirty="0"/>
              <a:t>Advantages</a:t>
            </a:r>
          </a:p>
          <a:p>
            <a:pPr marL="285750" indent="-285750">
              <a:buFont typeface="Arial" panose="020B0604020202020204" pitchFamily="34" charset="0"/>
              <a:buChar char="•"/>
            </a:pPr>
            <a:r>
              <a:rPr lang="en-GB" dirty="0"/>
              <a:t>Robust methods that can be carried out very precisely</a:t>
            </a:r>
          </a:p>
          <a:p>
            <a:pPr marL="285750" indent="-285750">
              <a:buFont typeface="Arial" panose="020B0604020202020204" pitchFamily="34" charset="0"/>
              <a:buChar char="•"/>
            </a:pPr>
            <a:r>
              <a:rPr lang="en-GB" dirty="0"/>
              <a:t>Automation is possible (e.g. automatic titrators etc.)</a:t>
            </a:r>
          </a:p>
          <a:p>
            <a:pPr marL="285750" indent="-285750">
              <a:buFont typeface="Arial" panose="020B0604020202020204" pitchFamily="34" charset="0"/>
              <a:buChar char="•"/>
            </a:pPr>
            <a:r>
              <a:rPr lang="en-GB" dirty="0"/>
              <a:t>Fairly cheap, little specialist equipment is required</a:t>
            </a:r>
          </a:p>
          <a:p>
            <a:pPr marL="285750" indent="-285750">
              <a:buFont typeface="Arial" panose="020B0604020202020204" pitchFamily="34" charset="0"/>
              <a:buChar char="•"/>
            </a:pPr>
            <a:r>
              <a:rPr lang="en-GB" dirty="0"/>
              <a:t>The methods do not depend on instrument calibration (but they do require pure substances for standards…)</a:t>
            </a:r>
          </a:p>
          <a:p>
            <a:endParaRPr lang="en-GB" dirty="0"/>
          </a:p>
          <a:p>
            <a:r>
              <a:rPr lang="en-GB" b="1" dirty="0"/>
              <a:t>Disadvantages</a:t>
            </a:r>
          </a:p>
          <a:p>
            <a:pPr marL="285750" indent="-285750">
              <a:buFont typeface="Arial" panose="020B0604020202020204" pitchFamily="34" charset="0"/>
              <a:buChar char="•"/>
            </a:pPr>
            <a:r>
              <a:rPr lang="en-GB" dirty="0"/>
              <a:t>Require relatively large amounts of sample</a:t>
            </a:r>
          </a:p>
          <a:p>
            <a:pPr marL="285750" indent="-285750">
              <a:buFont typeface="Arial" panose="020B0604020202020204" pitchFamily="34" charset="0"/>
              <a:buChar char="•"/>
            </a:pPr>
            <a:r>
              <a:rPr lang="en-GB" dirty="0"/>
              <a:t>Procedures are time consuming and depend upon the skill of the analyst</a:t>
            </a:r>
          </a:p>
          <a:p>
            <a:pPr marL="285750" indent="-285750">
              <a:buFont typeface="Arial" panose="020B0604020202020204" pitchFamily="34" charset="0"/>
              <a:buChar char="•"/>
            </a:pPr>
            <a:r>
              <a:rPr lang="en-GB" dirty="0"/>
              <a:t>Methods can be relatively non-selective and are often unsuitable for complex mixtures of ingredients in formulated medicines</a:t>
            </a:r>
          </a:p>
          <a:p>
            <a:pPr marL="285750" indent="-285750">
              <a:buFont typeface="Arial" panose="020B0604020202020204" pitchFamily="34" charset="0"/>
              <a:buChar char="•"/>
            </a:pPr>
            <a:r>
              <a:rPr lang="en-GB" dirty="0"/>
              <a:t>Chemical reactions that are exploited for these procedures need to be proceed rapidly to completion</a:t>
            </a:r>
          </a:p>
        </p:txBody>
      </p:sp>
    </p:spTree>
    <p:extLst>
      <p:ext uri="{BB962C8B-B14F-4D97-AF65-F5344CB8AC3E}">
        <p14:creationId xmlns:p14="http://schemas.microsoft.com/office/powerpoint/2010/main" val="1527998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UCL">
  <a:themeElements>
    <a:clrScheme name="Custom 5">
      <a:dk1>
        <a:srgbClr val="000000"/>
      </a:dk1>
      <a:lt1>
        <a:srgbClr val="FFFFFF"/>
      </a:lt1>
      <a:dk2>
        <a:srgbClr val="666666"/>
      </a:dk2>
      <a:lt2>
        <a:srgbClr val="999999"/>
      </a:lt2>
      <a:accent1>
        <a:srgbClr val="500778"/>
      </a:accent1>
      <a:accent2>
        <a:srgbClr val="51C151"/>
      </a:accent2>
      <a:accent3>
        <a:srgbClr val="34C6C6"/>
      </a:accent3>
      <a:accent4>
        <a:srgbClr val="FFCA36"/>
      </a:accent4>
      <a:accent5>
        <a:srgbClr val="AC1459"/>
      </a:accent5>
      <a:accent6>
        <a:srgbClr val="002248"/>
      </a:accent6>
      <a:hlink>
        <a:srgbClr val="0D68CF"/>
      </a:hlink>
      <a:folHlink>
        <a:srgbClr val="00408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Slide-Master-Logo-2025v1" id="{E61EC688-CC96-F64C-BF98-D80FDD4B89BF}" vid="{AA0D24D2-7BC4-2A41-8891-3E8A4D2E5A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04c71da7-c3ab-4f91-8d8f-982f2058b26b">
      <UserInfo>
        <DisplayName>Mann, Georgia</DisplayName>
        <AccountId>121</AccountId>
        <AccountType/>
      </UserInfo>
      <UserInfo>
        <DisplayName>Pateman, Matt</DisplayName>
        <AccountId>81</AccountId>
        <AccountType/>
      </UserInfo>
      <UserInfo>
        <DisplayName>Hobbs, Rachel</DisplayName>
        <AccountId>17</AccountId>
        <AccountType/>
      </UserInfo>
      <UserInfo>
        <DisplayName>George, Clare</DisplayName>
        <AccountId>53</AccountId>
        <AccountType/>
      </UserInfo>
      <UserInfo>
        <DisplayName>Lamping, Katja</DisplayName>
        <AccountId>106</AccountId>
        <AccountType/>
      </UserInfo>
      <UserInfo>
        <DisplayName>Mullen, Sarah</DisplayName>
        <AccountId>464</AccountId>
        <AccountType/>
      </UserInfo>
      <UserInfo>
        <DisplayName>Rushworth, Fiona</DisplayName>
        <AccountId>465</AccountId>
        <AccountType/>
      </UserInfo>
      <UserInfo>
        <DisplayName>Azami, Lee-aye</DisplayName>
        <AccountId>100</AccountId>
        <AccountType/>
      </UserInfo>
      <UserInfo>
        <DisplayName>Brannan, Vicky</DisplayName>
        <AccountId>13</AccountId>
        <AccountType/>
      </UserInfo>
      <UserInfo>
        <DisplayName>Elaine Perks</DisplayName>
        <AccountId>472</AccountId>
        <AccountType/>
      </UserInfo>
    </SharedWithUsers>
    <TaxCatchAll xmlns="04c71da7-c3ab-4f91-8d8f-982f2058b26b" xsi:nil="true"/>
    <lcf76f155ced4ddcb4097134ff3c332f xmlns="dd120526-66f7-4923-abb7-13eb84d5b53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E176C8246E8E4A9B2C1F950DA6569A" ma:contentTypeVersion="18" ma:contentTypeDescription="Create a new document." ma:contentTypeScope="" ma:versionID="d7f9a4ab12517de9ed7df6bafa582ff5">
  <xsd:schema xmlns:xsd="http://www.w3.org/2001/XMLSchema" xmlns:xs="http://www.w3.org/2001/XMLSchema" xmlns:p="http://schemas.microsoft.com/office/2006/metadata/properties" xmlns:ns2="dd120526-66f7-4923-abb7-13eb84d5b53e" xmlns:ns3="04c71da7-c3ab-4f91-8d8f-982f2058b26b" targetNamespace="http://schemas.microsoft.com/office/2006/metadata/properties" ma:root="true" ma:fieldsID="abcb0ff99faf2e12037cda31af1a83d4" ns2:_="" ns3:_="">
    <xsd:import namespace="dd120526-66f7-4923-abb7-13eb84d5b53e"/>
    <xsd:import namespace="04c71da7-c3ab-4f91-8d8f-982f2058b26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120526-66f7-4923-abb7-13eb84d5b5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579a89b1-2c2c-4f7f-9bd7-7914fb13a02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4c71da7-c3ab-4f91-8d8f-982f2058b26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e7e279a-9e58-4ae6-8dbc-59eb2ee4a2b1}" ma:internalName="TaxCatchAll" ma:showField="CatchAllData" ma:web="04c71da7-c3ab-4f91-8d8f-982f2058b2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12442-8805-4DD5-A5C3-AECEBABBE777}">
  <ds:schemaRefs>
    <ds:schemaRef ds:uri="04c71da7-c3ab-4f91-8d8f-982f2058b26b"/>
    <ds:schemaRef ds:uri="dd120526-66f7-4923-abb7-13eb84d5b5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A6A812B-A678-45E2-9A1E-6AC3DF139168}">
  <ds:schemaRefs>
    <ds:schemaRef ds:uri="http://schemas.microsoft.com/sharepoint/v3/contenttype/forms"/>
  </ds:schemaRefs>
</ds:datastoreItem>
</file>

<file path=customXml/itemProps3.xml><?xml version="1.0" encoding="utf-8"?>
<ds:datastoreItem xmlns:ds="http://schemas.openxmlformats.org/officeDocument/2006/customXml" ds:itemID="{CD48F295-730C-4C4B-A258-4DDB4F5E0F6D}">
  <ds:schemaRefs>
    <ds:schemaRef ds:uri="04c71da7-c3ab-4f91-8d8f-982f2058b26b"/>
    <ds:schemaRef ds:uri="dd120526-66f7-4923-abb7-13eb84d5b5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UCL</Template>
  <TotalTime>6571</TotalTime>
  <Words>10548</Words>
  <Application>Microsoft Macintosh PowerPoint</Application>
  <PresentationFormat>Widescreen</PresentationFormat>
  <Paragraphs>1339</Paragraphs>
  <Slides>117</Slides>
  <Notes>22</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117</vt:i4>
      </vt:variant>
    </vt:vector>
  </HeadingPairs>
  <TitlesOfParts>
    <vt:vector size="127" baseType="lpstr">
      <vt:lpstr>Aptos</vt:lpstr>
      <vt:lpstr>Arial</vt:lpstr>
      <vt:lpstr>Calibri</vt:lpstr>
      <vt:lpstr>Cambria Math</vt:lpstr>
      <vt:lpstr>Symbol</vt:lpstr>
      <vt:lpstr>Times New Roman</vt:lpstr>
      <vt:lpstr>Wingdings</vt:lpstr>
      <vt:lpstr>UCL</vt:lpstr>
      <vt:lpstr>CS ChemDraw Drawing</vt:lpstr>
      <vt:lpstr>ChemDraw_x64.Document.6.0</vt:lpstr>
      <vt:lpstr>PHAY0002 Stoichiometry</vt:lpstr>
      <vt:lpstr>Historical motivation</vt:lpstr>
      <vt:lpstr>Introduction and learning objectives</vt:lpstr>
      <vt:lpstr>Recommended reading and reference books</vt:lpstr>
      <vt:lpstr>Moles and Avogadro’s constant</vt:lpstr>
      <vt:lpstr>Calculation of amount of substance</vt:lpstr>
      <vt:lpstr>Calculation of amount of substance</vt:lpstr>
      <vt:lpstr>Calculations involving liquids</vt:lpstr>
      <vt:lpstr>Mentimeter</vt:lpstr>
      <vt:lpstr>Mentimeter: test your intuition…</vt:lpstr>
      <vt:lpstr>How to problem solve</vt:lpstr>
      <vt:lpstr>Precision, accuracy and significant figures</vt:lpstr>
      <vt:lpstr>Example: aspirin</vt:lpstr>
      <vt:lpstr>How do you create a plan?</vt:lpstr>
      <vt:lpstr>Example: aspirin</vt:lpstr>
      <vt:lpstr>Example: aspirin</vt:lpstr>
      <vt:lpstr>Example: water</vt:lpstr>
      <vt:lpstr>Example: water</vt:lpstr>
      <vt:lpstr>Concentration of solutions</vt:lpstr>
      <vt:lpstr>Example</vt:lpstr>
      <vt:lpstr>Example</vt:lpstr>
      <vt:lpstr>Molar concentrations and molarity</vt:lpstr>
      <vt:lpstr>Molar concentrations and molarity</vt:lpstr>
      <vt:lpstr>Example</vt:lpstr>
      <vt:lpstr>Example</vt:lpstr>
      <vt:lpstr>Intensive and extensive quantities</vt:lpstr>
      <vt:lpstr>Example: concentrations and amounts</vt:lpstr>
      <vt:lpstr>Example: concentrations and amounts</vt:lpstr>
      <vt:lpstr>Example: concentrations and mixtures</vt:lpstr>
      <vt:lpstr>Example: concentrations and mixtures</vt:lpstr>
      <vt:lpstr>Percentage concentrations</vt:lpstr>
      <vt:lpstr>Percentage concentrations</vt:lpstr>
      <vt:lpstr>Percentage concentrations</vt:lpstr>
      <vt:lpstr>Preparing solutions by parts</vt:lpstr>
      <vt:lpstr>Example: ethanol</vt:lpstr>
      <vt:lpstr>Example: ethanol</vt:lpstr>
      <vt:lpstr>Example: molar concentration of water</vt:lpstr>
      <vt:lpstr>Example: molar concentration of water</vt:lpstr>
      <vt:lpstr>Example: aspirin</vt:lpstr>
      <vt:lpstr>Example: aspirin</vt:lpstr>
      <vt:lpstr>PowerPoint Presentation</vt:lpstr>
      <vt:lpstr>Chemical reactions</vt:lpstr>
      <vt:lpstr>Stoichiometry of chemical reactions</vt:lpstr>
      <vt:lpstr>Product formation and chemical yield</vt:lpstr>
      <vt:lpstr>Product formation and chemical yield</vt:lpstr>
      <vt:lpstr>Calculating chemical yields</vt:lpstr>
      <vt:lpstr>Example: calculating yields</vt:lpstr>
      <vt:lpstr>Example: calculating yields</vt:lpstr>
      <vt:lpstr>Product formation and chemical yield</vt:lpstr>
      <vt:lpstr>Multistep procedures</vt:lpstr>
      <vt:lpstr>Chemical yield in multistep procedures</vt:lpstr>
      <vt:lpstr>Chemical yield in multistep procedures</vt:lpstr>
      <vt:lpstr>Chemical yield in multistep procedures</vt:lpstr>
      <vt:lpstr>Atom economy and sustainability in chemistry</vt:lpstr>
      <vt:lpstr>Example: synthesis of ibuprofen</vt:lpstr>
      <vt:lpstr>Example: synthesis of ibuprofen</vt:lpstr>
      <vt:lpstr>PHAY0002 Pharmaceutical Analysis</vt:lpstr>
      <vt:lpstr>Introduction and learning objectives</vt:lpstr>
      <vt:lpstr>Chemistry in pharmaceutical analysis</vt:lpstr>
      <vt:lpstr>Outline</vt:lpstr>
      <vt:lpstr>Outline</vt:lpstr>
      <vt:lpstr>Volumetric analysis – practical aspects</vt:lpstr>
      <vt:lpstr>Volumetric analysis – indicators</vt:lpstr>
      <vt:lpstr>Volumetric analysis – calculation principles</vt:lpstr>
      <vt:lpstr>Volumetric analysis – calculation principles</vt:lpstr>
      <vt:lpstr>Example: acid-base titration</vt:lpstr>
      <vt:lpstr>Example: acid-base titration</vt:lpstr>
      <vt:lpstr>Example: acid-base titration</vt:lpstr>
      <vt:lpstr>Example: acid-base titration</vt:lpstr>
      <vt:lpstr>Volumetric analysis – limitations</vt:lpstr>
      <vt:lpstr>The British Pharmacopoeia  </vt:lpstr>
      <vt:lpstr>Standard solutions</vt:lpstr>
      <vt:lpstr>Primary standards</vt:lpstr>
      <vt:lpstr>Examples of primary standards in the BP</vt:lpstr>
      <vt:lpstr>Secondary standards</vt:lpstr>
      <vt:lpstr>Volumetric analysis – indirect ‘back’ titrations</vt:lpstr>
      <vt:lpstr>Volumetric analysis – indirect ‘back’ titrations</vt:lpstr>
      <vt:lpstr>Example: Determination of ephedrine</vt:lpstr>
      <vt:lpstr>Example: Determination of ephedrine</vt:lpstr>
      <vt:lpstr>Example: Determination of ephedrine</vt:lpstr>
      <vt:lpstr>Example: Determination of ephedrine</vt:lpstr>
      <vt:lpstr>Example: Determination of ephedrine</vt:lpstr>
      <vt:lpstr>Example: Determination of ephedrine</vt:lpstr>
      <vt:lpstr>Volumetric analysis – indirect ‘back’ titrations</vt:lpstr>
      <vt:lpstr>What if one concentration is unknown?</vt:lpstr>
      <vt:lpstr>Volumetric analysis – blank titrations</vt:lpstr>
      <vt:lpstr>Volumetric analysis – blank titrations</vt:lpstr>
      <vt:lpstr>Example: ephedrine again</vt:lpstr>
      <vt:lpstr>Example: ephedrine again</vt:lpstr>
      <vt:lpstr>Example: ephedrine again</vt:lpstr>
      <vt:lpstr>Example: ephedrine again</vt:lpstr>
      <vt:lpstr>Step 1: Blank titration</vt:lpstr>
      <vt:lpstr>Step 2: Back titration</vt:lpstr>
      <vt:lpstr>Step 3: Complete the calculation</vt:lpstr>
      <vt:lpstr>Acidometric and alkalimetric titrations</vt:lpstr>
      <vt:lpstr>Acidometric and alkalimetric titrations</vt:lpstr>
      <vt:lpstr>Indicators for acid–base titrations</vt:lpstr>
      <vt:lpstr>Indicators for acid–base titrations</vt:lpstr>
      <vt:lpstr>Non-aqueous titrations</vt:lpstr>
      <vt:lpstr>Non-aqueous titrations – example</vt:lpstr>
      <vt:lpstr>Non-aqueous titrations</vt:lpstr>
      <vt:lpstr>Other types of reaction – redox titrations</vt:lpstr>
      <vt:lpstr>Redox – potassium permanganate (KMnO4)</vt:lpstr>
      <vt:lpstr>Example – potassium permanganate (KMnO4)</vt:lpstr>
      <vt:lpstr>Example – sodium thiosulphate (Na2S2O3)</vt:lpstr>
      <vt:lpstr>Complexometric titrations</vt:lpstr>
      <vt:lpstr>Precipitation titrations</vt:lpstr>
      <vt:lpstr>Volumetric analysis – conversion factors</vt:lpstr>
      <vt:lpstr>Example: salicylic acid</vt:lpstr>
      <vt:lpstr>Example: salicylic acid</vt:lpstr>
      <vt:lpstr>Gravimetric analysis</vt:lpstr>
      <vt:lpstr>Gravimetric analysis: loss on drying</vt:lpstr>
      <vt:lpstr>Example</vt:lpstr>
      <vt:lpstr>Example</vt:lpstr>
      <vt:lpstr>Example</vt:lpstr>
      <vt:lpstr>Summary: ‘Classical’ analytical chemistry</vt:lpstr>
      <vt:lpstr>Summary: ‘Classical’ analytical chemistry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 www</dc:creator>
  <cp:keywords/>
  <dc:description/>
  <cp:lastModifiedBy>chris www</cp:lastModifiedBy>
  <cp:revision>50</cp:revision>
  <cp:lastPrinted>2025-09-08T10:55:51Z</cp:lastPrinted>
  <dcterms:created xsi:type="dcterms:W3CDTF">2025-09-05T13:32:00Z</dcterms:created>
  <dcterms:modified xsi:type="dcterms:W3CDTF">2026-10-08T12:38:52Z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0x010100B5E176C8246E8E4A9B2C1F950DA6569A</vt:lpwstr>
  </property>
</Properties>
</file>