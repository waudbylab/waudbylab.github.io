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5" r:id="rId1"/>
    <p:sldMasterId id="2147483760" r:id="rId2"/>
  </p:sldMasterIdLst>
  <p:notesMasterIdLst>
    <p:notesMasterId r:id="rId12"/>
  </p:notesMasterIdLst>
  <p:handoutMasterIdLst>
    <p:handoutMasterId r:id="rId13"/>
  </p:handoutMasterIdLst>
  <p:sldIdLst>
    <p:sldId id="261" r:id="rId3"/>
    <p:sldId id="262" r:id="rId4"/>
    <p:sldId id="263" r:id="rId5"/>
    <p:sldId id="264" r:id="rId6"/>
    <p:sldId id="265" r:id="rId7"/>
    <p:sldId id="266" r:id="rId8"/>
    <p:sldId id="267" r:id="rId9"/>
    <p:sldId id="269" r:id="rId10"/>
    <p:sldId id="270" r:id="rId11"/>
  </p:sldIdLst>
  <p:sldSz cx="12192000" cy="6858000"/>
  <p:notesSz cx="6858000" cy="9144000"/>
  <p:embeddedFontLst>
    <p:embeddedFont>
      <p:font typeface="UCL Sans" pitchFamily="2" charset="77"/>
      <p:regular r:id="rId14"/>
      <p:bold r:id="rId15"/>
      <p:italic r:id="rId16"/>
    </p:embeddedFont>
    <p:embeddedFont>
      <p:font typeface="UCL Sans SemiBold" pitchFamily="2" charset="77"/>
      <p:regular r:id="rId17"/>
      <p:bold r:id="rId18"/>
      <p:italic r:id="rId19"/>
      <p:boldItalic r:id="rId20"/>
    </p:embeddedFont>
  </p:embeddedFontLst>
  <p:defaultTextStyle>
    <a:defPPr>
      <a:defRPr lang="en-US"/>
    </a:defPPr>
    <a:lvl1pPr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521415D9-36F7-43E2-AB2F-B90AF26B5E84}">
      <p14:sectionLst xmlns:p14="http://schemas.microsoft.com/office/powerpoint/2010/main">
        <p14:section name="UCL How to use this template - TO BE DELETED" id="{30A6BDA0-26A2-F349-A9CC-BDD878FA4E0E}">
          <p14:sldIdLst/>
        </p14:section>
        <p14:section name="UCL Slides" id="{64BE57D8-B9E0-4D48-BBC7-659295F1B008}">
          <p14:sldIdLst>
            <p14:sldId id="261"/>
            <p14:sldId id="262"/>
            <p14:sldId id="263"/>
            <p14:sldId id="264"/>
            <p14:sldId id="265"/>
            <p14:sldId id="266"/>
            <p14:sldId id="267"/>
            <p14:sldId id="269"/>
            <p14:sldId id="27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E5C"/>
    <a:srgbClr val="5487FF"/>
    <a:srgbClr val="F56300"/>
    <a:srgbClr val="00A19D"/>
    <a:srgbClr val="ED357D"/>
    <a:srgbClr val="FAFAFA"/>
    <a:srgbClr val="3A1857"/>
    <a:srgbClr val="781C1C"/>
    <a:srgbClr val="57B444"/>
    <a:srgbClr val="9E1A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37"/>
    <p:restoredTop sz="86010"/>
  </p:normalViewPr>
  <p:slideViewPr>
    <p:cSldViewPr>
      <p:cViewPr varScale="1">
        <p:scale>
          <a:sx n="119" d="100"/>
          <a:sy n="119" d="100"/>
        </p:scale>
        <p:origin x="792" y="176"/>
      </p:cViewPr>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146" d="100"/>
          <a:sy n="146" d="100"/>
        </p:scale>
        <p:origin x="414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E67AAA-7040-8B0B-8122-DDA10601D6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447D23-0C3D-D7C0-6667-B2C6AA1EE4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1D93C3-F286-9C4B-98EC-FBB7F0C69BB5}" type="datetimeFigureOut">
              <a:rPr lang="en-US" smtClean="0"/>
              <a:t>10/23/26</a:t>
            </a:fld>
            <a:endParaRPr lang="en-US"/>
          </a:p>
        </p:txBody>
      </p:sp>
      <p:sp>
        <p:nvSpPr>
          <p:cNvPr id="4" name="Footer Placeholder 3">
            <a:extLst>
              <a:ext uri="{FF2B5EF4-FFF2-40B4-BE49-F238E27FC236}">
                <a16:creationId xmlns:a16="http://schemas.microsoft.com/office/drawing/2014/main" id="{9D20A97E-0F68-A874-C9FD-80673D508B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FBACC15-A2E2-9CD3-5B2C-9BBABA6B421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A0B70-CCF2-4444-BE01-B320D9CE5A46}" type="slidenum">
              <a:rPr lang="en-US" smtClean="0"/>
              <a:t>‹#›</a:t>
            </a:fld>
            <a:endParaRPr lang="en-US"/>
          </a:p>
        </p:txBody>
      </p:sp>
    </p:spTree>
    <p:extLst>
      <p:ext uri="{BB962C8B-B14F-4D97-AF65-F5344CB8AC3E}">
        <p14:creationId xmlns:p14="http://schemas.microsoft.com/office/powerpoint/2010/main" val="251416721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8A70A-88C5-8F48-B495-07492CFAC4E8}" type="datetimeFigureOut">
              <a:rPr lang="en-US" smtClean="0"/>
              <a:t>10/23/26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BC158-BB56-D04E-8DE4-3CEB786515BF}" type="slidenum">
              <a:rPr lang="en-US" smtClean="0"/>
              <a:t>‹#›</a:t>
            </a:fld>
            <a:endParaRPr lang="en-US"/>
          </a:p>
        </p:txBody>
      </p:sp>
    </p:spTree>
    <p:extLst>
      <p:ext uri="{BB962C8B-B14F-4D97-AF65-F5344CB8AC3E}">
        <p14:creationId xmlns:p14="http://schemas.microsoft.com/office/powerpoint/2010/main" val="28490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Cover title slide using a full UCL Dark Purple colour as the background. The slide layout includes a main heading in the top left corner. The presenters’ names and the date are shown in the bottom left corner. The UCL logo is positioned in the bottom right corner of the slide.</a:t>
            </a:r>
            <a:endParaRPr lang="en-US" dirty="0"/>
          </a:p>
        </p:txBody>
      </p:sp>
      <p:sp>
        <p:nvSpPr>
          <p:cNvPr id="4" name="Slide Number Placeholder 3"/>
          <p:cNvSpPr>
            <a:spLocks noGrp="1"/>
          </p:cNvSpPr>
          <p:nvPr>
            <p:ph type="sldNum" sz="quarter" idx="5"/>
          </p:nvPr>
        </p:nvSpPr>
        <p:spPr/>
        <p:txBody>
          <a:bodyPr/>
          <a:lstStyle/>
          <a:p>
            <a:fld id="{E28BC158-BB56-D04E-8DE4-3CEB786515BF}" type="slidenum">
              <a:rPr lang="en-US" smtClean="0"/>
              <a:t>1</a:t>
            </a:fld>
            <a:endParaRPr lang="en-US"/>
          </a:p>
        </p:txBody>
      </p:sp>
    </p:spTree>
    <p:extLst>
      <p:ext uri="{BB962C8B-B14F-4D97-AF65-F5344CB8AC3E}">
        <p14:creationId xmlns:p14="http://schemas.microsoft.com/office/powerpoint/2010/main" val="119100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28BC158-BB56-D04E-8DE4-3CEB786515BF}" type="slidenum">
              <a:rPr lang="en-US" smtClean="0"/>
              <a:t>2</a:t>
            </a:fld>
            <a:endParaRPr lang="en-US"/>
          </a:p>
        </p:txBody>
      </p:sp>
    </p:spTree>
    <p:extLst>
      <p:ext uri="{BB962C8B-B14F-4D97-AF65-F5344CB8AC3E}">
        <p14:creationId xmlns:p14="http://schemas.microsoft.com/office/powerpoint/2010/main" val="3153440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7A8F1-F52A-EE97-6339-ED2E4400A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50CC2-3C2E-E1CE-6FE1-6F1D851263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52F3E7-8963-9610-0E69-52F17369657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4D59E55-B31E-E03F-25D7-CBC5D622079B}"/>
              </a:ext>
            </a:extLst>
          </p:cNvPr>
          <p:cNvSpPr>
            <a:spLocks noGrp="1"/>
          </p:cNvSpPr>
          <p:nvPr>
            <p:ph type="sldNum" sz="quarter" idx="5"/>
          </p:nvPr>
        </p:nvSpPr>
        <p:spPr/>
        <p:txBody>
          <a:bodyPr/>
          <a:lstStyle/>
          <a:p>
            <a:fld id="{E28BC158-BB56-D04E-8DE4-3CEB786515BF}" type="slidenum">
              <a:rPr lang="en-US" smtClean="0"/>
              <a:t>3</a:t>
            </a:fld>
            <a:endParaRPr lang="en-US"/>
          </a:p>
        </p:txBody>
      </p:sp>
    </p:spTree>
    <p:extLst>
      <p:ext uri="{BB962C8B-B14F-4D97-AF65-F5344CB8AC3E}">
        <p14:creationId xmlns:p14="http://schemas.microsoft.com/office/powerpoint/2010/main" val="3655304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577CE-31FE-EA17-AE6C-64200BAD6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11BBD-3FDB-1438-ED4D-B92EF1795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72B2F-0C58-F2EB-88A7-6A979EF41A4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54967AF-D68F-B2C3-3F16-8D1966DA18B3}"/>
              </a:ext>
            </a:extLst>
          </p:cNvPr>
          <p:cNvSpPr>
            <a:spLocks noGrp="1"/>
          </p:cNvSpPr>
          <p:nvPr>
            <p:ph type="sldNum" sz="quarter" idx="5"/>
          </p:nvPr>
        </p:nvSpPr>
        <p:spPr/>
        <p:txBody>
          <a:bodyPr/>
          <a:lstStyle/>
          <a:p>
            <a:fld id="{E28BC158-BB56-D04E-8DE4-3CEB786515BF}" type="slidenum">
              <a:rPr lang="en-US" smtClean="0"/>
              <a:t>4</a:t>
            </a:fld>
            <a:endParaRPr lang="en-US"/>
          </a:p>
        </p:txBody>
      </p:sp>
    </p:spTree>
    <p:extLst>
      <p:ext uri="{BB962C8B-B14F-4D97-AF65-F5344CB8AC3E}">
        <p14:creationId xmlns:p14="http://schemas.microsoft.com/office/powerpoint/2010/main" val="2846808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28BC158-BB56-D04E-8DE4-3CEB786515BF}" type="slidenum">
              <a:rPr lang="en-US" smtClean="0"/>
              <a:t>9</a:t>
            </a:fld>
            <a:endParaRPr lang="en-US"/>
          </a:p>
        </p:txBody>
      </p:sp>
    </p:spTree>
    <p:extLst>
      <p:ext uri="{BB962C8B-B14F-4D97-AF65-F5344CB8AC3E}">
        <p14:creationId xmlns:p14="http://schemas.microsoft.com/office/powerpoint/2010/main" val="21170198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imple_Title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 </a:t>
            </a:r>
          </a:p>
        </p:txBody>
      </p:sp>
      <p:pic>
        <p:nvPicPr>
          <p:cNvPr id="9" name="Picture 8" descr="UCL logo, University College London">
            <a:extLst>
              <a:ext uri="{FF2B5EF4-FFF2-40B4-BE49-F238E27FC236}">
                <a16:creationId xmlns:a16="http://schemas.microsoft.com/office/drawing/2014/main" id="{D13C0C81-E6EF-C626-E359-2DC4637817EE}"/>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3370091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mple_Title full name logo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5" name="Text Placeholder 2">
            <a:extLst>
              <a:ext uri="{FF2B5EF4-FFF2-40B4-BE49-F238E27FC236}">
                <a16:creationId xmlns:a16="http://schemas.microsoft.com/office/drawing/2014/main" id="{964ED5BF-C3CF-4D38-BE90-EA0A915CFA6D}"/>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136BEE82-A57F-C035-F03D-A9DCB796DC7D}"/>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pic>
        <p:nvPicPr>
          <p:cNvPr id="9" name="Picture 8" descr="UCL logo, University College London">
            <a:extLst>
              <a:ext uri="{FF2B5EF4-FFF2-40B4-BE49-F238E27FC236}">
                <a16:creationId xmlns:a16="http://schemas.microsoft.com/office/drawing/2014/main" id="{806284FE-9AAB-111F-B7E9-0694AF943D76}"/>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974178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mple_Title  - Faculty, School Department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3627624"/>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135648"/>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sp>
        <p:nvSpPr>
          <p:cNvPr id="6" name="Text Placeholder 2">
            <a:extLst>
              <a:ext uri="{FF2B5EF4-FFF2-40B4-BE49-F238E27FC236}">
                <a16:creationId xmlns:a16="http://schemas.microsoft.com/office/drawing/2014/main" id="{9B210098-618B-3211-A070-0B31B3AB0AFB}"/>
              </a:ext>
            </a:extLst>
          </p:cNvPr>
          <p:cNvSpPr>
            <a:spLocks noGrp="1"/>
          </p:cNvSpPr>
          <p:nvPr>
            <p:ph type="body" idx="11" hasCustomPrompt="1"/>
          </p:nvPr>
        </p:nvSpPr>
        <p:spPr>
          <a:xfrm>
            <a:off x="2273719" y="5854933"/>
            <a:ext cx="6240809" cy="582780"/>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Type in your faculty/department/unit name here </a:t>
            </a:r>
          </a:p>
          <a:p>
            <a:pPr lvl="0"/>
            <a:r>
              <a:rPr lang="en-GB" dirty="0"/>
              <a:t>UCL Sans Regular 18pt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CL logo, University College London">
            <a:extLst>
              <a:ext uri="{FF2B5EF4-FFF2-40B4-BE49-F238E27FC236}">
                <a16:creationId xmlns:a16="http://schemas.microsoft.com/office/drawing/2014/main" id="{015A3936-D42C-5AA9-C95F-13B329034A6F}"/>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4107889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imple_Title -2-3 line heading and image">
    <p:bg>
      <p:bgPr>
        <a:solidFill>
          <a:schemeClr val="accent1"/>
        </a:soli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8531EDC-6E9D-171F-68E1-2D8DBFCDB40E}"/>
              </a:ext>
            </a:extLst>
          </p:cNvPr>
          <p:cNvSpPr>
            <a:spLocks noGrp="1"/>
          </p:cNvSpPr>
          <p:nvPr>
            <p:ph type="pic" idx="13"/>
          </p:nvPr>
        </p:nvSpPr>
        <p:spPr>
          <a:xfrm>
            <a:off x="1354138" y="2852936"/>
            <a:ext cx="10837862" cy="400506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UCL logo, University College London">
            <a:extLst>
              <a:ext uri="{FF2B5EF4-FFF2-40B4-BE49-F238E27FC236}">
                <a16:creationId xmlns:a16="http://schemas.microsoft.com/office/drawing/2014/main" id="{D18708AF-A3A2-2F68-E544-B6827803E2D8}"/>
              </a:ext>
            </a:extLst>
          </p:cNvPr>
          <p:cNvPicPr>
            <a:picLocks noGrp="1" noRot="1" noMove="1" noResize="1" noEditPoints="1" noAdjustHandles="1" noChangeArrowheads="1" noChangeShapeType="1" noCrop="1"/>
          </p:cNvPicPr>
          <p:nvPr userDrawn="1"/>
        </p:nvPicPr>
        <p:blipFill>
          <a:blip r:embed="rId2"/>
          <a:stretch>
            <a:fillRect/>
          </a:stretch>
        </p:blipFill>
        <p:spPr>
          <a:xfrm>
            <a:off x="8937625" y="5653541"/>
            <a:ext cx="2843213" cy="798059"/>
          </a:xfrm>
          <a:prstGeom prst="rect">
            <a:avLst/>
          </a:prstGeom>
        </p:spPr>
      </p:pic>
    </p:spTree>
    <p:extLst>
      <p:ext uri="{BB962C8B-B14F-4D97-AF65-F5344CB8AC3E}">
        <p14:creationId xmlns:p14="http://schemas.microsoft.com/office/powerpoint/2010/main" val="2556291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mple_Divider1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409575"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409575"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409575"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5145088"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pic>
        <p:nvPicPr>
          <p:cNvPr id="3" name="Picture 2">
            <a:extLst>
              <a:ext uri="{FF2B5EF4-FFF2-40B4-BE49-F238E27FC236}">
                <a16:creationId xmlns:a16="http://schemas.microsoft.com/office/drawing/2014/main" id="{C3458C44-E5EC-6C0F-07EE-14F8EFD8519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823335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imple_Divider2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5735960"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5735960"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5735960"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0"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pic>
        <p:nvPicPr>
          <p:cNvPr id="3" name="Picture 2">
            <a:extLst>
              <a:ext uri="{FF2B5EF4-FFF2-40B4-BE49-F238E27FC236}">
                <a16:creationId xmlns:a16="http://schemas.microsoft.com/office/drawing/2014/main" id="{1E18122F-70D4-67D5-8E4D-F01945D7B59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911210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_Content – 1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7583834"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9" name="Content Placeholder">
            <a:extLst>
              <a:ext uri="{FF2B5EF4-FFF2-40B4-BE49-F238E27FC236}">
                <a16:creationId xmlns:a16="http://schemas.microsoft.com/office/drawing/2014/main" id="{56CD648F-431D-5F73-408C-9A9A725008CE}"/>
              </a:ext>
            </a:extLst>
          </p:cNvPr>
          <p:cNvSpPr>
            <a:spLocks noGrp="1"/>
          </p:cNvSpPr>
          <p:nvPr>
            <p:ph idx="1" hasCustomPrompt="1"/>
          </p:nvPr>
        </p:nvSpPr>
        <p:spPr>
          <a:xfrm>
            <a:off x="418539" y="1916826"/>
            <a:ext cx="7572936" cy="3758834"/>
          </a:xfrm>
          <a:prstGeom prst="rect">
            <a:avLst/>
          </a:prstGeom>
        </p:spPr>
        <p:txBody>
          <a:bodyPr/>
          <a:lstStyle>
            <a:lvl1pPr>
              <a:buNone/>
              <a:defRPr sz="1800"/>
            </a:lvl1pPr>
          </a:lstStyle>
          <a:p>
            <a:pPr lvl="0"/>
            <a:r>
              <a:rPr lang="en-GB" dirty="0"/>
              <a:t>Space for graphs, images, charts, videos</a:t>
            </a:r>
          </a:p>
        </p:txBody>
      </p:sp>
      <p:pic>
        <p:nvPicPr>
          <p:cNvPr id="7" name="Picture 6">
            <a:extLst>
              <a:ext uri="{FF2B5EF4-FFF2-40B4-BE49-F238E27FC236}">
                <a16:creationId xmlns:a16="http://schemas.microsoft.com/office/drawing/2014/main" id="{86D0927E-B17D-5AAB-7B62-A7F6E96D744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14353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mple_Content – 2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D734C2A9-9A5D-B1B8-4932-DFDAC1AE7955}"/>
              </a:ext>
            </a:extLst>
          </p:cNvPr>
          <p:cNvSpPr>
            <a:spLocks noGrp="1"/>
          </p:cNvSpPr>
          <p:nvPr>
            <p:ph type="body" sz="half" idx="2" hasCustomPrompt="1"/>
          </p:nvPr>
        </p:nvSpPr>
        <p:spPr>
          <a:xfrm>
            <a:off x="409575" y="421180"/>
            <a:ext cx="4735513"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16" name="Text Placeholder 3">
            <a:extLst>
              <a:ext uri="{FF2B5EF4-FFF2-40B4-BE49-F238E27FC236}">
                <a16:creationId xmlns:a16="http://schemas.microsoft.com/office/drawing/2014/main" id="{779E96EC-744C-3144-B51D-E5100BEE942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tx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12" name="Content Placeholder 3">
            <a:extLst>
              <a:ext uri="{FF2B5EF4-FFF2-40B4-BE49-F238E27FC236}">
                <a16:creationId xmlns:a16="http://schemas.microsoft.com/office/drawing/2014/main" id="{A0CEB380-FACF-CB25-2505-20906C2E85C2}"/>
              </a:ext>
              <a:ext uri="{C183D7F6-B498-43B3-948B-1728B52AA6E4}">
                <adec:decorative xmlns:adec="http://schemas.microsoft.com/office/drawing/2017/decorative" val="0"/>
              </a:ext>
            </a:extLst>
          </p:cNvPr>
          <p:cNvSpPr>
            <a:spLocks noGrp="1"/>
          </p:cNvSpPr>
          <p:nvPr>
            <p:ph sz="half" idx="1" hasCustomPrompt="1"/>
          </p:nvPr>
        </p:nvSpPr>
        <p:spPr>
          <a:xfrm>
            <a:off x="446080" y="2422525"/>
            <a:ext cx="4686360"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13" name="Content Placeholder 5">
            <a:extLst>
              <a:ext uri="{FF2B5EF4-FFF2-40B4-BE49-F238E27FC236}">
                <a16:creationId xmlns:a16="http://schemas.microsoft.com/office/drawing/2014/main" id="{EFB165C1-BA6C-CC63-70EA-E4881C9B3782}"/>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pic>
        <p:nvPicPr>
          <p:cNvPr id="4" name="Picture 3">
            <a:extLst>
              <a:ext uri="{FF2B5EF4-FFF2-40B4-BE49-F238E27FC236}">
                <a16:creationId xmlns:a16="http://schemas.microsoft.com/office/drawing/2014/main" id="{ECA53278-43EB-727A-BB6A-5159390105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52682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_Content – 1 column title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31819" y="409575"/>
            <a:ext cx="7550693"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40783" y="1916825"/>
            <a:ext cx="7550692" cy="3528300"/>
          </a:xfrm>
          <a:prstGeom prst="rect">
            <a:avLst/>
          </a:prstGeom>
        </p:spPr>
        <p:txBody>
          <a:bodyPr/>
          <a:lstStyle>
            <a:lvl1pPr marL="0">
              <a:lnSpc>
                <a:spcPct val="100000"/>
              </a:lnSpc>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pic>
        <p:nvPicPr>
          <p:cNvPr id="7" name="Picture 6">
            <a:extLst>
              <a:ext uri="{FF2B5EF4-FFF2-40B4-BE49-F238E27FC236}">
                <a16:creationId xmlns:a16="http://schemas.microsoft.com/office/drawing/2014/main" id="{0D96BD17-ACBE-B136-C0C2-347FD6061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917175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mple_Content – 2 column title and subheading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18745" y="409575"/>
            <a:ext cx="7572730" cy="1009650"/>
          </a:xfrm>
          <a:prstGeom prst="rect">
            <a:avLst/>
          </a:prstGeom>
        </p:spPr>
        <p:txBody>
          <a:bodyPr anchor="t"/>
          <a:lstStyle>
            <a:lvl1pPr algn="l">
              <a:lnSpc>
                <a:spcPct val="100000"/>
              </a:lnSpc>
              <a:defRPr sz="3600">
                <a:solidFill>
                  <a:schemeClr val="accent1"/>
                </a:solidFill>
              </a:defRPr>
            </a:lvl1pPr>
          </a:lstStyle>
          <a:p>
            <a:pPr lvl="0"/>
            <a:r>
              <a:rPr lang="en-GB" dirty="0"/>
              <a:t>Headline 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27709" y="1916825"/>
            <a:ext cx="3321240" cy="3528300"/>
          </a:xfrm>
          <a:prstGeom prst="rect">
            <a:avLst/>
          </a:prstGeom>
        </p:spPr>
        <p:txBody>
          <a:bodyPr/>
          <a:lstStyle>
            <a:lvl1pPr marL="0" indent="0">
              <a:lnSpc>
                <a:spcPct val="100000"/>
              </a:lnSpc>
              <a:spcBef>
                <a:spcPts val="0"/>
              </a:spcBef>
              <a:buFont typeface="Wingdings" pitchFamily="2" charset="2"/>
              <a:buNone/>
              <a:defRPr sz="2400">
                <a:solidFill>
                  <a:schemeClr val="accent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Subheading text style, UCL Sans regular 24pt</a:t>
            </a:r>
          </a:p>
        </p:txBody>
      </p:sp>
      <p:sp>
        <p:nvSpPr>
          <p:cNvPr id="7" name="Text Placeholder 7">
            <a:extLst>
              <a:ext uri="{FF2B5EF4-FFF2-40B4-BE49-F238E27FC236}">
                <a16:creationId xmlns:a16="http://schemas.microsoft.com/office/drawing/2014/main" id="{55335586-933A-6F8D-CF5B-B9D033AD83A3}"/>
              </a:ext>
            </a:extLst>
          </p:cNvPr>
          <p:cNvSpPr>
            <a:spLocks noGrp="1"/>
          </p:cNvSpPr>
          <p:nvPr>
            <p:ph type="body" sz="quarter" idx="12" hasCustomPrompt="1"/>
          </p:nvPr>
        </p:nvSpPr>
        <p:spPr>
          <a:xfrm>
            <a:off x="4670235" y="1916825"/>
            <a:ext cx="3321240" cy="3528300"/>
          </a:xfrm>
          <a:prstGeom prst="rect">
            <a:avLst/>
          </a:prstGeom>
        </p:spPr>
        <p:txBody>
          <a:bodyPr/>
          <a:lstStyle>
            <a:lvl1pPr marL="0" indent="0">
              <a:lnSpc>
                <a:spcPct val="100000"/>
              </a:lnSpc>
              <a:spcBef>
                <a:spcPts val="0"/>
              </a:spcBef>
              <a:buFont typeface="Wingdings" pitchFamily="2" charset="2"/>
              <a:buNone/>
              <a:defRPr sz="1800">
                <a:solidFill>
                  <a:schemeClr val="tx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8" name="Picture 7">
            <a:extLst>
              <a:ext uri="{FF2B5EF4-FFF2-40B4-BE49-F238E27FC236}">
                <a16:creationId xmlns:a16="http://schemas.microsoft.com/office/drawing/2014/main" id="{8E0A8775-7F4C-B3DF-556A-43E4628D9E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777399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mple_Content – 2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3786188"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br>
              <a:rPr lang="en-GB" dirty="0"/>
            </a:b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53818" y="409575"/>
            <a:ext cx="6627019" cy="1006475"/>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UCL Sans Regular 18pt</a:t>
            </a:r>
            <a:endParaRPr lang="en-US" dirty="0"/>
          </a:p>
        </p:txBody>
      </p:sp>
      <p:pic>
        <p:nvPicPr>
          <p:cNvPr id="7" name="Picture 6">
            <a:extLst>
              <a:ext uri="{FF2B5EF4-FFF2-40B4-BE49-F238E27FC236}">
                <a16:creationId xmlns:a16="http://schemas.microsoft.com/office/drawing/2014/main" id="{0C7F7948-C0B4-4DA0-F295-8EA3ED1E9A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485046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mple_Content – 3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8531" y="409575"/>
            <a:ext cx="3797231"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8" name="Text Placeholder 7">
            <a:extLst>
              <a:ext uri="{FF2B5EF4-FFF2-40B4-BE49-F238E27FC236}">
                <a16:creationId xmlns:a16="http://schemas.microsoft.com/office/drawing/2014/main" id="{CDC1F16C-DBBC-93A6-C7EF-DE12462C35FD}"/>
              </a:ext>
            </a:extLst>
          </p:cNvPr>
          <p:cNvSpPr>
            <a:spLocks noGrp="1"/>
          </p:cNvSpPr>
          <p:nvPr>
            <p:ph type="body" sz="quarter" idx="11" hasCustomPrompt="1"/>
          </p:nvPr>
        </p:nvSpPr>
        <p:spPr>
          <a:xfrm>
            <a:off x="5156981"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sp>
        <p:nvSpPr>
          <p:cNvPr id="9" name="Text Placeholder 7">
            <a:extLst>
              <a:ext uri="{FF2B5EF4-FFF2-40B4-BE49-F238E27FC236}">
                <a16:creationId xmlns:a16="http://schemas.microsoft.com/office/drawing/2014/main" id="{9A92D522-EA5D-B98E-DDA4-80FEB73128FF}"/>
              </a:ext>
            </a:extLst>
          </p:cNvPr>
          <p:cNvSpPr>
            <a:spLocks noGrp="1"/>
          </p:cNvSpPr>
          <p:nvPr>
            <p:ph type="body" sz="quarter" idx="12" hasCustomPrompt="1"/>
          </p:nvPr>
        </p:nvSpPr>
        <p:spPr>
          <a:xfrm>
            <a:off x="8937625"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ECBB61E5-C9D8-A05D-C8A2-706AEF9A96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2166179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_Divider – 2 column title, subheading, text, table,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2940"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392940"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descr="Add a clear, concise statement describing the figures presented in the table">
            <a:extLst>
              <a:ext uri="{FF2B5EF4-FFF2-40B4-BE49-F238E27FC236}">
                <a16:creationId xmlns:a16="http://schemas.microsoft.com/office/drawing/2014/main" id="{A4C55113-F63B-C02B-63A2-F9C817D9BF39}"/>
              </a:ext>
            </a:extLst>
          </p:cNvPr>
          <p:cNvSpPr>
            <a:spLocks noGrp="1" noRot="1" noMove="1" noResize="1" noEditPoints="1" noAdjustHandles="1" noChangeArrowheads="1" noChangeShapeType="1"/>
          </p:cNvSpPr>
          <p:nvPr>
            <p:ph type="tbl" sz="quarter" idx="12"/>
          </p:nvPr>
        </p:nvSpPr>
        <p:spPr>
          <a:xfrm>
            <a:off x="392940" y="3619500"/>
            <a:ext cx="2841625" cy="2828925"/>
          </a:xfrm>
          <a:prstGeom prst="rect">
            <a:avLst/>
          </a:prstGeom>
        </p:spPr>
        <p:txBody>
          <a:bodyPr/>
          <a:lstStyle>
            <a:lvl1pPr>
              <a:defRPr>
                <a:solidFill>
                  <a:schemeClr val="bg1"/>
                </a:solidFill>
              </a:defRPr>
            </a:lvl1pPr>
          </a:lstStyle>
          <a:p>
            <a:r>
              <a:rPr lang="en-GB"/>
              <a:t>Click icon to add table</a:t>
            </a:r>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4411004" y="826261"/>
            <a:ext cx="7369833"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4411005" y="1419226"/>
            <a:ext cx="7371420" cy="4406388"/>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pic>
        <p:nvPicPr>
          <p:cNvPr id="3" name="Picture 2">
            <a:extLst>
              <a:ext uri="{FF2B5EF4-FFF2-40B4-BE49-F238E27FC236}">
                <a16:creationId xmlns:a16="http://schemas.microsoft.com/office/drawing/2014/main" id="{EAAC2962-03E0-EA22-DBC0-9E4736A7D3C7}"/>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340933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mple_Content – 2 column title, ima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56564" y="2046440"/>
            <a:ext cx="5516672" cy="2160435"/>
          </a:xfrm>
          <a:prstGeom prst="rect">
            <a:avLst/>
          </a:prstGeom>
        </p:spPr>
        <p:txBody>
          <a:bodyPr/>
          <a:lstStyle/>
          <a:p>
            <a:endParaRPr lang="en-US"/>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56600" y="4438650"/>
            <a:ext cx="5516637" cy="100647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282387" y="2046440"/>
            <a:ext cx="5516673" cy="2160435"/>
          </a:xfrm>
          <a:prstGeom prst="rect">
            <a:avLst/>
          </a:prstGeom>
        </p:spPr>
        <p:txBody>
          <a:bodyPr/>
          <a:lstStyle/>
          <a:p>
            <a:endParaRPr lang="en-US"/>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282388" y="4438650"/>
            <a:ext cx="5494895" cy="100647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87E78866-9053-C0FF-479E-006604389F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908856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imple_Content – Title - 2 column 1 image 1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56564" y="2046440"/>
            <a:ext cx="4429696" cy="3398685"/>
          </a:xfrm>
          <a:prstGeom prst="rect">
            <a:avLst/>
          </a:prstGeom>
        </p:spPr>
        <p:txBody>
          <a:bodyPr/>
          <a:lstStyle/>
          <a:p>
            <a:r>
              <a:rPr lang="en-GB"/>
              <a:t>Click icon to add picture</a:t>
            </a:r>
            <a:endParaRPr lang="en-US"/>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53818" y="2046440"/>
            <a:ext cx="6627019"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5" name="Picture 4">
            <a:extLst>
              <a:ext uri="{FF2B5EF4-FFF2-40B4-BE49-F238E27FC236}">
                <a16:creationId xmlns:a16="http://schemas.microsoft.com/office/drawing/2014/main" id="{0683C0A7-72DE-AAF6-9C2F-83EEF344D9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735878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full page image full colour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0" y="0"/>
            <a:ext cx="12192000" cy="6858000"/>
          </a:xfrm>
          <a:prstGeom prst="rect">
            <a:avLst/>
          </a:prstGeom>
        </p:spPr>
        <p:txBody>
          <a:bodyPr/>
          <a:lstStyle/>
          <a:p>
            <a:endParaRPr lang="en-US"/>
          </a:p>
        </p:txBody>
      </p:sp>
      <p:pic>
        <p:nvPicPr>
          <p:cNvPr id="5" name="Picture 4">
            <a:extLst>
              <a:ext uri="{FF2B5EF4-FFF2-40B4-BE49-F238E27FC236}">
                <a16:creationId xmlns:a16="http://schemas.microsoft.com/office/drawing/2014/main" id="{644561CB-C28E-2B9A-0BF9-49CA398334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621249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mple_Content – 4 column title, image,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noRot="1" noMove="1" noResize="1" noEditPoints="1" noAdjustHandles="1" noChangeArrowheads="1" noChangeShapeType="1"/>
          </p:cNvSpPr>
          <p:nvPr>
            <p:ph type="body" sz="quarter" idx="15" hasCustomPrompt="1"/>
          </p:nvPr>
        </p:nvSpPr>
        <p:spPr>
          <a:xfrm>
            <a:off x="434508" y="409575"/>
            <a:ext cx="8569680" cy="137795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34507" y="2145327"/>
            <a:ext cx="2717527" cy="1748196"/>
          </a:xfrm>
          <a:prstGeom prst="rect">
            <a:avLst/>
          </a:prstGeom>
        </p:spPr>
        <p:txBody>
          <a:bodyPr/>
          <a:lstStyle/>
          <a:p>
            <a:r>
              <a:rPr lang="en-GB"/>
              <a:t>Click icon to add picture</a:t>
            </a:r>
            <a:endParaRPr lang="en-US" dirty="0"/>
          </a:p>
        </p:txBody>
      </p:sp>
      <p:sp>
        <p:nvSpPr>
          <p:cNvPr id="2" name="Text Placeholder 3">
            <a:extLst>
              <a:ext uri="{FF2B5EF4-FFF2-40B4-BE49-F238E27FC236}">
                <a16:creationId xmlns:a16="http://schemas.microsoft.com/office/drawing/2014/main" id="{D8E98CA0-EAB4-835F-548A-B6C634C3B1F4}"/>
              </a:ext>
            </a:extLst>
          </p:cNvPr>
          <p:cNvSpPr>
            <a:spLocks noGrp="1"/>
          </p:cNvSpPr>
          <p:nvPr>
            <p:ph type="body" sz="half" idx="25" hasCustomPrompt="1"/>
          </p:nvPr>
        </p:nvSpPr>
        <p:spPr>
          <a:xfrm>
            <a:off x="434508" y="4087765"/>
            <a:ext cx="27175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3481193" y="2145327"/>
            <a:ext cx="2539327" cy="1748196"/>
          </a:xfrm>
          <a:prstGeom prst="rect">
            <a:avLst/>
          </a:prstGeom>
        </p:spPr>
        <p:txBody>
          <a:bodyPr/>
          <a:lstStyle/>
          <a:p>
            <a:r>
              <a:rPr lang="en-GB"/>
              <a:t>Click icon to add picture</a:t>
            </a:r>
            <a:endParaRPr lang="en-US"/>
          </a:p>
        </p:txBody>
      </p:sp>
      <p:sp>
        <p:nvSpPr>
          <p:cNvPr id="4" name="Text Placeholder 3">
            <a:extLst>
              <a:ext uri="{FF2B5EF4-FFF2-40B4-BE49-F238E27FC236}">
                <a16:creationId xmlns:a16="http://schemas.microsoft.com/office/drawing/2014/main" id="{991755B3-2EC0-736A-45CE-D2F11359FCF2}"/>
              </a:ext>
            </a:extLst>
          </p:cNvPr>
          <p:cNvSpPr>
            <a:spLocks noGrp="1"/>
          </p:cNvSpPr>
          <p:nvPr>
            <p:ph type="body" sz="half" idx="26" hasCustomPrompt="1"/>
          </p:nvPr>
        </p:nvSpPr>
        <p:spPr>
          <a:xfrm>
            <a:off x="3454053"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349679" y="2145327"/>
            <a:ext cx="2539327" cy="1748196"/>
          </a:xfrm>
          <a:prstGeom prst="rect">
            <a:avLst/>
          </a:prstGeom>
        </p:spPr>
        <p:txBody>
          <a:bodyPr/>
          <a:lstStyle/>
          <a:p>
            <a:r>
              <a:rPr lang="en-GB"/>
              <a:t>Click icon to add picture</a:t>
            </a:r>
            <a:endParaRPr lang="en-US"/>
          </a:p>
        </p:txBody>
      </p:sp>
      <p:sp>
        <p:nvSpPr>
          <p:cNvPr id="5" name="Text Placeholder 3">
            <a:extLst>
              <a:ext uri="{FF2B5EF4-FFF2-40B4-BE49-F238E27FC236}">
                <a16:creationId xmlns:a16="http://schemas.microsoft.com/office/drawing/2014/main" id="{193885E6-59BA-3D4B-A49F-F83F0A580D69}"/>
              </a:ext>
            </a:extLst>
          </p:cNvPr>
          <p:cNvSpPr>
            <a:spLocks noGrp="1"/>
          </p:cNvSpPr>
          <p:nvPr>
            <p:ph type="body" sz="half" idx="27" hasCustomPrompt="1"/>
          </p:nvPr>
        </p:nvSpPr>
        <p:spPr>
          <a:xfrm>
            <a:off x="6336110"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218166" y="2145327"/>
            <a:ext cx="2539327" cy="1748196"/>
          </a:xfrm>
          <a:prstGeom prst="rect">
            <a:avLst/>
          </a:prstGeom>
        </p:spPr>
        <p:txBody>
          <a:bodyPr/>
          <a:lstStyle/>
          <a:p>
            <a:r>
              <a:rPr lang="en-GB"/>
              <a:t>Click icon to add picture</a:t>
            </a:r>
            <a:endParaRPr lang="en-US"/>
          </a:p>
        </p:txBody>
      </p:sp>
      <p:sp>
        <p:nvSpPr>
          <p:cNvPr id="6" name="Text Placeholder 3">
            <a:extLst>
              <a:ext uri="{FF2B5EF4-FFF2-40B4-BE49-F238E27FC236}">
                <a16:creationId xmlns:a16="http://schemas.microsoft.com/office/drawing/2014/main" id="{308DBC67-B009-AACF-4F14-CEE565C4E072}"/>
              </a:ext>
            </a:extLst>
          </p:cNvPr>
          <p:cNvSpPr>
            <a:spLocks noGrp="1"/>
          </p:cNvSpPr>
          <p:nvPr>
            <p:ph type="body" sz="half" idx="28" hasCustomPrompt="1"/>
          </p:nvPr>
        </p:nvSpPr>
        <p:spPr>
          <a:xfrm>
            <a:off x="9218166" y="4087765"/>
            <a:ext cx="25393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pic>
        <p:nvPicPr>
          <p:cNvPr id="3" name="Picture 2">
            <a:extLst>
              <a:ext uri="{FF2B5EF4-FFF2-40B4-BE49-F238E27FC236}">
                <a16:creationId xmlns:a16="http://schemas.microsoft.com/office/drawing/2014/main" id="{D5C298C2-508C-1619-2F51-CD8DCF5CE8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567379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lex_Title  - 2/3 line heading, image and text">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FF246E73-D036-D034-B53B-3390FBBB5D0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idx="10" hasCustomPrompt="1"/>
          </p:nvPr>
        </p:nvSpPr>
        <p:spPr>
          <a:xfrm>
            <a:off x="-7474" y="0"/>
            <a:ext cx="12192000" cy="6858000"/>
          </a:xfrm>
          <a:prstGeom prst="rect">
            <a:avLst/>
          </a:prstGeom>
        </p:spPr>
        <p:txBody>
          <a:bodyPr/>
          <a:lstStyle>
            <a:lvl1pPr marL="0" indent="0" algn="r">
              <a:buNone/>
              <a:defRPr sz="1100"/>
            </a:lvl1pPr>
            <a:lvl2pPr marL="457200" indent="0">
              <a:buNone/>
              <a:defRPr sz="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dirty="0"/>
              <a:t>Insert and image</a:t>
            </a:r>
          </a:p>
        </p:txBody>
      </p:sp>
      <p:pic>
        <p:nvPicPr>
          <p:cNvPr id="2" name="Picture 1" descr="UCL logo, University College London">
            <a:extLst>
              <a:ext uri="{FF2B5EF4-FFF2-40B4-BE49-F238E27FC236}">
                <a16:creationId xmlns:a16="http://schemas.microsoft.com/office/drawing/2014/main" id="{3EE928D3-B605-30AB-BA7D-FB2B1FC48EF2}"/>
              </a:ext>
            </a:extLst>
          </p:cNvPr>
          <p:cNvPicPr>
            <a:picLocks noChangeAspect="1"/>
          </p:cNvPicPr>
          <p:nvPr userDrawn="1"/>
        </p:nvPicPr>
        <p:blipFill>
          <a:blip r:embed="rId2"/>
          <a:stretch>
            <a:fillRect/>
          </a:stretch>
        </p:blipFill>
        <p:spPr>
          <a:xfrm>
            <a:off x="8937625" y="5653541"/>
            <a:ext cx="2843213" cy="798059"/>
          </a:xfrm>
          <a:prstGeom prst="rect">
            <a:avLst/>
          </a:prstGeom>
        </p:spPr>
      </p:pic>
      <p:sp>
        <p:nvSpPr>
          <p:cNvPr id="3" name="Text Placeholder 2">
            <a:extLst>
              <a:ext uri="{FF2B5EF4-FFF2-40B4-BE49-F238E27FC236}">
                <a16:creationId xmlns:a16="http://schemas.microsoft.com/office/drawing/2014/main" id="{78B86FC5-1258-6FBF-23A7-19183EBBA39E}"/>
              </a:ext>
            </a:extLst>
          </p:cNvPr>
          <p:cNvSpPr>
            <a:spLocks noGrp="1" noRot="1" noMove="1" noResize="1" noEditPoints="1" noAdjustHandles="1" noChangeArrowheads="1" noChangeShapeType="1"/>
          </p:cNvSpPr>
          <p:nvPr>
            <p:ph type="body" sz="quarter" idx="11" hasCustomPrompt="1"/>
          </p:nvPr>
        </p:nvSpPr>
        <p:spPr>
          <a:xfrm>
            <a:off x="1401472" y="1"/>
            <a:ext cx="5633204" cy="6858000"/>
          </a:xfrm>
          <a:prstGeom prst="rect">
            <a:avLst/>
          </a:prstGeom>
          <a:solidFill>
            <a:schemeClr val="accent1"/>
          </a:solidFill>
        </p:spPr>
        <p:txBody>
          <a:bodyPr lIns="360000" tIns="360000" rIns="360000" bIns="360000"/>
          <a:lstStyle>
            <a:lvl1pPr marL="0" indent="0">
              <a:lnSpc>
                <a:spcPct val="100000"/>
              </a:lnSpc>
              <a:spcBef>
                <a:spcPts val="0"/>
              </a:spcBef>
              <a:buNone/>
              <a:defRPr sz="4200" b="1" i="0">
                <a:solidFill>
                  <a:schemeClr val="accent3"/>
                </a:solidFill>
                <a:latin typeface="UCL Sans SemiBold" pitchFamily="2" charset="77"/>
              </a:defRPr>
            </a:lvl1pPr>
          </a:lstStyle>
          <a:p>
            <a:pPr fontAlgn="auto">
              <a:spcAft>
                <a:spcPts val="0"/>
              </a:spcAft>
            </a:pPr>
            <a:r>
              <a:rPr lang="en-GB" sz="4200" dirty="0">
                <a:solidFill>
                  <a:schemeClr val="accent3"/>
                </a:solidFill>
              </a:rPr>
              <a:t>Main Headline style slide UCL Sans </a:t>
            </a:r>
            <a:r>
              <a:rPr lang="en-GB" sz="4200" dirty="0" err="1">
                <a:solidFill>
                  <a:schemeClr val="accent3"/>
                </a:solidFill>
              </a:rPr>
              <a:t>SemiBold</a:t>
            </a:r>
            <a:r>
              <a:rPr lang="en-GB" sz="4200" dirty="0">
                <a:solidFill>
                  <a:schemeClr val="accent3"/>
                </a:solidFill>
              </a:rPr>
              <a:t> 42pt 2-3 lines max</a:t>
            </a:r>
            <a:endParaRPr lang="en-US" sz="4200" dirty="0">
              <a:solidFill>
                <a:schemeClr val="accent3"/>
              </a:solidFill>
            </a:endParaRPr>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791890" y="3455778"/>
            <a:ext cx="4807745" cy="707707"/>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a:t>
            </a:r>
          </a:p>
          <a:p>
            <a:pPr lvl="0"/>
            <a:r>
              <a:rPr lang="en-GB" dirty="0"/>
              <a:t>UCL Sans regular 24pt</a:t>
            </a:r>
          </a:p>
        </p:txBody>
      </p:sp>
      <p:sp>
        <p:nvSpPr>
          <p:cNvPr id="5" name="Text Placeholder 2">
            <a:extLst>
              <a:ext uri="{FF2B5EF4-FFF2-40B4-BE49-F238E27FC236}">
                <a16:creationId xmlns:a16="http://schemas.microsoft.com/office/drawing/2014/main" id="{31780D4D-96BC-3F19-6FFC-D0D6B82AF61A}"/>
              </a:ext>
            </a:extLst>
          </p:cNvPr>
          <p:cNvSpPr>
            <a:spLocks noGrp="1"/>
          </p:cNvSpPr>
          <p:nvPr>
            <p:ph type="body" idx="12" hasCustomPrompt="1"/>
          </p:nvPr>
        </p:nvSpPr>
        <p:spPr>
          <a:xfrm>
            <a:off x="1791889" y="4503309"/>
            <a:ext cx="4807745" cy="265046"/>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18px</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887" y="0"/>
            <a:ext cx="40957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D0518E-CF11-EBA3-9663-A8A79A187D4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034676" y="4532"/>
            <a:ext cx="470692" cy="6853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2307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lex _Content – 1 column title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5136124" y="409575"/>
            <a:ext cx="6604548" cy="1009650"/>
          </a:xfrm>
          <a:prstGeom prst="rect">
            <a:avLst/>
          </a:prstGeom>
        </p:spPr>
        <p:txBody>
          <a:bodyPr anchor="t"/>
          <a:lstStyle>
            <a:lvl1pPr algn="l">
              <a:lnSpc>
                <a:spcPct val="100000"/>
              </a:lnSpc>
              <a:defRPr sz="3600">
                <a:solidFill>
                  <a:schemeClr val="bg1"/>
                </a:solidFill>
              </a:defRPr>
            </a:lvl1pPr>
          </a:lstStyle>
          <a:p>
            <a:pPr lvl="0"/>
            <a:r>
              <a:rPr lang="en-GB" dirty="0"/>
              <a:t>Divider section Title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36124" y="1916825"/>
            <a:ext cx="6604547" cy="3528300"/>
          </a:xfrm>
          <a:prstGeom prst="rect">
            <a:avLst/>
          </a:prstGeom>
        </p:spPr>
        <p:txBody>
          <a:bodyPr/>
          <a:lstStyle>
            <a:lvl1pPr marL="0" indent="0">
              <a:lnSpc>
                <a:spcPct val="100000"/>
              </a:lnSpc>
              <a:spcBef>
                <a:spcPts val="0"/>
              </a:spcBef>
              <a:buFont typeface="Wingdings" pitchFamily="2" charset="2"/>
              <a:buNone/>
              <a:defRPr sz="1800">
                <a:solidFill>
                  <a:schemeClr val="bg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5" name="Rectangle 4">
            <a:extLst>
              <a:ext uri="{FF2B5EF4-FFF2-40B4-BE49-F238E27FC236}">
                <a16:creationId xmlns:a16="http://schemas.microsoft.com/office/drawing/2014/main" id="{7DFDE716-F6EE-9CD2-4183-C3966BF52E8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354138" y="0"/>
            <a:ext cx="18923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C99A0D4-0838-5973-6802-0E9A93433A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535" y="2448"/>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64D565B-2E0B-B3BA-562F-3D6EFC90B27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171055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lex _ Divider – 2 column title, text, table,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a:t>
            </a:r>
            <a:br>
              <a:rPr lang="en-GB" dirty="0"/>
            </a:br>
            <a:r>
              <a:rPr lang="en-GB" dirty="0"/>
              <a:t>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382624"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a:extLst>
              <a:ext uri="{FF2B5EF4-FFF2-40B4-BE49-F238E27FC236}">
                <a16:creationId xmlns:a16="http://schemas.microsoft.com/office/drawing/2014/main" id="{A4C55113-F63B-C02B-63A2-F9C817D9BF39}"/>
              </a:ext>
            </a:extLst>
          </p:cNvPr>
          <p:cNvSpPr>
            <a:spLocks noGrp="1"/>
          </p:cNvSpPr>
          <p:nvPr>
            <p:ph type="tbl" sz="quarter" idx="12"/>
          </p:nvPr>
        </p:nvSpPr>
        <p:spPr>
          <a:xfrm>
            <a:off x="1354139" y="3558615"/>
            <a:ext cx="2668022" cy="2828925"/>
          </a:xfrm>
          <a:prstGeom prst="rect">
            <a:avLst/>
          </a:prstGeom>
        </p:spPr>
        <p:txBody>
          <a:bodyPr/>
          <a:lstStyle/>
          <a:p>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5272740" y="882638"/>
            <a:ext cx="6508098"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5275105" y="1419226"/>
            <a:ext cx="6507320" cy="440638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Rectangle 2">
            <a:extLst>
              <a:ext uri="{FF2B5EF4-FFF2-40B4-BE49-F238E27FC236}">
                <a16:creationId xmlns:a16="http://schemas.microsoft.com/office/drawing/2014/main" id="{EC235949-2C3C-533B-6BE3-4C117E17EE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255F678-9F19-2B31-68D4-F374061E815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95872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8" y="2046440"/>
            <a:ext cx="5070914" cy="2160435"/>
          </a:xfrm>
          <a:prstGeom prst="rect">
            <a:avLst/>
          </a:prstGeom>
        </p:spPr>
        <p:txBody>
          <a:bodyPr/>
          <a:lstStyle/>
          <a:p>
            <a:endParaRPr lang="en-US"/>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1353402" y="4438650"/>
            <a:ext cx="5070914"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686368" y="2046440"/>
            <a:ext cx="5070914" cy="2160435"/>
          </a:xfrm>
          <a:prstGeom prst="rect">
            <a:avLst/>
          </a:prstGeom>
        </p:spPr>
        <p:txBody>
          <a:bodyPr/>
          <a:lstStyle/>
          <a:p>
            <a:endParaRPr lang="en-US"/>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686367" y="4438650"/>
            <a:ext cx="5049033"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A935693-F1F7-EFB7-3F70-BBCEEF923D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0538824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CF606E-A120-FD80-1208-6800F7AB3C83}"/>
              </a:ext>
            </a:extLst>
          </p:cNvPr>
          <p:cNvSpPr>
            <a:spLocks noGrp="1"/>
          </p:cNvSpPr>
          <p:nvPr>
            <p:ph type="ctrTitle" hasCustomPrompt="1"/>
          </p:nvPr>
        </p:nvSpPr>
        <p:spPr>
          <a:xfrm>
            <a:off x="1343450"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10" name="Picture Placeholder 6" descr="Add a clear, concise statement describing the main purpose of the image">
            <a:extLst>
              <a:ext uri="{FF2B5EF4-FFF2-40B4-BE49-F238E27FC236}">
                <a16:creationId xmlns:a16="http://schemas.microsoft.com/office/drawing/2014/main" id="{2F201AA6-C7B0-FA4A-12EF-F05A6A27B847}"/>
              </a:ext>
            </a:extLst>
          </p:cNvPr>
          <p:cNvSpPr>
            <a:spLocks noGrp="1"/>
          </p:cNvSpPr>
          <p:nvPr>
            <p:ph type="pic" sz="quarter" idx="13"/>
          </p:nvPr>
        </p:nvSpPr>
        <p:spPr>
          <a:xfrm>
            <a:off x="1343449" y="2046440"/>
            <a:ext cx="4502211" cy="3398685"/>
          </a:xfrm>
          <a:prstGeom prst="rect">
            <a:avLst/>
          </a:prstGeom>
        </p:spPr>
        <p:txBody>
          <a:bodyPr/>
          <a:lstStyle/>
          <a:p>
            <a:endParaRPr lang="en-US"/>
          </a:p>
        </p:txBody>
      </p:sp>
      <p:sp>
        <p:nvSpPr>
          <p:cNvPr id="11" name="Text Placeholder 7">
            <a:extLst>
              <a:ext uri="{FF2B5EF4-FFF2-40B4-BE49-F238E27FC236}">
                <a16:creationId xmlns:a16="http://schemas.microsoft.com/office/drawing/2014/main" id="{3DB5FBAF-BF92-0B32-16AD-1D4746507FE2}"/>
              </a:ext>
            </a:extLst>
          </p:cNvPr>
          <p:cNvSpPr>
            <a:spLocks noGrp="1"/>
          </p:cNvSpPr>
          <p:nvPr>
            <p:ph type="body" sz="quarter" idx="11" hasCustomPrompt="1"/>
          </p:nvPr>
        </p:nvSpPr>
        <p:spPr>
          <a:xfrm>
            <a:off x="6096000" y="2046440"/>
            <a:ext cx="5684838"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8E64966-6EA4-2AE9-2F73-A1E95B461EBC}"/>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938927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lex _Content – 4 column title, 4 images, 4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p:cNvSpPr>
          <p:nvPr>
            <p:ph type="body" sz="quarter" idx="15" hasCustomPrompt="1"/>
          </p:nvPr>
        </p:nvSpPr>
        <p:spPr>
          <a:xfrm>
            <a:off x="1354138" y="409575"/>
            <a:ext cx="8569680" cy="1377950"/>
          </a:xfrm>
          <a:prstGeom prst="rect">
            <a:avLst/>
          </a:prstGeom>
        </p:spPr>
        <p:txBody>
          <a:bodyPr/>
          <a:lstStyle>
            <a:lvl1pPr>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6" y="2185495"/>
            <a:ext cx="2445318" cy="1748196"/>
          </a:xfrm>
          <a:prstGeom prst="rect">
            <a:avLst/>
          </a:prstGeom>
        </p:spPr>
        <p:txBody>
          <a:bodyPr/>
          <a:lstStyle/>
          <a:p>
            <a:endParaRPr lang="en-US"/>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5" y="4204795"/>
            <a:ext cx="2438375" cy="1242244"/>
          </a:xfrm>
          <a:prstGeom prst="rect">
            <a:avLst/>
          </a:prstGeom>
        </p:spPr>
        <p:txBody>
          <a:bodyPr anchor="t"/>
          <a:lstStyle>
            <a:lvl1pPr marL="0" marR="0" indent="0" algn="l" defTabSz="914400" rtl="0" eaLnBrk="1" fontAlgn="auto" latinLnBrk="0" hangingPunct="1">
              <a:lnSpc>
                <a:spcPct val="100000"/>
              </a:lnSpc>
              <a:spcBef>
                <a:spcPct val="0"/>
              </a:spcBef>
              <a:spcAft>
                <a:spcPts val="0"/>
              </a:spcAft>
              <a:buClrTx/>
              <a:buSzTx/>
              <a:buFontTx/>
              <a:buNone/>
              <a:tabLst/>
              <a:defRPr sz="1800" b="0" i="0">
                <a:solidFill>
                  <a:schemeClr val="tx2"/>
                </a:solidFill>
                <a:latin typeface="UCL Sans" pitchFamily="2" charset="77"/>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dirty="0"/>
              <a:t>Body text, </a:t>
            </a:r>
            <a:br>
              <a:rPr lang="en-GB" dirty="0"/>
            </a:br>
            <a:r>
              <a:rPr lang="en-GB" dirty="0"/>
              <a:t>UCL Sans Regular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4014597" y="2185495"/>
            <a:ext cx="2445318" cy="1748196"/>
          </a:xfrm>
          <a:prstGeom prst="rect">
            <a:avLst/>
          </a:prstGeom>
        </p:spPr>
        <p:txBody>
          <a:bodyPr/>
          <a:lstStyle/>
          <a:p>
            <a:endParaRPr lang="en-US"/>
          </a:p>
        </p:txBody>
      </p:sp>
      <p:sp>
        <p:nvSpPr>
          <p:cNvPr id="30" name="Text Placeholder 29">
            <a:extLst>
              <a:ext uri="{FF2B5EF4-FFF2-40B4-BE49-F238E27FC236}">
                <a16:creationId xmlns:a16="http://schemas.microsoft.com/office/drawing/2014/main" id="{FBDDB7BF-E334-9161-E3A7-3D392EA86CA2}"/>
              </a:ext>
            </a:extLst>
          </p:cNvPr>
          <p:cNvSpPr>
            <a:spLocks noGrp="1"/>
          </p:cNvSpPr>
          <p:nvPr>
            <p:ph type="body" sz="quarter" idx="17" hasCustomPrompt="1"/>
          </p:nvPr>
        </p:nvSpPr>
        <p:spPr>
          <a:xfrm>
            <a:off x="4014597" y="4204795"/>
            <a:ext cx="2445318" cy="1268976"/>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675058" y="2185495"/>
            <a:ext cx="2445318" cy="1748196"/>
          </a:xfrm>
          <a:prstGeom prst="rect">
            <a:avLst/>
          </a:prstGeom>
        </p:spPr>
        <p:txBody>
          <a:bodyPr/>
          <a:lstStyle/>
          <a:p>
            <a:endParaRPr lang="en-US"/>
          </a:p>
        </p:txBody>
      </p:sp>
      <p:sp>
        <p:nvSpPr>
          <p:cNvPr id="32" name="Text Placeholder 31">
            <a:extLst>
              <a:ext uri="{FF2B5EF4-FFF2-40B4-BE49-F238E27FC236}">
                <a16:creationId xmlns:a16="http://schemas.microsoft.com/office/drawing/2014/main" id="{C1102347-D73B-9C6D-7E2C-F4283EC520FF}"/>
              </a:ext>
            </a:extLst>
          </p:cNvPr>
          <p:cNvSpPr>
            <a:spLocks noGrp="1"/>
          </p:cNvSpPr>
          <p:nvPr>
            <p:ph type="body" sz="quarter" idx="18" hasCustomPrompt="1"/>
          </p:nvPr>
        </p:nvSpPr>
        <p:spPr>
          <a:xfrm>
            <a:off x="6675058" y="4204795"/>
            <a:ext cx="2426413" cy="1242244"/>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335520" y="2185495"/>
            <a:ext cx="2445318" cy="1748196"/>
          </a:xfrm>
          <a:prstGeom prst="rect">
            <a:avLst/>
          </a:prstGeom>
        </p:spPr>
        <p:txBody>
          <a:bodyPr/>
          <a:lstStyle/>
          <a:p>
            <a:endParaRPr lang="en-US"/>
          </a:p>
        </p:txBody>
      </p:sp>
      <p:sp>
        <p:nvSpPr>
          <p:cNvPr id="34" name="Text Placeholder 33">
            <a:extLst>
              <a:ext uri="{FF2B5EF4-FFF2-40B4-BE49-F238E27FC236}">
                <a16:creationId xmlns:a16="http://schemas.microsoft.com/office/drawing/2014/main" id="{B62033B8-9ECF-6181-24C6-8380692FF4A0}"/>
              </a:ext>
            </a:extLst>
          </p:cNvPr>
          <p:cNvSpPr>
            <a:spLocks noGrp="1"/>
          </p:cNvSpPr>
          <p:nvPr>
            <p:ph type="body" sz="quarter" idx="19" hasCustomPrompt="1"/>
          </p:nvPr>
        </p:nvSpPr>
        <p:spPr>
          <a:xfrm>
            <a:off x="9320932" y="4204795"/>
            <a:ext cx="2459905" cy="1266825"/>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4" name="Rectangle 3">
            <a:extLst>
              <a:ext uri="{FF2B5EF4-FFF2-40B4-BE49-F238E27FC236}">
                <a16:creationId xmlns:a16="http://schemas.microsoft.com/office/drawing/2014/main" id="{ABD764E0-C2A5-851D-9E15-7970376FAD1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1993"/>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E115A2-315F-2C75-AD3F-871CC5AAC4DF}"/>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036791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lex _Content – 2 column title, 1 subheading, 2 image/graphs/charts">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E879B5DC-7300-88F8-C308-CBC1B2803C67}"/>
              </a:ext>
            </a:extLst>
          </p:cNvPr>
          <p:cNvSpPr>
            <a:spLocks noGrp="1"/>
          </p:cNvSpPr>
          <p:nvPr>
            <p:ph type="body" sz="half" idx="2" hasCustomPrompt="1"/>
          </p:nvPr>
        </p:nvSpPr>
        <p:spPr>
          <a:xfrm>
            <a:off x="1354139" y="421180"/>
            <a:ext cx="4303112"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9" name="Text Placeholder 3">
            <a:extLst>
              <a:ext uri="{FF2B5EF4-FFF2-40B4-BE49-F238E27FC236}">
                <a16:creationId xmlns:a16="http://schemas.microsoft.com/office/drawing/2014/main" id="{BD51B5E5-6C5C-CBFB-B0B8-D64DB5640EB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accent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6" name="Content Placeholder 3">
            <a:extLst>
              <a:ext uri="{FF2B5EF4-FFF2-40B4-BE49-F238E27FC236}">
                <a16:creationId xmlns:a16="http://schemas.microsoft.com/office/drawing/2014/main" id="{129D6C95-4A5B-9C67-29AF-2DE954D6E43F}"/>
              </a:ext>
            </a:extLst>
          </p:cNvPr>
          <p:cNvSpPr>
            <a:spLocks noGrp="1"/>
          </p:cNvSpPr>
          <p:nvPr>
            <p:ph sz="half" idx="1" hasCustomPrompt="1"/>
          </p:nvPr>
        </p:nvSpPr>
        <p:spPr>
          <a:xfrm>
            <a:off x="1354138" y="2422525"/>
            <a:ext cx="4303112"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7" name="Content Placeholder 5">
            <a:extLst>
              <a:ext uri="{FF2B5EF4-FFF2-40B4-BE49-F238E27FC236}">
                <a16:creationId xmlns:a16="http://schemas.microsoft.com/office/drawing/2014/main" id="{80A7D660-C734-F70C-8436-BC3EFE9A5B2D}"/>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EC4CDE7-BB95-C8A0-730E-D626B97500E6}"/>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8272948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 full page image white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391438" y="0"/>
            <a:ext cx="11800562" cy="6858000"/>
          </a:xfrm>
          <a:prstGeom prst="rect">
            <a:avLst/>
          </a:prstGeom>
        </p:spPr>
        <p:txBody>
          <a:bodyPr/>
          <a:lstStyle/>
          <a:p>
            <a:endParaRPr lang="en-US"/>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92A8DC-7EF8-37EE-2959-687D81C066F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r:embed="rId2"/>
          <a:stretch>
            <a:fillRect/>
          </a:stretch>
        </p:blipFill>
        <p:spPr>
          <a:xfrm>
            <a:off x="10360890" y="6067187"/>
            <a:ext cx="1432605" cy="402117"/>
          </a:xfrm>
          <a:prstGeom prst="rect">
            <a:avLst/>
          </a:prstGeom>
        </p:spPr>
      </p:pic>
    </p:spTree>
    <p:extLst>
      <p:ext uri="{BB962C8B-B14F-4D97-AF65-F5344CB8AC3E}">
        <p14:creationId xmlns:p14="http://schemas.microsoft.com/office/powerpoint/2010/main" val="773437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BDE158-E1C9-B1AC-ECDC-73BA00A9F65D}"/>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3" name="Text Placeholder 2">
            <a:extLst>
              <a:ext uri="{FF2B5EF4-FFF2-40B4-BE49-F238E27FC236}">
                <a16:creationId xmlns:a16="http://schemas.microsoft.com/office/drawing/2014/main" id="{BD52742C-E3D3-975E-E4B8-7BDB2954BB9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dirty="0"/>
          </a:p>
        </p:txBody>
      </p:sp>
    </p:spTree>
    <p:extLst>
      <p:ext uri="{BB962C8B-B14F-4D97-AF65-F5344CB8AC3E}">
        <p14:creationId xmlns:p14="http://schemas.microsoft.com/office/powerpoint/2010/main" val="3129269336"/>
      </p:ext>
    </p:extLst>
  </p:cSld>
  <p:clrMap bg1="lt1" tx1="dk1" bg2="lt2" tx2="dk2" accent1="accent1" accent2="accent2" accent3="accent3" accent4="accent4" accent5="accent5" accent6="accent6" hlink="hlink" folHlink="folHlink"/>
  <p:sldLayoutIdLst>
    <p:sldLayoutId id="2147483718" r:id="rId1"/>
    <p:sldLayoutId id="2147483794" r:id="rId2"/>
    <p:sldLayoutId id="2147483799" r:id="rId3"/>
    <p:sldLayoutId id="2147483804" r:id="rId4"/>
    <p:sldLayoutId id="2147483723" r:id="rId5"/>
    <p:sldLayoutId id="2147483805" r:id="rId6"/>
    <p:sldLayoutId id="2147483734" r:id="rId7"/>
    <p:sldLayoutId id="2147483720" r:id="rId8"/>
    <p:sldLayoutId id="2147483725" r:id="rId9"/>
    <p:sldLayoutId id="2147483759" r:id="rId10"/>
    <p:sldLayoutId id="2147483733" r:id="rId11"/>
    <p:sldLayoutId id="2147483726" r:id="rId12"/>
    <p:sldLayoutId id="2147483729" r:id="rId13"/>
    <p:sldLayoutId id="2147483727" r:id="rId14"/>
    <p:sldLayoutId id="2147483802" r:id="rId15"/>
    <p:sldLayoutId id="2147483806" r:id="rId16"/>
    <p:sldLayoutId id="2147483728" r:id="rId17"/>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 userDrawn="1">
          <p15:clr>
            <a:srgbClr val="F26B43"/>
          </p15:clr>
        </p15:guide>
        <p15:guide id="2" pos="258" userDrawn="1">
          <p15:clr>
            <a:srgbClr val="F26B43"/>
          </p15:clr>
        </p15:guide>
        <p15:guide id="3" orient="horz" pos="4064" userDrawn="1">
          <p15:clr>
            <a:srgbClr val="F26B43"/>
          </p15:clr>
        </p15:guide>
        <p15:guide id="4" pos="853" userDrawn="1">
          <p15:clr>
            <a:srgbClr val="F26B43"/>
          </p15:clr>
        </p15:guide>
        <p15:guide id="5" pos="1451" userDrawn="1">
          <p15:clr>
            <a:srgbClr val="F26B43"/>
          </p15:clr>
        </p15:guide>
        <p15:guide id="6" pos="2048" userDrawn="1">
          <p15:clr>
            <a:srgbClr val="F26B43"/>
          </p15:clr>
        </p15:guide>
        <p15:guide id="7" pos="2643" userDrawn="1">
          <p15:clr>
            <a:srgbClr val="F26B43"/>
          </p15:clr>
        </p15:guide>
        <p15:guide id="8" pos="3840" userDrawn="1">
          <p15:clr>
            <a:srgbClr val="F26B43"/>
          </p15:clr>
        </p15:guide>
        <p15:guide id="9" pos="3241" userDrawn="1">
          <p15:clr>
            <a:srgbClr val="F26B43"/>
          </p15:clr>
        </p15:guide>
        <p15:guide id="10" pos="4436" userDrawn="1">
          <p15:clr>
            <a:srgbClr val="F26B43"/>
          </p15:clr>
        </p15:guide>
        <p15:guide id="11" pos="5034" userDrawn="1">
          <p15:clr>
            <a:srgbClr val="F26B43"/>
          </p15:clr>
        </p15:guide>
        <p15:guide id="12" pos="5630" userDrawn="1">
          <p15:clr>
            <a:srgbClr val="F26B43"/>
          </p15:clr>
        </p15:guide>
        <p15:guide id="13" pos="6226" userDrawn="1">
          <p15:clr>
            <a:srgbClr val="F26B43"/>
          </p15:clr>
        </p15:guide>
        <p15:guide id="14" pos="6824" userDrawn="1">
          <p15:clr>
            <a:srgbClr val="F26B43"/>
          </p15:clr>
        </p15:guide>
        <p15:guide id="15" pos="7421" userDrawn="1">
          <p15:clr>
            <a:srgbClr val="F26B43"/>
          </p15:clr>
        </p15:guide>
        <p15:guide id="16" orient="horz" pos="3430" userDrawn="1">
          <p15:clr>
            <a:srgbClr val="F26B43"/>
          </p15:clr>
        </p15:guide>
        <p15:guide id="17" orient="horz" pos="2796" userDrawn="1">
          <p15:clr>
            <a:srgbClr val="F26B43"/>
          </p15:clr>
        </p15:guide>
        <p15:guide id="18" orient="horz" pos="894" userDrawn="1">
          <p15:clr>
            <a:srgbClr val="F26B43"/>
          </p15:clr>
        </p15:guide>
        <p15:guide id="19" orient="horz" pos="1526" userDrawn="1">
          <p15:clr>
            <a:srgbClr val="F26B43"/>
          </p15:clr>
        </p15:guide>
        <p15:guide id="20" orient="horz"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B97B0-6D67-3762-FAC1-F9C15B608960}"/>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3" name="Text Placeholder 2">
            <a:extLst>
              <a:ext uri="{FF2B5EF4-FFF2-40B4-BE49-F238E27FC236}">
                <a16:creationId xmlns:a16="http://schemas.microsoft.com/office/drawing/2014/main" id="{5E18E98D-5DC5-F844-0B8F-29580141F4D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endParaRPr lang="en-US" altLang="en-US" dirty="0"/>
          </a:p>
        </p:txBody>
      </p:sp>
    </p:spTree>
    <p:extLst>
      <p:ext uri="{BB962C8B-B14F-4D97-AF65-F5344CB8AC3E}">
        <p14:creationId xmlns:p14="http://schemas.microsoft.com/office/powerpoint/2010/main" val="434988953"/>
      </p:ext>
    </p:extLst>
  </p:cSld>
  <p:clrMap bg1="lt1" tx1="dk1" bg2="lt2" tx2="dk2" accent1="accent1" accent2="accent2" accent3="accent3" accent4="accent4" accent5="accent5" accent6="accent6" hlink="hlink" folHlink="folHlink"/>
  <p:sldLayoutIdLst>
    <p:sldLayoutId id="2147483761" r:id="rId1"/>
    <p:sldLayoutId id="2147483763" r:id="rId2"/>
    <p:sldLayoutId id="2147483767" r:id="rId3"/>
    <p:sldLayoutId id="2147483769" r:id="rId4"/>
    <p:sldLayoutId id="2147483803" r:id="rId5"/>
    <p:sldLayoutId id="2147483770" r:id="rId6"/>
    <p:sldLayoutId id="2147483771" r:id="rId7"/>
    <p:sldLayoutId id="2147483807" r:id="rId8"/>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 userDrawn="1">
          <p15:clr>
            <a:srgbClr val="F26B43"/>
          </p15:clr>
        </p15:guide>
        <p15:guide id="2" pos="258" userDrawn="1">
          <p15:clr>
            <a:srgbClr val="F26B43"/>
          </p15:clr>
        </p15:guide>
        <p15:guide id="3" orient="horz" pos="4064" userDrawn="1">
          <p15:clr>
            <a:srgbClr val="F26B43"/>
          </p15:clr>
        </p15:guide>
        <p15:guide id="4" pos="853" userDrawn="1">
          <p15:clr>
            <a:srgbClr val="F26B43"/>
          </p15:clr>
        </p15:guide>
        <p15:guide id="5" pos="1451" userDrawn="1">
          <p15:clr>
            <a:srgbClr val="F26B43"/>
          </p15:clr>
        </p15:guide>
        <p15:guide id="6" pos="2048" userDrawn="1">
          <p15:clr>
            <a:srgbClr val="F26B43"/>
          </p15:clr>
        </p15:guide>
        <p15:guide id="7" pos="2643" userDrawn="1">
          <p15:clr>
            <a:srgbClr val="F26B43"/>
          </p15:clr>
        </p15:guide>
        <p15:guide id="8" pos="3840" userDrawn="1">
          <p15:clr>
            <a:srgbClr val="F26B43"/>
          </p15:clr>
        </p15:guide>
        <p15:guide id="9" pos="3241" userDrawn="1">
          <p15:clr>
            <a:srgbClr val="F26B43"/>
          </p15:clr>
        </p15:guide>
        <p15:guide id="10" pos="4436" userDrawn="1">
          <p15:clr>
            <a:srgbClr val="F26B43"/>
          </p15:clr>
        </p15:guide>
        <p15:guide id="11" pos="5034" userDrawn="1">
          <p15:clr>
            <a:srgbClr val="F26B43"/>
          </p15:clr>
        </p15:guide>
        <p15:guide id="12" pos="5630" userDrawn="1">
          <p15:clr>
            <a:srgbClr val="F26B43"/>
          </p15:clr>
        </p15:guide>
        <p15:guide id="13" pos="6226" userDrawn="1">
          <p15:clr>
            <a:srgbClr val="F26B43"/>
          </p15:clr>
        </p15:guide>
        <p15:guide id="14" pos="6824" userDrawn="1">
          <p15:clr>
            <a:srgbClr val="F26B43"/>
          </p15:clr>
        </p15:guide>
        <p15:guide id="15" pos="7421" userDrawn="1">
          <p15:clr>
            <a:srgbClr val="F26B43"/>
          </p15:clr>
        </p15:guide>
        <p15:guide id="16" orient="horz" pos="3430" userDrawn="1">
          <p15:clr>
            <a:srgbClr val="F26B43"/>
          </p15:clr>
        </p15:guide>
        <p15:guide id="17" orient="horz" pos="2796" userDrawn="1">
          <p15:clr>
            <a:srgbClr val="F26B43"/>
          </p15:clr>
        </p15:guide>
        <p15:guide id="18" orient="horz" pos="894" userDrawn="1">
          <p15:clr>
            <a:srgbClr val="F26B43"/>
          </p15:clr>
        </p15:guide>
        <p15:guide id="19" orient="horz" pos="1526" userDrawn="1">
          <p15:clr>
            <a:srgbClr val="F26B43"/>
          </p15:clr>
        </p15:guide>
        <p15:guide id="20"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D82992-63AA-FFEA-E605-E305F1F2DE74}"/>
              </a:ext>
            </a:extLst>
          </p:cNvPr>
          <p:cNvSpPr>
            <a:spLocks noGrp="1"/>
          </p:cNvSpPr>
          <p:nvPr>
            <p:ph type="ctrTitle"/>
          </p:nvPr>
        </p:nvSpPr>
        <p:spPr/>
        <p:txBody>
          <a:bodyPr/>
          <a:lstStyle/>
          <a:p>
            <a:r>
              <a:rPr lang="en-GB" dirty="0"/>
              <a:t>Ideas for improving DDPM projects</a:t>
            </a:r>
            <a:endParaRPr lang="en-US" dirty="0"/>
          </a:p>
        </p:txBody>
      </p:sp>
      <p:sp>
        <p:nvSpPr>
          <p:cNvPr id="4" name="Text Placeholder 3">
            <a:extLst>
              <a:ext uri="{FF2B5EF4-FFF2-40B4-BE49-F238E27FC236}">
                <a16:creationId xmlns:a16="http://schemas.microsoft.com/office/drawing/2014/main" id="{8A9D73CE-D148-2226-15E6-88ADFFACB376}"/>
              </a:ext>
            </a:extLst>
          </p:cNvPr>
          <p:cNvSpPr>
            <a:spLocks noGrp="1"/>
          </p:cNvSpPr>
          <p:nvPr>
            <p:ph type="body" idx="1"/>
          </p:nvPr>
        </p:nvSpPr>
        <p:spPr/>
        <p:txBody>
          <a:bodyPr/>
          <a:lstStyle/>
          <a:p>
            <a:endParaRPr lang="en-GB"/>
          </a:p>
        </p:txBody>
      </p:sp>
      <p:sp>
        <p:nvSpPr>
          <p:cNvPr id="6" name="Text Placeholder 5">
            <a:extLst>
              <a:ext uri="{FF2B5EF4-FFF2-40B4-BE49-F238E27FC236}">
                <a16:creationId xmlns:a16="http://schemas.microsoft.com/office/drawing/2014/main" id="{1FF835D6-2C15-B13D-2BB6-0FB2EAF67D22}"/>
              </a:ext>
            </a:extLst>
          </p:cNvPr>
          <p:cNvSpPr>
            <a:spLocks noGrp="1"/>
          </p:cNvSpPr>
          <p:nvPr>
            <p:ph type="body" idx="10"/>
          </p:nvPr>
        </p:nvSpPr>
        <p:spPr/>
        <p:txBody>
          <a:bodyPr/>
          <a:lstStyle/>
          <a:p>
            <a:endParaRPr lang="en-GB"/>
          </a:p>
        </p:txBody>
      </p:sp>
    </p:spTree>
    <p:extLst>
      <p:ext uri="{BB962C8B-B14F-4D97-AF65-F5344CB8AC3E}">
        <p14:creationId xmlns:p14="http://schemas.microsoft.com/office/powerpoint/2010/main" val="1066985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41FCF-6D3D-7BFA-10EC-83A53A3F43F4}"/>
              </a:ext>
            </a:extLst>
          </p:cNvPr>
          <p:cNvSpPr>
            <a:spLocks noGrp="1"/>
          </p:cNvSpPr>
          <p:nvPr>
            <p:ph type="ctrTitle"/>
          </p:nvPr>
        </p:nvSpPr>
        <p:spPr/>
        <p:txBody>
          <a:bodyPr/>
          <a:lstStyle/>
          <a:p>
            <a:r>
              <a:rPr lang="en-GB" dirty="0"/>
              <a:t>Weak DDPM projects</a:t>
            </a:r>
          </a:p>
        </p:txBody>
      </p:sp>
      <p:sp>
        <p:nvSpPr>
          <p:cNvPr id="3" name="Content Placeholder 2">
            <a:extLst>
              <a:ext uri="{FF2B5EF4-FFF2-40B4-BE49-F238E27FC236}">
                <a16:creationId xmlns:a16="http://schemas.microsoft.com/office/drawing/2014/main" id="{E19B2DB5-BA7C-483F-0A1F-28F822A5FF40}"/>
              </a:ext>
            </a:extLst>
          </p:cNvPr>
          <p:cNvSpPr>
            <a:spLocks noGrp="1"/>
          </p:cNvSpPr>
          <p:nvPr>
            <p:ph idx="1"/>
          </p:nvPr>
        </p:nvSpPr>
        <p:spPr>
          <a:xfrm>
            <a:off x="418538" y="1916826"/>
            <a:ext cx="8773806" cy="3758834"/>
          </a:xfrm>
        </p:spPr>
        <p:txBody>
          <a:bodyPr/>
          <a:lstStyle/>
          <a:p>
            <a:pPr marL="285750" indent="-285750">
              <a:buFont typeface="Arial" panose="020B0604020202020204" pitchFamily="34" charset="0"/>
              <a:buChar char="•"/>
            </a:pPr>
            <a:r>
              <a:rPr lang="en-GB" dirty="0"/>
              <a:t>DDPM asks students to develop their own project – identifying an appropriate research question or hypothesis, with sufficient data available.</a:t>
            </a:r>
          </a:p>
          <a:p>
            <a:pPr marL="285750" indent="-285750">
              <a:buFont typeface="Arial" panose="020B0604020202020204" pitchFamily="34" charset="0"/>
              <a:buChar char="•"/>
            </a:pPr>
            <a:r>
              <a:rPr lang="en-GB" dirty="0"/>
              <a:t>Finding a good question is hard – and we don’t really support students in this</a:t>
            </a:r>
          </a:p>
          <a:p>
            <a:pPr marL="285750" indent="-285750">
              <a:buFont typeface="Arial" panose="020B0604020202020204" pitchFamily="34" charset="0"/>
              <a:buChar char="•"/>
            </a:pPr>
            <a:r>
              <a:rPr lang="en-GB" dirty="0"/>
              <a:t>Common pitfalls:</a:t>
            </a:r>
          </a:p>
          <a:p>
            <a:pPr marL="742950" lvl="1" indent="-285750">
              <a:buFont typeface="Arial" panose="020B0604020202020204" pitchFamily="34" charset="0"/>
              <a:buChar char="•"/>
            </a:pPr>
            <a:r>
              <a:rPr lang="en-GB" sz="1800" dirty="0"/>
              <a:t>Hypotheses poorly framed – not falsifiable</a:t>
            </a:r>
          </a:p>
          <a:p>
            <a:pPr marL="742950" lvl="1" indent="-285750">
              <a:buFont typeface="Arial" panose="020B0604020202020204" pitchFamily="34" charset="0"/>
              <a:buChar char="•"/>
            </a:pPr>
            <a:r>
              <a:rPr lang="en-GB" sz="1800" dirty="0"/>
              <a:t>Necessary data doesn’t exist or can’t be accessed</a:t>
            </a:r>
          </a:p>
          <a:p>
            <a:pPr marL="742950" lvl="1" indent="-285750">
              <a:buFont typeface="Arial" panose="020B0604020202020204" pitchFamily="34" charset="0"/>
              <a:buChar char="•"/>
            </a:pPr>
            <a:r>
              <a:rPr lang="en-GB" sz="1800" dirty="0"/>
              <a:t>Weak, untested scoring systems created by the student</a:t>
            </a:r>
          </a:p>
          <a:p>
            <a:pPr marL="742950" lvl="1" indent="-285750">
              <a:buFont typeface="Arial" panose="020B0604020202020204" pitchFamily="34" charset="0"/>
              <a:buChar char="•"/>
            </a:pPr>
            <a:r>
              <a:rPr lang="en-GB" sz="1800" dirty="0"/>
              <a:t>Trivial plots created to meet the required figure count</a:t>
            </a:r>
          </a:p>
        </p:txBody>
      </p:sp>
    </p:spTree>
    <p:extLst>
      <p:ext uri="{BB962C8B-B14F-4D97-AF65-F5344CB8AC3E}">
        <p14:creationId xmlns:p14="http://schemas.microsoft.com/office/powerpoint/2010/main" val="699377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10EC5-B9F9-955B-7F1E-D14836B30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AE38A-8F02-9722-0605-0B6FB0093477}"/>
              </a:ext>
            </a:extLst>
          </p:cNvPr>
          <p:cNvSpPr>
            <a:spLocks noGrp="1"/>
          </p:cNvSpPr>
          <p:nvPr>
            <p:ph type="ctrTitle"/>
          </p:nvPr>
        </p:nvSpPr>
        <p:spPr>
          <a:xfrm>
            <a:off x="409576" y="409575"/>
            <a:ext cx="10510960" cy="1009650"/>
          </a:xfrm>
        </p:spPr>
        <p:txBody>
          <a:bodyPr/>
          <a:lstStyle/>
          <a:p>
            <a:r>
              <a:rPr lang="en-GB" dirty="0"/>
              <a:t>Elements of strong DDPM projects</a:t>
            </a:r>
          </a:p>
        </p:txBody>
      </p:sp>
      <p:sp>
        <p:nvSpPr>
          <p:cNvPr id="3" name="Content Placeholder 2">
            <a:extLst>
              <a:ext uri="{FF2B5EF4-FFF2-40B4-BE49-F238E27FC236}">
                <a16:creationId xmlns:a16="http://schemas.microsoft.com/office/drawing/2014/main" id="{AA1783ED-421E-DCA4-4A32-A935C71450CE}"/>
              </a:ext>
            </a:extLst>
          </p:cNvPr>
          <p:cNvSpPr>
            <a:spLocks noGrp="1"/>
          </p:cNvSpPr>
          <p:nvPr>
            <p:ph idx="1"/>
          </p:nvPr>
        </p:nvSpPr>
        <p:spPr>
          <a:xfrm>
            <a:off x="418538" y="1916826"/>
            <a:ext cx="8413765" cy="3758834"/>
          </a:xfrm>
        </p:spPr>
        <p:txBody>
          <a:bodyPr/>
          <a:lstStyle/>
          <a:p>
            <a:pPr marL="285750" indent="-285750">
              <a:buFont typeface="Arial" panose="020B0604020202020204" pitchFamily="34" charset="0"/>
              <a:buChar char="•"/>
            </a:pPr>
            <a:r>
              <a:rPr lang="en-GB" dirty="0"/>
              <a:t>A defined </a:t>
            </a:r>
            <a:r>
              <a:rPr lang="en-GB" b="1" dirty="0"/>
              <a:t>population</a:t>
            </a:r>
            <a:r>
              <a:rPr lang="en-GB" dirty="0"/>
              <a:t> for analysis – approvals, trials, compounds, papers…</a:t>
            </a:r>
          </a:p>
          <a:p>
            <a:pPr marL="285750" indent="-285750">
              <a:buFont typeface="Arial" panose="020B0604020202020204" pitchFamily="34" charset="0"/>
              <a:buChar char="•"/>
            </a:pPr>
            <a:r>
              <a:rPr lang="en-GB" dirty="0"/>
              <a:t>A well-defined </a:t>
            </a:r>
            <a:r>
              <a:rPr lang="en-GB" b="1" dirty="0"/>
              <a:t>measurement</a:t>
            </a:r>
            <a:r>
              <a:rPr lang="en-GB" dirty="0"/>
              <a:t> across the population</a:t>
            </a:r>
          </a:p>
          <a:p>
            <a:pPr marL="285750" indent="-285750">
              <a:buFont typeface="Arial" panose="020B0604020202020204" pitchFamily="34" charset="0"/>
              <a:buChar char="•"/>
            </a:pPr>
            <a:r>
              <a:rPr lang="en-GB" sz="1800" dirty="0"/>
              <a:t>A </a:t>
            </a:r>
            <a:r>
              <a:rPr lang="en-GB" sz="1800" b="1" dirty="0"/>
              <a:t>comparison</a:t>
            </a:r>
            <a:r>
              <a:rPr lang="en-GB" sz="1800" dirty="0"/>
              <a:t> with a result not known in advance</a:t>
            </a:r>
          </a:p>
        </p:txBody>
      </p:sp>
    </p:spTree>
    <p:extLst>
      <p:ext uri="{BB962C8B-B14F-4D97-AF65-F5344CB8AC3E}">
        <p14:creationId xmlns:p14="http://schemas.microsoft.com/office/powerpoint/2010/main" val="894239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A3F2-1602-7393-C258-DD7637B60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42E42-3FD7-70DF-885E-6FEE02FE4EA4}"/>
              </a:ext>
            </a:extLst>
          </p:cNvPr>
          <p:cNvSpPr>
            <a:spLocks noGrp="1"/>
          </p:cNvSpPr>
          <p:nvPr>
            <p:ph type="ctrTitle"/>
          </p:nvPr>
        </p:nvSpPr>
        <p:spPr>
          <a:xfrm>
            <a:off x="409576" y="409575"/>
            <a:ext cx="10006904" cy="1009650"/>
          </a:xfrm>
        </p:spPr>
        <p:txBody>
          <a:bodyPr/>
          <a:lstStyle/>
          <a:p>
            <a:r>
              <a:rPr lang="en-GB" dirty="0"/>
              <a:t>Ideas to improve the project design process</a:t>
            </a:r>
          </a:p>
        </p:txBody>
      </p:sp>
      <p:sp>
        <p:nvSpPr>
          <p:cNvPr id="3" name="Content Placeholder 2">
            <a:extLst>
              <a:ext uri="{FF2B5EF4-FFF2-40B4-BE49-F238E27FC236}">
                <a16:creationId xmlns:a16="http://schemas.microsoft.com/office/drawing/2014/main" id="{466604D7-7F20-37E1-53D8-960E52E2A565}"/>
              </a:ext>
            </a:extLst>
          </p:cNvPr>
          <p:cNvSpPr>
            <a:spLocks noGrp="1"/>
          </p:cNvSpPr>
          <p:nvPr>
            <p:ph idx="1"/>
          </p:nvPr>
        </p:nvSpPr>
        <p:spPr>
          <a:xfrm>
            <a:off x="418538" y="1916826"/>
            <a:ext cx="8413765" cy="3758834"/>
          </a:xfrm>
        </p:spPr>
        <p:txBody>
          <a:bodyPr/>
          <a:lstStyle/>
          <a:p>
            <a:pPr marL="342900" indent="-342900">
              <a:buFont typeface="+mj-lt"/>
              <a:buAutoNum type="arabicPeriod"/>
            </a:pPr>
            <a:r>
              <a:rPr lang="en-GB" sz="1800" dirty="0"/>
              <a:t>Whitelist of</a:t>
            </a:r>
            <a:r>
              <a:rPr lang="en-GB" sz="1800" b="1" dirty="0"/>
              <a:t> data sources </a:t>
            </a:r>
            <a:r>
              <a:rPr lang="en-GB" sz="1800" dirty="0"/>
              <a:t>– each project must do a substantive </a:t>
            </a:r>
            <a:r>
              <a:rPr lang="en-GB" sz="1800" dirty="0" err="1"/>
              <a:t>anlaysis</a:t>
            </a:r>
            <a:r>
              <a:rPr lang="en-GB" sz="1800" dirty="0"/>
              <a:t> involving at least one listed source</a:t>
            </a:r>
            <a:br>
              <a:rPr lang="en-GB" sz="1800" dirty="0"/>
            </a:br>
            <a:br>
              <a:rPr lang="en-GB" sz="1800" dirty="0"/>
            </a:br>
            <a:r>
              <a:rPr lang="en-GB" sz="1800" dirty="0"/>
              <a:t>e.g. </a:t>
            </a:r>
            <a:r>
              <a:rPr lang="en-GB" sz="1800" i="1" dirty="0" err="1"/>
              <a:t>ClinicalTrials.gov</a:t>
            </a:r>
            <a:r>
              <a:rPr lang="en-GB" sz="1800" i="1" dirty="0"/>
              <a:t>, NICE appraisals, </a:t>
            </a:r>
            <a:r>
              <a:rPr lang="en-GB" sz="1800" i="1" dirty="0" err="1"/>
              <a:t>OpenPrescribing</a:t>
            </a:r>
            <a:r>
              <a:rPr lang="en-GB" sz="1800" i="1" dirty="0"/>
              <a:t>, </a:t>
            </a:r>
            <a:r>
              <a:rPr lang="en-GB" sz="1800" i="1" dirty="0" err="1"/>
              <a:t>ChEMBL</a:t>
            </a:r>
            <a:r>
              <a:rPr lang="en-GB" sz="1800" i="1" dirty="0"/>
              <a:t>, PubMed</a:t>
            </a:r>
            <a:br>
              <a:rPr lang="en-GB" sz="1800" i="1" dirty="0"/>
            </a:br>
            <a:endParaRPr lang="en-GB" sz="1800" dirty="0"/>
          </a:p>
          <a:p>
            <a:pPr marL="342900" indent="-342900">
              <a:buFont typeface="+mj-lt"/>
              <a:buAutoNum type="arabicPeriod"/>
            </a:pPr>
            <a:r>
              <a:rPr lang="en-GB" dirty="0"/>
              <a:t>Whitelist of </a:t>
            </a:r>
            <a:r>
              <a:rPr lang="en-GB" b="1" dirty="0"/>
              <a:t>project archetypes </a:t>
            </a:r>
            <a:r>
              <a:rPr lang="en-GB" dirty="0"/>
              <a:t>– i.e. patterns of research designs with populations, measurements and comparisons</a:t>
            </a:r>
            <a:br>
              <a:rPr lang="en-GB" dirty="0"/>
            </a:br>
            <a:br>
              <a:rPr lang="en-GB" dirty="0"/>
            </a:br>
            <a:r>
              <a:rPr lang="en-GB" dirty="0"/>
              <a:t>e.g. </a:t>
            </a:r>
            <a:r>
              <a:rPr lang="en-GB" i="1" dirty="0"/>
              <a:t>Regulatory comparison, pharmacovigilance, trial representation</a:t>
            </a:r>
            <a:br>
              <a:rPr lang="en-GB" i="1" dirty="0"/>
            </a:br>
            <a:endParaRPr lang="en-GB" dirty="0"/>
          </a:p>
          <a:p>
            <a:pPr marL="342900" indent="-342900">
              <a:buFont typeface="+mj-lt"/>
              <a:buAutoNum type="arabicPeriod"/>
            </a:pPr>
            <a:r>
              <a:rPr lang="en-GB" dirty="0"/>
              <a:t>A non-restrictive list of areas for inspiration to help students design projects within this framework</a:t>
            </a:r>
            <a:br>
              <a:rPr lang="en-GB" dirty="0"/>
            </a:br>
            <a:br>
              <a:rPr lang="en-GB" dirty="0"/>
            </a:br>
            <a:r>
              <a:rPr lang="en-GB" dirty="0"/>
              <a:t>e.g. </a:t>
            </a:r>
            <a:r>
              <a:rPr lang="en-GB" i="1" dirty="0"/>
              <a:t>International comparison, Africa and global health, women’s health, ethnic diversity, rare diseases, AMR, sustainability</a:t>
            </a:r>
            <a:endParaRPr lang="en-GB" dirty="0"/>
          </a:p>
          <a:p>
            <a:pPr marL="342900" indent="-342900">
              <a:buFont typeface="+mj-lt"/>
              <a:buAutoNum type="arabicPeriod"/>
            </a:pPr>
            <a:endParaRPr lang="en-GB" sz="1800" dirty="0"/>
          </a:p>
        </p:txBody>
      </p:sp>
    </p:spTree>
    <p:extLst>
      <p:ext uri="{BB962C8B-B14F-4D97-AF65-F5344CB8AC3E}">
        <p14:creationId xmlns:p14="http://schemas.microsoft.com/office/powerpoint/2010/main" val="474053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186F-DE1E-20A8-8A21-E3E2CC305A13}"/>
              </a:ext>
            </a:extLst>
          </p:cNvPr>
          <p:cNvSpPr>
            <a:spLocks noGrp="1"/>
          </p:cNvSpPr>
          <p:nvPr>
            <p:ph type="ctrTitle"/>
          </p:nvPr>
        </p:nvSpPr>
        <p:spPr/>
        <p:txBody>
          <a:bodyPr/>
          <a:lstStyle/>
          <a:p>
            <a:r>
              <a:rPr lang="en-GB" dirty="0"/>
              <a:t>Whitelist of reliable data sources</a:t>
            </a:r>
          </a:p>
        </p:txBody>
      </p:sp>
      <p:graphicFrame>
        <p:nvGraphicFramePr>
          <p:cNvPr id="5" name="Content Placeholder 4">
            <a:extLst>
              <a:ext uri="{FF2B5EF4-FFF2-40B4-BE49-F238E27FC236}">
                <a16:creationId xmlns:a16="http://schemas.microsoft.com/office/drawing/2014/main" id="{E31FF26F-8E40-E8D0-EED0-8721CFB3E2B1}"/>
              </a:ext>
            </a:extLst>
          </p:cNvPr>
          <p:cNvGraphicFramePr>
            <a:graphicFrameLocks noGrp="1"/>
          </p:cNvGraphicFramePr>
          <p:nvPr>
            <p:ph idx="1"/>
            <p:extLst>
              <p:ext uri="{D42A27DB-BD31-4B8C-83A1-F6EECF244321}">
                <p14:modId xmlns:p14="http://schemas.microsoft.com/office/powerpoint/2010/main" val="1810962223"/>
              </p:ext>
            </p:extLst>
          </p:nvPr>
        </p:nvGraphicFramePr>
        <p:xfrm>
          <a:off x="419100" y="1419225"/>
          <a:ext cx="6949440" cy="4611624"/>
        </p:xfrm>
        <a:graphic>
          <a:graphicData uri="http://schemas.openxmlformats.org/drawingml/2006/table">
            <a:tbl>
              <a:tblPr firstRow="1"/>
              <a:tblGrid>
                <a:gridCol w="251460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tblGrid>
              <a:tr h="374904">
                <a:tc>
                  <a:txBody>
                    <a:bodyPr/>
                    <a:lstStyle/>
                    <a:p>
                      <a:r>
                        <a:rPr sz="1300" b="0" i="0" dirty="0">
                          <a:solidFill>
                            <a:srgbClr val="FFFFFF"/>
                          </a:solidFill>
                          <a:latin typeface="UCL Sans SemiBold"/>
                        </a:rPr>
                        <a:t>Source</a:t>
                      </a:r>
                    </a:p>
                  </a:txBody>
                  <a:tcPr anchor="ctr">
                    <a:solidFill>
                      <a:srgbClr val="3A1857"/>
                    </a:solidFill>
                  </a:tcPr>
                </a:tc>
                <a:tc>
                  <a:txBody>
                    <a:bodyPr/>
                    <a:lstStyle/>
                    <a:p>
                      <a:r>
                        <a:rPr sz="1300" b="0" i="0">
                          <a:solidFill>
                            <a:srgbClr val="FFFFFF"/>
                          </a:solidFill>
                          <a:latin typeface="UCL Sans SemiBold"/>
                        </a:rPr>
                        <a:t>Use</a:t>
                      </a:r>
                    </a:p>
                  </a:txBody>
                  <a:tcPr anchor="ctr">
                    <a:solidFill>
                      <a:srgbClr val="3A1857"/>
                    </a:solidFill>
                  </a:tcPr>
                </a:tc>
                <a:extLst>
                  <a:ext uri="{0D108BD9-81ED-4DB2-BD59-A6C34878D82A}">
                    <a16:rowId xmlns:a16="http://schemas.microsoft.com/office/drawing/2014/main" val="10000"/>
                  </a:ext>
                </a:extLst>
              </a:tr>
              <a:tr h="374904">
                <a:tc>
                  <a:txBody>
                    <a:bodyPr/>
                    <a:lstStyle/>
                    <a:p>
                      <a:r>
                        <a:rPr sz="1300" b="0" i="0" dirty="0" err="1">
                          <a:solidFill>
                            <a:srgbClr val="3A1857"/>
                          </a:solidFill>
                          <a:latin typeface="UCL Sans SemiBold"/>
                        </a:rPr>
                        <a:t>ClinicalTrials.gov</a:t>
                      </a:r>
                      <a:endParaRPr sz="1300" b="0" i="0" dirty="0">
                        <a:solidFill>
                          <a:srgbClr val="3A1857"/>
                        </a:solidFill>
                        <a:latin typeface="UCL Sans SemiBold"/>
                      </a:endParaRPr>
                    </a:p>
                  </a:txBody>
                  <a:tcPr anchor="ctr">
                    <a:solidFill>
                      <a:srgbClr val="FFFFFF"/>
                    </a:solidFill>
                  </a:tcPr>
                </a:tc>
                <a:tc>
                  <a:txBody>
                    <a:bodyPr/>
                    <a:lstStyle/>
                    <a:p>
                      <a:r>
                        <a:rPr sz="1300" b="0" i="0">
                          <a:solidFill>
                            <a:srgbClr val="1C1C1C"/>
                          </a:solidFill>
                          <a:latin typeface="UCL Sans"/>
                        </a:rPr>
                        <a:t>Trial design, phase progression, termination, reporting</a:t>
                      </a:r>
                    </a:p>
                  </a:txBody>
                  <a:tcPr anchor="ctr">
                    <a:solidFill>
                      <a:srgbClr val="FFFFFF"/>
                    </a:solidFill>
                  </a:tcPr>
                </a:tc>
                <a:extLst>
                  <a:ext uri="{0D108BD9-81ED-4DB2-BD59-A6C34878D82A}">
                    <a16:rowId xmlns:a16="http://schemas.microsoft.com/office/drawing/2014/main" val="10001"/>
                  </a:ext>
                </a:extLst>
              </a:tr>
              <a:tr h="374904">
                <a:tc>
                  <a:txBody>
                    <a:bodyPr/>
                    <a:lstStyle/>
                    <a:p>
                      <a:r>
                        <a:rPr sz="1300" b="0" i="0" dirty="0">
                          <a:solidFill>
                            <a:srgbClr val="3A1857"/>
                          </a:solidFill>
                          <a:latin typeface="UCL Sans SemiBold"/>
                        </a:rPr>
                        <a:t>FDA approvals</a:t>
                      </a:r>
                    </a:p>
                  </a:txBody>
                  <a:tcPr anchor="ctr">
                    <a:solidFill>
                      <a:srgbClr val="EEDEFF"/>
                    </a:solidFill>
                  </a:tcPr>
                </a:tc>
                <a:tc>
                  <a:txBody>
                    <a:bodyPr/>
                    <a:lstStyle/>
                    <a:p>
                      <a:r>
                        <a:rPr sz="1300" b="0" i="0">
                          <a:solidFill>
                            <a:srgbClr val="1C1C1C"/>
                          </a:solidFill>
                          <a:latin typeface="UCL Sans"/>
                        </a:rPr>
                        <a:t>Drugs@FDA, Orange/Purple Books, Drug Trials Snapshots</a:t>
                      </a:r>
                    </a:p>
                  </a:txBody>
                  <a:tcPr anchor="ctr">
                    <a:solidFill>
                      <a:srgbClr val="EEDEFF"/>
                    </a:solidFill>
                  </a:tcPr>
                </a:tc>
                <a:extLst>
                  <a:ext uri="{0D108BD9-81ED-4DB2-BD59-A6C34878D82A}">
                    <a16:rowId xmlns:a16="http://schemas.microsoft.com/office/drawing/2014/main" val="10002"/>
                  </a:ext>
                </a:extLst>
              </a:tr>
              <a:tr h="374904">
                <a:tc>
                  <a:txBody>
                    <a:bodyPr/>
                    <a:lstStyle/>
                    <a:p>
                      <a:r>
                        <a:rPr sz="1300" b="0" i="0" dirty="0">
                          <a:solidFill>
                            <a:srgbClr val="3A1857"/>
                          </a:solidFill>
                          <a:latin typeface="UCL Sans SemiBold"/>
                        </a:rPr>
                        <a:t>EMA medicines and EPARs</a:t>
                      </a:r>
                    </a:p>
                  </a:txBody>
                  <a:tcPr anchor="ctr">
                    <a:solidFill>
                      <a:srgbClr val="FFFFFF"/>
                    </a:solidFill>
                  </a:tcPr>
                </a:tc>
                <a:tc>
                  <a:txBody>
                    <a:bodyPr/>
                    <a:lstStyle/>
                    <a:p>
                      <a:r>
                        <a:rPr sz="1300" b="0" i="0">
                          <a:solidFill>
                            <a:srgbClr val="1C1C1C"/>
                          </a:solidFill>
                          <a:latin typeface="UCL Sans"/>
                        </a:rPr>
                        <a:t>EU authorisations and assessment reports</a:t>
                      </a:r>
                    </a:p>
                  </a:txBody>
                  <a:tcPr anchor="ctr">
                    <a:solidFill>
                      <a:srgbClr val="FFFFFF"/>
                    </a:solidFill>
                  </a:tcPr>
                </a:tc>
                <a:extLst>
                  <a:ext uri="{0D108BD9-81ED-4DB2-BD59-A6C34878D82A}">
                    <a16:rowId xmlns:a16="http://schemas.microsoft.com/office/drawing/2014/main" val="10003"/>
                  </a:ext>
                </a:extLst>
              </a:tr>
              <a:tr h="374904">
                <a:tc>
                  <a:txBody>
                    <a:bodyPr/>
                    <a:lstStyle/>
                    <a:p>
                      <a:r>
                        <a:rPr sz="1300" b="0" i="0">
                          <a:solidFill>
                            <a:srgbClr val="3A1857"/>
                          </a:solidFill>
                          <a:latin typeface="UCL Sans SemiBold"/>
                        </a:rPr>
                        <a:t>Other regulators</a:t>
                      </a:r>
                    </a:p>
                  </a:txBody>
                  <a:tcPr anchor="ctr">
                    <a:solidFill>
                      <a:srgbClr val="EEDEFF"/>
                    </a:solidFill>
                  </a:tcPr>
                </a:tc>
                <a:tc>
                  <a:txBody>
                    <a:bodyPr/>
                    <a:lstStyle/>
                    <a:p>
                      <a:r>
                        <a:rPr sz="1300" b="0" i="0" dirty="0">
                          <a:solidFill>
                            <a:srgbClr val="1C1C1C"/>
                          </a:solidFill>
                          <a:latin typeface="UCL Sans"/>
                        </a:rPr>
                        <a:t>PMDA, TGA, Health Canada, NMPA approval lists</a:t>
                      </a:r>
                    </a:p>
                  </a:txBody>
                  <a:tcPr anchor="ctr">
                    <a:solidFill>
                      <a:srgbClr val="EEDEFF"/>
                    </a:solidFill>
                  </a:tcPr>
                </a:tc>
                <a:extLst>
                  <a:ext uri="{0D108BD9-81ED-4DB2-BD59-A6C34878D82A}">
                    <a16:rowId xmlns:a16="http://schemas.microsoft.com/office/drawing/2014/main" val="10004"/>
                  </a:ext>
                </a:extLst>
              </a:tr>
              <a:tr h="374904">
                <a:tc>
                  <a:txBody>
                    <a:bodyPr/>
                    <a:lstStyle/>
                    <a:p>
                      <a:r>
                        <a:rPr sz="1300" b="0" i="0">
                          <a:solidFill>
                            <a:srgbClr val="3A1857"/>
                          </a:solidFill>
                          <a:latin typeface="UCL Sans SemiBold"/>
                        </a:rPr>
                        <a:t>NICE appraisals</a:t>
                      </a:r>
                    </a:p>
                  </a:txBody>
                  <a:tcPr anchor="ctr">
                    <a:solidFill>
                      <a:srgbClr val="FFFFFF"/>
                    </a:solidFill>
                  </a:tcPr>
                </a:tc>
                <a:tc>
                  <a:txBody>
                    <a:bodyPr/>
                    <a:lstStyle/>
                    <a:p>
                      <a:r>
                        <a:rPr sz="1300" b="0" i="0" dirty="0">
                          <a:solidFill>
                            <a:srgbClr val="1C1C1C"/>
                          </a:solidFill>
                          <a:latin typeface="UCL Sans"/>
                        </a:rPr>
                        <a:t>HTA decisions, coded against a framework</a:t>
                      </a:r>
                    </a:p>
                  </a:txBody>
                  <a:tcPr anchor="ctr">
                    <a:solidFill>
                      <a:srgbClr val="FFFFFF"/>
                    </a:solidFill>
                  </a:tcPr>
                </a:tc>
                <a:extLst>
                  <a:ext uri="{0D108BD9-81ED-4DB2-BD59-A6C34878D82A}">
                    <a16:rowId xmlns:a16="http://schemas.microsoft.com/office/drawing/2014/main" val="10005"/>
                  </a:ext>
                </a:extLst>
              </a:tr>
              <a:tr h="374904">
                <a:tc>
                  <a:txBody>
                    <a:bodyPr/>
                    <a:lstStyle/>
                    <a:p>
                      <a:r>
                        <a:rPr sz="1300" b="0" i="0">
                          <a:solidFill>
                            <a:srgbClr val="3A1857"/>
                          </a:solidFill>
                          <a:latin typeface="UCL Sans SemiBold"/>
                        </a:rPr>
                        <a:t>OpenPrescribing</a:t>
                      </a:r>
                    </a:p>
                  </a:txBody>
                  <a:tcPr anchor="ctr">
                    <a:solidFill>
                      <a:srgbClr val="EEDEFF"/>
                    </a:solidFill>
                  </a:tcPr>
                </a:tc>
                <a:tc>
                  <a:txBody>
                    <a:bodyPr/>
                    <a:lstStyle/>
                    <a:p>
                      <a:r>
                        <a:rPr sz="1300" b="0" i="0" dirty="0">
                          <a:solidFill>
                            <a:srgbClr val="1C1C1C"/>
                          </a:solidFill>
                          <a:latin typeface="UCL Sans"/>
                        </a:rPr>
                        <a:t>NHS prescribing; natural experiments</a:t>
                      </a:r>
                    </a:p>
                  </a:txBody>
                  <a:tcPr anchor="ctr">
                    <a:solidFill>
                      <a:srgbClr val="EEDEFF"/>
                    </a:solidFill>
                  </a:tcPr>
                </a:tc>
                <a:extLst>
                  <a:ext uri="{0D108BD9-81ED-4DB2-BD59-A6C34878D82A}">
                    <a16:rowId xmlns:a16="http://schemas.microsoft.com/office/drawing/2014/main" val="10006"/>
                  </a:ext>
                </a:extLst>
              </a:tr>
              <a:tr h="374904">
                <a:tc>
                  <a:txBody>
                    <a:bodyPr/>
                    <a:lstStyle/>
                    <a:p>
                      <a:r>
                        <a:rPr sz="1300" b="0" i="0">
                          <a:solidFill>
                            <a:srgbClr val="3A1857"/>
                          </a:solidFill>
                          <a:latin typeface="UCL Sans SemiBold"/>
                        </a:rPr>
                        <a:t>FAERS (openFDA)</a:t>
                      </a:r>
                    </a:p>
                  </a:txBody>
                  <a:tcPr anchor="ctr">
                    <a:solidFill>
                      <a:srgbClr val="FFFFFF"/>
                    </a:solidFill>
                  </a:tcPr>
                </a:tc>
                <a:tc>
                  <a:txBody>
                    <a:bodyPr/>
                    <a:lstStyle/>
                    <a:p>
                      <a:r>
                        <a:rPr sz="1300" b="0" i="0" dirty="0">
                          <a:solidFill>
                            <a:srgbClr val="1C1C1C"/>
                          </a:solidFill>
                          <a:latin typeface="UCL Sans"/>
                        </a:rPr>
                        <a:t>Spontaneous adverse event reports</a:t>
                      </a:r>
                    </a:p>
                  </a:txBody>
                  <a:tcPr anchor="ctr">
                    <a:solidFill>
                      <a:srgbClr val="FFFFFF"/>
                    </a:solidFill>
                  </a:tcPr>
                </a:tc>
                <a:extLst>
                  <a:ext uri="{0D108BD9-81ED-4DB2-BD59-A6C34878D82A}">
                    <a16:rowId xmlns:a16="http://schemas.microsoft.com/office/drawing/2014/main" val="10007"/>
                  </a:ext>
                </a:extLst>
              </a:tr>
              <a:tr h="374904">
                <a:tc>
                  <a:txBody>
                    <a:bodyPr/>
                    <a:lstStyle/>
                    <a:p>
                      <a:r>
                        <a:rPr sz="1300" b="0" i="0">
                          <a:solidFill>
                            <a:srgbClr val="3A1857"/>
                          </a:solidFill>
                          <a:latin typeface="UCL Sans SemiBold"/>
                        </a:rPr>
                        <a:t>G-FINDER</a:t>
                      </a:r>
                    </a:p>
                  </a:txBody>
                  <a:tcPr anchor="ctr">
                    <a:solidFill>
                      <a:srgbClr val="EEDEFF"/>
                    </a:solidFill>
                  </a:tcPr>
                </a:tc>
                <a:tc>
                  <a:txBody>
                    <a:bodyPr/>
                    <a:lstStyle/>
                    <a:p>
                      <a:r>
                        <a:rPr sz="1300" b="0" i="0" dirty="0">
                          <a:solidFill>
                            <a:srgbClr val="1C1C1C"/>
                          </a:solidFill>
                          <a:latin typeface="UCL Sans"/>
                        </a:rPr>
                        <a:t>Global health R&amp;D funding</a:t>
                      </a:r>
                    </a:p>
                  </a:txBody>
                  <a:tcPr anchor="ctr">
                    <a:solidFill>
                      <a:srgbClr val="EEDEFF"/>
                    </a:solidFill>
                  </a:tcPr>
                </a:tc>
                <a:extLst>
                  <a:ext uri="{0D108BD9-81ED-4DB2-BD59-A6C34878D82A}">
                    <a16:rowId xmlns:a16="http://schemas.microsoft.com/office/drawing/2014/main" val="10008"/>
                  </a:ext>
                </a:extLst>
              </a:tr>
              <a:tr h="374904">
                <a:tc>
                  <a:txBody>
                    <a:bodyPr/>
                    <a:lstStyle/>
                    <a:p>
                      <a:r>
                        <a:rPr sz="1300" b="0" i="0">
                          <a:solidFill>
                            <a:srgbClr val="3A1857"/>
                          </a:solidFill>
                          <a:latin typeface="UCL Sans SemiBold"/>
                        </a:rPr>
                        <a:t>ChEMBL</a:t>
                      </a:r>
                    </a:p>
                  </a:txBody>
                  <a:tcPr anchor="ctr">
                    <a:solidFill>
                      <a:srgbClr val="FFFFFF"/>
                    </a:solidFill>
                  </a:tcPr>
                </a:tc>
                <a:tc>
                  <a:txBody>
                    <a:bodyPr/>
                    <a:lstStyle/>
                    <a:p>
                      <a:r>
                        <a:rPr sz="1300" b="0" i="0" dirty="0">
                          <a:solidFill>
                            <a:srgbClr val="1C1C1C"/>
                          </a:solidFill>
                          <a:latin typeface="UCL Sans"/>
                        </a:rPr>
                        <a:t>Compounds, bioactivities, approved drugs</a:t>
                      </a:r>
                    </a:p>
                  </a:txBody>
                  <a:tcPr anchor="ctr">
                    <a:solidFill>
                      <a:srgbClr val="FFFFFF"/>
                    </a:solidFill>
                  </a:tcPr>
                </a:tc>
                <a:extLst>
                  <a:ext uri="{0D108BD9-81ED-4DB2-BD59-A6C34878D82A}">
                    <a16:rowId xmlns:a16="http://schemas.microsoft.com/office/drawing/2014/main" val="10009"/>
                  </a:ext>
                </a:extLst>
              </a:tr>
              <a:tr h="374904">
                <a:tc>
                  <a:txBody>
                    <a:bodyPr/>
                    <a:lstStyle/>
                    <a:p>
                      <a:r>
                        <a:rPr sz="1300" b="0" i="0">
                          <a:solidFill>
                            <a:srgbClr val="3A1857"/>
                          </a:solidFill>
                          <a:latin typeface="UCL Sans SemiBold"/>
                        </a:rPr>
                        <a:t>PDB and AlphaFold DB</a:t>
                      </a:r>
                    </a:p>
                  </a:txBody>
                  <a:tcPr anchor="ctr">
                    <a:solidFill>
                      <a:srgbClr val="EEDEFF"/>
                    </a:solidFill>
                  </a:tcPr>
                </a:tc>
                <a:tc>
                  <a:txBody>
                    <a:bodyPr/>
                    <a:lstStyle/>
                    <a:p>
                      <a:r>
                        <a:rPr sz="1300" b="0" i="0" dirty="0">
                          <a:solidFill>
                            <a:srgbClr val="1C1C1C"/>
                          </a:solidFill>
                          <a:latin typeface="UCL Sans"/>
                        </a:rPr>
                        <a:t>Experimental and predicted structures</a:t>
                      </a:r>
                    </a:p>
                  </a:txBody>
                  <a:tcPr anchor="ctr">
                    <a:solidFill>
                      <a:srgbClr val="EEDEFF"/>
                    </a:solidFill>
                  </a:tcPr>
                </a:tc>
                <a:extLst>
                  <a:ext uri="{0D108BD9-81ED-4DB2-BD59-A6C34878D82A}">
                    <a16:rowId xmlns:a16="http://schemas.microsoft.com/office/drawing/2014/main" val="10010"/>
                  </a:ext>
                </a:extLst>
              </a:tr>
              <a:tr h="374904">
                <a:tc>
                  <a:txBody>
                    <a:bodyPr/>
                    <a:lstStyle/>
                    <a:p>
                      <a:r>
                        <a:rPr sz="1300" b="0" i="0">
                          <a:solidFill>
                            <a:srgbClr val="3A1857"/>
                          </a:solidFill>
                          <a:latin typeface="UCL Sans SemiBold"/>
                        </a:rPr>
                        <a:t>PubMed / Europe PMC</a:t>
                      </a:r>
                    </a:p>
                  </a:txBody>
                  <a:tcPr anchor="ctr">
                    <a:solidFill>
                      <a:srgbClr val="FFFFFF"/>
                    </a:solidFill>
                  </a:tcPr>
                </a:tc>
                <a:tc>
                  <a:txBody>
                    <a:bodyPr/>
                    <a:lstStyle/>
                    <a:p>
                      <a:r>
                        <a:rPr sz="1300" b="0" i="0" dirty="0">
                          <a:solidFill>
                            <a:srgbClr val="1C1C1C"/>
                          </a:solidFill>
                          <a:latin typeface="UCL Sans"/>
                        </a:rPr>
                        <a:t>Only where publications are the unit of analysis</a:t>
                      </a:r>
                    </a:p>
                  </a:txBody>
                  <a:tcPr anchor="ctr">
                    <a:solidFill>
                      <a:srgbClr val="FFFFFF"/>
                    </a:solidFill>
                  </a:tcPr>
                </a:tc>
                <a:extLst>
                  <a:ext uri="{0D108BD9-81ED-4DB2-BD59-A6C34878D82A}">
                    <a16:rowId xmlns:a16="http://schemas.microsoft.com/office/drawing/2014/main" val="10011"/>
                  </a:ext>
                </a:extLst>
              </a:tr>
            </a:tbl>
          </a:graphicData>
        </a:graphic>
      </p:graphicFrame>
      <p:sp>
        <p:nvSpPr>
          <p:cNvPr id="6" name="TextBox 5">
            <a:extLst>
              <a:ext uri="{FF2B5EF4-FFF2-40B4-BE49-F238E27FC236}">
                <a16:creationId xmlns:a16="http://schemas.microsoft.com/office/drawing/2014/main" id="{B93462C3-BA2D-F31A-7203-5150A89333D0}"/>
              </a:ext>
            </a:extLst>
          </p:cNvPr>
          <p:cNvSpPr txBox="1"/>
          <p:nvPr/>
        </p:nvSpPr>
        <p:spPr>
          <a:xfrm>
            <a:off x="7752184" y="1700878"/>
            <a:ext cx="3888432" cy="2841804"/>
          </a:xfrm>
          <a:prstGeom prst="rect">
            <a:avLst/>
          </a:prstGeom>
          <a:noFill/>
        </p:spPr>
        <p:txBody>
          <a:bodyPr wrap="square" rtlCol="0">
            <a:spAutoFit/>
          </a:bodyPr>
          <a:lstStyle/>
          <a:p>
            <a:pPr>
              <a:spcAft>
                <a:spcPts val="1000"/>
              </a:spcAft>
            </a:pPr>
            <a:r>
              <a:rPr lang="en-GB" dirty="0">
                <a:solidFill>
                  <a:srgbClr val="1C1C1C"/>
                </a:solidFill>
                <a:latin typeface="UCL Sans SemiBold"/>
              </a:rPr>
              <a:t>Substantive use. </a:t>
            </a:r>
            <a:r>
              <a:rPr lang="en-GB" dirty="0">
                <a:solidFill>
                  <a:srgbClr val="1C1C1C"/>
                </a:solidFill>
                <a:latin typeface="UCL Sans"/>
              </a:rPr>
              <a:t>At least one primary analysis and associated figures are built from a listed source.</a:t>
            </a:r>
          </a:p>
          <a:p>
            <a:pPr>
              <a:spcAft>
                <a:spcPts val="1000"/>
              </a:spcAft>
            </a:pPr>
            <a:r>
              <a:rPr lang="en-GB" dirty="0">
                <a:solidFill>
                  <a:srgbClr val="1C1C1C"/>
                </a:solidFill>
                <a:latin typeface="UCL Sans SemiBold"/>
              </a:rPr>
              <a:t>Industry. </a:t>
            </a:r>
            <a:r>
              <a:rPr lang="en-GB" dirty="0">
                <a:solidFill>
                  <a:srgbClr val="1C1C1C"/>
                </a:solidFill>
                <a:latin typeface="UCL Sans"/>
              </a:rPr>
              <a:t>Company data allowed/encouraged, but at least one primary analysis should involve a listed source.</a:t>
            </a:r>
          </a:p>
          <a:p>
            <a:endParaRPr lang="en-GB" dirty="0"/>
          </a:p>
        </p:txBody>
      </p:sp>
    </p:spTree>
    <p:extLst>
      <p:ext uri="{BB962C8B-B14F-4D97-AF65-F5344CB8AC3E}">
        <p14:creationId xmlns:p14="http://schemas.microsoft.com/office/powerpoint/2010/main" val="4268597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92D21-6A68-3A97-5834-CDF29F03A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7E61D-348A-DF89-1186-A4F96761AA07}"/>
              </a:ext>
            </a:extLst>
          </p:cNvPr>
          <p:cNvSpPr>
            <a:spLocks noGrp="1"/>
          </p:cNvSpPr>
          <p:nvPr>
            <p:ph type="ctrTitle"/>
          </p:nvPr>
        </p:nvSpPr>
        <p:spPr/>
        <p:txBody>
          <a:bodyPr/>
          <a:lstStyle/>
          <a:p>
            <a:r>
              <a:rPr lang="en-GB" dirty="0"/>
              <a:t>Example archetypes</a:t>
            </a:r>
          </a:p>
        </p:txBody>
      </p:sp>
      <p:graphicFrame>
        <p:nvGraphicFramePr>
          <p:cNvPr id="5" name="Content Placeholder 4">
            <a:extLst>
              <a:ext uri="{FF2B5EF4-FFF2-40B4-BE49-F238E27FC236}">
                <a16:creationId xmlns:a16="http://schemas.microsoft.com/office/drawing/2014/main" id="{5B54F336-8E7B-C630-8454-90ADE41B7FF3}"/>
              </a:ext>
            </a:extLst>
          </p:cNvPr>
          <p:cNvGraphicFramePr>
            <a:graphicFrameLocks noGrp="1"/>
          </p:cNvGraphicFramePr>
          <p:nvPr>
            <p:ph idx="1"/>
            <p:extLst>
              <p:ext uri="{D42A27DB-BD31-4B8C-83A1-F6EECF244321}">
                <p14:modId xmlns:p14="http://schemas.microsoft.com/office/powerpoint/2010/main" val="1821083512"/>
              </p:ext>
            </p:extLst>
          </p:nvPr>
        </p:nvGraphicFramePr>
        <p:xfrm>
          <a:off x="419100" y="1419225"/>
          <a:ext cx="10285413" cy="3675888"/>
        </p:xfrm>
        <a:graphic>
          <a:graphicData uri="http://schemas.openxmlformats.org/drawingml/2006/table">
            <a:tbl>
              <a:tblPr firstRow="1"/>
              <a:tblGrid>
                <a:gridCol w="2292524">
                  <a:extLst>
                    <a:ext uri="{9D8B030D-6E8A-4147-A177-3AD203B41FA5}">
                      <a16:colId xmlns:a16="http://schemas.microsoft.com/office/drawing/2014/main" val="20000"/>
                    </a:ext>
                  </a:extLst>
                </a:gridCol>
                <a:gridCol w="2225923">
                  <a:extLst>
                    <a:ext uri="{9D8B030D-6E8A-4147-A177-3AD203B41FA5}">
                      <a16:colId xmlns:a16="http://schemas.microsoft.com/office/drawing/2014/main" val="20001"/>
                    </a:ext>
                  </a:extLst>
                </a:gridCol>
                <a:gridCol w="2883483">
                  <a:extLst>
                    <a:ext uri="{9D8B030D-6E8A-4147-A177-3AD203B41FA5}">
                      <a16:colId xmlns:a16="http://schemas.microsoft.com/office/drawing/2014/main" val="737491477"/>
                    </a:ext>
                  </a:extLst>
                </a:gridCol>
                <a:gridCol w="2883483">
                  <a:extLst>
                    <a:ext uri="{9D8B030D-6E8A-4147-A177-3AD203B41FA5}">
                      <a16:colId xmlns:a16="http://schemas.microsoft.com/office/drawing/2014/main" val="1563776977"/>
                    </a:ext>
                  </a:extLst>
                </a:gridCol>
              </a:tblGrid>
              <a:tr h="374904">
                <a:tc>
                  <a:txBody>
                    <a:bodyPr/>
                    <a:lstStyle/>
                    <a:p>
                      <a:r>
                        <a:rPr lang="en-GB" sz="1300" b="0" i="0" dirty="0">
                          <a:solidFill>
                            <a:srgbClr val="FFFFFF"/>
                          </a:solidFill>
                          <a:latin typeface="UCL Sans SemiBold"/>
                        </a:rPr>
                        <a:t>Archetype</a:t>
                      </a:r>
                      <a:endParaRPr sz="1300" b="0" i="0" dirty="0">
                        <a:solidFill>
                          <a:srgbClr val="FFFFFF"/>
                        </a:solidFill>
                        <a:latin typeface="UCL Sans SemiBold"/>
                      </a:endParaRPr>
                    </a:p>
                  </a:txBody>
                  <a:tcPr anchor="ctr">
                    <a:solidFill>
                      <a:srgbClr val="3A1857"/>
                    </a:solidFill>
                  </a:tcPr>
                </a:tc>
                <a:tc>
                  <a:txBody>
                    <a:bodyPr/>
                    <a:lstStyle/>
                    <a:p>
                      <a:r>
                        <a:rPr lang="en-GB" sz="1300" b="0" i="0" dirty="0">
                          <a:solidFill>
                            <a:srgbClr val="FFFFFF"/>
                          </a:solidFill>
                          <a:latin typeface="UCL Sans SemiBold"/>
                        </a:rPr>
                        <a:t>Population / data source</a:t>
                      </a:r>
                      <a:endParaRPr sz="1300" b="0" i="0" dirty="0">
                        <a:solidFill>
                          <a:srgbClr val="FFFFFF"/>
                        </a:solidFill>
                        <a:latin typeface="UCL Sans SemiBold"/>
                      </a:endParaRPr>
                    </a:p>
                  </a:txBody>
                  <a:tcPr anchor="ctr">
                    <a:solidFill>
                      <a:srgbClr val="3A1857"/>
                    </a:solidFill>
                  </a:tcPr>
                </a:tc>
                <a:tc>
                  <a:txBody>
                    <a:bodyPr/>
                    <a:lstStyle/>
                    <a:p>
                      <a:r>
                        <a:rPr lang="en-GB" sz="1300" b="0" i="0" dirty="0">
                          <a:solidFill>
                            <a:srgbClr val="FFFFFF"/>
                          </a:solidFill>
                          <a:latin typeface="UCL Sans SemiBold"/>
                        </a:rPr>
                        <a:t>Measurement</a:t>
                      </a:r>
                      <a:endParaRPr sz="1300" b="0" i="0" dirty="0">
                        <a:solidFill>
                          <a:srgbClr val="FFFFFF"/>
                        </a:solidFill>
                        <a:latin typeface="UCL Sans SemiBold"/>
                      </a:endParaRPr>
                    </a:p>
                  </a:txBody>
                  <a:tcPr anchor="ctr">
                    <a:solidFill>
                      <a:srgbClr val="3A1857"/>
                    </a:solidFill>
                  </a:tcPr>
                </a:tc>
                <a:tc>
                  <a:txBody>
                    <a:bodyPr/>
                    <a:lstStyle/>
                    <a:p>
                      <a:r>
                        <a:rPr lang="en-GB" sz="1300" b="0" i="0" dirty="0">
                          <a:solidFill>
                            <a:srgbClr val="FFFFFF"/>
                          </a:solidFill>
                          <a:latin typeface="UCL Sans SemiBold"/>
                        </a:rPr>
                        <a:t>Comparison</a:t>
                      </a:r>
                      <a:endParaRPr sz="1300" b="0" i="0" dirty="0">
                        <a:solidFill>
                          <a:srgbClr val="FFFFFF"/>
                        </a:solidFill>
                        <a:latin typeface="UCL Sans SemiBold"/>
                      </a:endParaRPr>
                    </a:p>
                  </a:txBody>
                  <a:tcPr anchor="ctr">
                    <a:solidFill>
                      <a:srgbClr val="3A1857"/>
                    </a:solidFill>
                  </a:tcPr>
                </a:tc>
                <a:extLst>
                  <a:ext uri="{0D108BD9-81ED-4DB2-BD59-A6C34878D82A}">
                    <a16:rowId xmlns:a16="http://schemas.microsoft.com/office/drawing/2014/main" val="10000"/>
                  </a:ext>
                </a:extLst>
              </a:tr>
              <a:tr h="374904">
                <a:tc>
                  <a:txBody>
                    <a:bodyPr/>
                    <a:lstStyle/>
                    <a:p>
                      <a:r>
                        <a:rPr lang="en-GB" sz="1300" b="0" i="0" dirty="0">
                          <a:solidFill>
                            <a:srgbClr val="3A1857"/>
                          </a:solidFill>
                          <a:latin typeface="UCL Sans SemiBold"/>
                        </a:rPr>
                        <a:t>Development landscape</a:t>
                      </a:r>
                      <a:endParaRPr sz="1300" b="0" i="0" dirty="0">
                        <a:solidFill>
                          <a:srgbClr val="3A1857"/>
                        </a:solidFill>
                        <a:latin typeface="UCL Sans SemiBold"/>
                      </a:endParaRPr>
                    </a:p>
                  </a:txBody>
                  <a:tcPr anchor="ctr">
                    <a:solidFill>
                      <a:srgbClr val="FFFFFF"/>
                    </a:solidFill>
                  </a:tcPr>
                </a:tc>
                <a:tc>
                  <a:txBody>
                    <a:bodyPr/>
                    <a:lstStyle/>
                    <a:p>
                      <a:r>
                        <a:rPr lang="en-GB" sz="1300" b="0" i="0" dirty="0">
                          <a:solidFill>
                            <a:srgbClr val="1C1C1C"/>
                          </a:solidFill>
                          <a:latin typeface="UCL Sans"/>
                        </a:rPr>
                        <a:t>Clinical trials</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Phase progression, termination, design features</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Across modality, sponsor, region, or period</a:t>
                      </a:r>
                      <a:endParaRPr sz="1300" b="0" i="0" dirty="0">
                        <a:solidFill>
                          <a:srgbClr val="1C1C1C"/>
                        </a:solidFill>
                        <a:latin typeface="UCL Sans"/>
                      </a:endParaRPr>
                    </a:p>
                  </a:txBody>
                  <a:tcPr anchor="ctr">
                    <a:solidFill>
                      <a:srgbClr val="FFFFFF"/>
                    </a:solidFill>
                  </a:tcPr>
                </a:tc>
                <a:extLst>
                  <a:ext uri="{0D108BD9-81ED-4DB2-BD59-A6C34878D82A}">
                    <a16:rowId xmlns:a16="http://schemas.microsoft.com/office/drawing/2014/main" val="10001"/>
                  </a:ext>
                </a:extLst>
              </a:tr>
              <a:tr h="374904">
                <a:tc>
                  <a:txBody>
                    <a:bodyPr/>
                    <a:lstStyle/>
                    <a:p>
                      <a:r>
                        <a:rPr lang="en-GB" sz="1300" b="0" i="0" dirty="0">
                          <a:solidFill>
                            <a:srgbClr val="3A1857"/>
                          </a:solidFill>
                          <a:latin typeface="UCL Sans SemiBold"/>
                        </a:rPr>
                        <a:t>Trial representation</a:t>
                      </a:r>
                      <a:endParaRPr sz="1300" b="0" i="0" dirty="0">
                        <a:solidFill>
                          <a:srgbClr val="3A1857"/>
                        </a:solidFill>
                        <a:latin typeface="UCL Sans SemiBold"/>
                      </a:endParaRPr>
                    </a:p>
                  </a:txBody>
                  <a:tcPr anchor="ctr">
                    <a:solidFill>
                      <a:srgbClr val="EEDEFF"/>
                    </a:solidFill>
                  </a:tcPr>
                </a:tc>
                <a:tc>
                  <a:txBody>
                    <a:bodyPr/>
                    <a:lstStyle/>
                    <a:p>
                      <a:r>
                        <a:rPr lang="en-GB" sz="1300" b="0" i="0" dirty="0">
                          <a:solidFill>
                            <a:srgbClr val="1C1C1C"/>
                          </a:solidFill>
                          <a:latin typeface="UCL Sans"/>
                        </a:rPr>
                        <a:t>Clinical trials</a:t>
                      </a:r>
                      <a:endParaRPr sz="1300" b="0" i="0" dirty="0">
                        <a:solidFill>
                          <a:srgbClr val="1C1C1C"/>
                        </a:solidFill>
                        <a:latin typeface="UCL Sans"/>
                      </a:endParaRPr>
                    </a:p>
                  </a:txBody>
                  <a:tcPr anchor="ctr">
                    <a:solidFill>
                      <a:srgbClr val="EEDEFF"/>
                    </a:solidFill>
                  </a:tcPr>
                </a:tc>
                <a:tc>
                  <a:txBody>
                    <a:bodyPr/>
                    <a:lstStyle/>
                    <a:p>
                      <a:r>
                        <a:rPr lang="en-GB" sz="1300" b="0" i="0" dirty="0">
                          <a:solidFill>
                            <a:srgbClr val="1C1C1C"/>
                          </a:solidFill>
                          <a:latin typeface="UCL Sans"/>
                        </a:rPr>
                        <a:t>Participant demographics</a:t>
                      </a:r>
                      <a:endParaRPr sz="1300" b="0" i="0" dirty="0">
                        <a:solidFill>
                          <a:srgbClr val="1C1C1C"/>
                        </a:solidFill>
                        <a:latin typeface="UCL Sans"/>
                      </a:endParaRPr>
                    </a:p>
                  </a:txBody>
                  <a:tcPr anchor="ctr">
                    <a:solidFill>
                      <a:srgbClr val="EEDEFF"/>
                    </a:solidFill>
                  </a:tcPr>
                </a:tc>
                <a:tc>
                  <a:txBody>
                    <a:bodyPr/>
                    <a:lstStyle/>
                    <a:p>
                      <a:r>
                        <a:rPr lang="en-GB" sz="1300" b="0" i="0" dirty="0">
                          <a:solidFill>
                            <a:srgbClr val="1C1C1C"/>
                          </a:solidFill>
                          <a:latin typeface="UCL Sans"/>
                        </a:rPr>
                        <a:t>Against disease prevalence, over time</a:t>
                      </a:r>
                      <a:endParaRPr sz="1300" b="0" i="0" dirty="0">
                        <a:solidFill>
                          <a:srgbClr val="1C1C1C"/>
                        </a:solidFill>
                        <a:latin typeface="UCL Sans"/>
                      </a:endParaRPr>
                    </a:p>
                  </a:txBody>
                  <a:tcPr anchor="ctr">
                    <a:solidFill>
                      <a:srgbClr val="EEDEFF"/>
                    </a:solidFill>
                  </a:tcPr>
                </a:tc>
                <a:extLst>
                  <a:ext uri="{0D108BD9-81ED-4DB2-BD59-A6C34878D82A}">
                    <a16:rowId xmlns:a16="http://schemas.microsoft.com/office/drawing/2014/main" val="10002"/>
                  </a:ext>
                </a:extLst>
              </a:tr>
              <a:tr h="374904">
                <a:tc>
                  <a:txBody>
                    <a:bodyPr/>
                    <a:lstStyle/>
                    <a:p>
                      <a:r>
                        <a:rPr lang="en-GB" sz="1300" b="0" i="0" dirty="0">
                          <a:solidFill>
                            <a:srgbClr val="3A1857"/>
                          </a:solidFill>
                          <a:latin typeface="UCL Sans SemiBold"/>
                        </a:rPr>
                        <a:t>Medicines use</a:t>
                      </a:r>
                      <a:endParaRPr sz="1300" b="0" i="0" dirty="0">
                        <a:solidFill>
                          <a:srgbClr val="3A1857"/>
                        </a:solidFill>
                        <a:latin typeface="UCL Sans SemiBold"/>
                      </a:endParaRPr>
                    </a:p>
                  </a:txBody>
                  <a:tcPr anchor="ctr">
                    <a:solidFill>
                      <a:srgbClr val="FFFFFF"/>
                    </a:solidFill>
                  </a:tcPr>
                </a:tc>
                <a:tc>
                  <a:txBody>
                    <a:bodyPr/>
                    <a:lstStyle/>
                    <a:p>
                      <a:r>
                        <a:rPr lang="en-GB" sz="1300" b="0" i="0" dirty="0" err="1">
                          <a:solidFill>
                            <a:srgbClr val="1C1C1C"/>
                          </a:solidFill>
                          <a:latin typeface="UCL Sans"/>
                        </a:rPr>
                        <a:t>OpenPrescribing</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Prescribing volume or share</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Before/after an event, between regions</a:t>
                      </a:r>
                      <a:endParaRPr sz="1300" b="0" i="0" dirty="0">
                        <a:solidFill>
                          <a:srgbClr val="1C1C1C"/>
                        </a:solidFill>
                        <a:latin typeface="UCL Sans"/>
                      </a:endParaRPr>
                    </a:p>
                  </a:txBody>
                  <a:tcPr anchor="ctr">
                    <a:solidFill>
                      <a:srgbClr val="FFFFFF"/>
                    </a:solidFill>
                  </a:tcPr>
                </a:tc>
                <a:extLst>
                  <a:ext uri="{0D108BD9-81ED-4DB2-BD59-A6C34878D82A}">
                    <a16:rowId xmlns:a16="http://schemas.microsoft.com/office/drawing/2014/main" val="10003"/>
                  </a:ext>
                </a:extLst>
              </a:tr>
              <a:tr h="374904">
                <a:tc>
                  <a:txBody>
                    <a:bodyPr/>
                    <a:lstStyle/>
                    <a:p>
                      <a:r>
                        <a:rPr lang="en-GB" sz="1300" b="0" i="0" dirty="0">
                          <a:solidFill>
                            <a:srgbClr val="3A1857"/>
                          </a:solidFill>
                          <a:latin typeface="UCL Sans SemiBold"/>
                        </a:rPr>
                        <a:t>Regulatory comparison</a:t>
                      </a:r>
                      <a:endParaRPr sz="1300" b="0" i="0" dirty="0">
                        <a:solidFill>
                          <a:srgbClr val="3A1857"/>
                        </a:solidFill>
                        <a:latin typeface="UCL Sans SemiBold"/>
                      </a:endParaRPr>
                    </a:p>
                  </a:txBody>
                  <a:tcPr anchor="ctr">
                    <a:solidFill>
                      <a:srgbClr val="EEDEFF"/>
                    </a:solidFill>
                  </a:tcPr>
                </a:tc>
                <a:tc>
                  <a:txBody>
                    <a:bodyPr/>
                    <a:lstStyle/>
                    <a:p>
                      <a:r>
                        <a:rPr lang="en-GB" sz="1300" b="0" i="0" dirty="0">
                          <a:solidFill>
                            <a:srgbClr val="1C1C1C"/>
                          </a:solidFill>
                          <a:latin typeface="UCL Sans"/>
                        </a:rPr>
                        <a:t>Approved medicines</a:t>
                      </a:r>
                      <a:endParaRPr sz="1300" b="0" i="0" dirty="0">
                        <a:solidFill>
                          <a:srgbClr val="1C1C1C"/>
                        </a:solidFill>
                        <a:latin typeface="UCL Sans"/>
                      </a:endParaRPr>
                    </a:p>
                  </a:txBody>
                  <a:tcPr anchor="ctr">
                    <a:solidFill>
                      <a:srgbClr val="EEDEFF"/>
                    </a:solidFill>
                  </a:tcPr>
                </a:tc>
                <a:tc>
                  <a:txBody>
                    <a:bodyPr/>
                    <a:lstStyle/>
                    <a:p>
                      <a:r>
                        <a:rPr lang="en-GB" sz="1300" b="0" i="0" dirty="0">
                          <a:solidFill>
                            <a:srgbClr val="1C1C1C"/>
                          </a:solidFill>
                          <a:latin typeface="UCL Sans"/>
                        </a:rPr>
                        <a:t>Approval dates and pathways</a:t>
                      </a:r>
                      <a:endParaRPr sz="1300" b="0" i="0" dirty="0">
                        <a:solidFill>
                          <a:srgbClr val="1C1C1C"/>
                        </a:solidFill>
                        <a:latin typeface="UCL Sans"/>
                      </a:endParaRPr>
                    </a:p>
                  </a:txBody>
                  <a:tcPr anchor="ctr">
                    <a:solidFill>
                      <a:srgbClr val="EEDEFF"/>
                    </a:solidFill>
                  </a:tcPr>
                </a:tc>
                <a:tc>
                  <a:txBody>
                    <a:bodyPr/>
                    <a:lstStyle/>
                    <a:p>
                      <a:r>
                        <a:rPr lang="en-GB" sz="1300" b="0" i="0" dirty="0">
                          <a:solidFill>
                            <a:srgbClr val="1C1C1C"/>
                          </a:solidFill>
                          <a:latin typeface="UCL Sans"/>
                        </a:rPr>
                        <a:t>Across regulators or periods</a:t>
                      </a:r>
                      <a:endParaRPr sz="1300" b="0" i="0" dirty="0">
                        <a:solidFill>
                          <a:srgbClr val="1C1C1C"/>
                        </a:solidFill>
                        <a:latin typeface="UCL Sans"/>
                      </a:endParaRPr>
                    </a:p>
                  </a:txBody>
                  <a:tcPr anchor="ctr">
                    <a:solidFill>
                      <a:srgbClr val="EEDEFF"/>
                    </a:solidFill>
                  </a:tcPr>
                </a:tc>
                <a:extLst>
                  <a:ext uri="{0D108BD9-81ED-4DB2-BD59-A6C34878D82A}">
                    <a16:rowId xmlns:a16="http://schemas.microsoft.com/office/drawing/2014/main" val="10004"/>
                  </a:ext>
                </a:extLst>
              </a:tr>
              <a:tr h="374904">
                <a:tc>
                  <a:txBody>
                    <a:bodyPr/>
                    <a:lstStyle/>
                    <a:p>
                      <a:r>
                        <a:rPr lang="en-GB" sz="1300" b="0" i="0" dirty="0">
                          <a:solidFill>
                            <a:srgbClr val="3A1857"/>
                          </a:solidFill>
                          <a:latin typeface="UCL Sans SemiBold"/>
                        </a:rPr>
                        <a:t>Pharmacovigilance</a:t>
                      </a:r>
                      <a:endParaRPr sz="1300" b="0" i="0" dirty="0">
                        <a:solidFill>
                          <a:srgbClr val="3A1857"/>
                        </a:solidFill>
                        <a:latin typeface="UCL Sans SemiBold"/>
                      </a:endParaRPr>
                    </a:p>
                  </a:txBody>
                  <a:tcPr anchor="ctr">
                    <a:solidFill>
                      <a:srgbClr val="FFFFFF"/>
                    </a:solidFill>
                  </a:tcPr>
                </a:tc>
                <a:tc>
                  <a:txBody>
                    <a:bodyPr/>
                    <a:lstStyle/>
                    <a:p>
                      <a:r>
                        <a:rPr lang="en-GB" sz="1300" b="0" i="0" dirty="0">
                          <a:solidFill>
                            <a:srgbClr val="1C1C1C"/>
                          </a:solidFill>
                          <a:latin typeface="UCL Sans"/>
                        </a:rPr>
                        <a:t>Adverse event reports (FAERS)</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Reporting odds</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Against other drugs, between sexes, age groups</a:t>
                      </a:r>
                      <a:endParaRPr sz="1300" b="0" i="0" dirty="0">
                        <a:solidFill>
                          <a:srgbClr val="1C1C1C"/>
                        </a:solidFill>
                        <a:latin typeface="UCL Sans"/>
                      </a:endParaRPr>
                    </a:p>
                  </a:txBody>
                  <a:tcPr anchor="ctr">
                    <a:solidFill>
                      <a:srgbClr val="FFFFFF"/>
                    </a:solidFill>
                  </a:tcPr>
                </a:tc>
                <a:extLst>
                  <a:ext uri="{0D108BD9-81ED-4DB2-BD59-A6C34878D82A}">
                    <a16:rowId xmlns:a16="http://schemas.microsoft.com/office/drawing/2014/main" val="10005"/>
                  </a:ext>
                </a:extLst>
              </a:tr>
              <a:tr h="374904">
                <a:tc>
                  <a:txBody>
                    <a:bodyPr/>
                    <a:lstStyle/>
                    <a:p>
                      <a:r>
                        <a:rPr lang="en-GB" sz="1300" b="0" i="0" dirty="0">
                          <a:solidFill>
                            <a:srgbClr val="3A1857"/>
                          </a:solidFill>
                          <a:latin typeface="UCL Sans SemiBold"/>
                        </a:rPr>
                        <a:t>Trial transparency</a:t>
                      </a:r>
                      <a:endParaRPr sz="1300" b="0" i="0" dirty="0">
                        <a:solidFill>
                          <a:srgbClr val="3A1857"/>
                        </a:solidFill>
                        <a:latin typeface="UCL Sans SemiBold"/>
                      </a:endParaRPr>
                    </a:p>
                  </a:txBody>
                  <a:tcPr anchor="ctr">
                    <a:solidFill>
                      <a:srgbClr val="EEDEFF"/>
                    </a:solidFill>
                  </a:tcPr>
                </a:tc>
                <a:tc>
                  <a:txBody>
                    <a:bodyPr/>
                    <a:lstStyle/>
                    <a:p>
                      <a:r>
                        <a:rPr lang="en-GB" sz="1300" b="0" i="0" dirty="0">
                          <a:solidFill>
                            <a:srgbClr val="1C1C1C"/>
                          </a:solidFill>
                          <a:latin typeface="UCL Sans"/>
                        </a:rPr>
                        <a:t>Completed trials</a:t>
                      </a:r>
                      <a:endParaRPr sz="1300" b="0" i="0" dirty="0">
                        <a:solidFill>
                          <a:srgbClr val="1C1C1C"/>
                        </a:solidFill>
                        <a:latin typeface="UCL Sans"/>
                      </a:endParaRPr>
                    </a:p>
                  </a:txBody>
                  <a:tcPr anchor="ctr">
                    <a:solidFill>
                      <a:srgbClr val="EEDEFF"/>
                    </a:solidFill>
                  </a:tcPr>
                </a:tc>
                <a:tc>
                  <a:txBody>
                    <a:bodyPr/>
                    <a:lstStyle/>
                    <a:p>
                      <a:r>
                        <a:rPr lang="en-GB" sz="1300" b="0" i="0" dirty="0">
                          <a:solidFill>
                            <a:srgbClr val="1C1C1C"/>
                          </a:solidFill>
                          <a:latin typeface="UCL Sans"/>
                        </a:rPr>
                        <a:t>Whether and when results are posted</a:t>
                      </a:r>
                      <a:endParaRPr sz="1300" b="0" i="0" dirty="0">
                        <a:solidFill>
                          <a:srgbClr val="1C1C1C"/>
                        </a:solidFill>
                        <a:latin typeface="UCL Sans"/>
                      </a:endParaRPr>
                    </a:p>
                  </a:txBody>
                  <a:tcPr anchor="ctr">
                    <a:solidFill>
                      <a:srgbClr val="EEDEFF"/>
                    </a:solidFill>
                  </a:tcPr>
                </a:tc>
                <a:tc>
                  <a:txBody>
                    <a:bodyPr/>
                    <a:lstStyle/>
                    <a:p>
                      <a:r>
                        <a:rPr lang="en-GB" sz="1300" b="0" i="0" dirty="0">
                          <a:solidFill>
                            <a:srgbClr val="1C1C1C"/>
                          </a:solidFill>
                          <a:latin typeface="UCL Sans"/>
                        </a:rPr>
                        <a:t>Industry vs academic sponsors, across periods, or areas</a:t>
                      </a:r>
                      <a:endParaRPr sz="1300" b="0" i="0" dirty="0">
                        <a:solidFill>
                          <a:srgbClr val="1C1C1C"/>
                        </a:solidFill>
                        <a:latin typeface="UCL Sans"/>
                      </a:endParaRPr>
                    </a:p>
                  </a:txBody>
                  <a:tcPr anchor="ctr">
                    <a:solidFill>
                      <a:srgbClr val="EEDEFF"/>
                    </a:solidFill>
                  </a:tcPr>
                </a:tc>
                <a:extLst>
                  <a:ext uri="{0D108BD9-81ED-4DB2-BD59-A6C34878D82A}">
                    <a16:rowId xmlns:a16="http://schemas.microsoft.com/office/drawing/2014/main" val="10006"/>
                  </a:ext>
                </a:extLst>
              </a:tr>
              <a:tr h="374904">
                <a:tc>
                  <a:txBody>
                    <a:bodyPr/>
                    <a:lstStyle/>
                    <a:p>
                      <a:r>
                        <a:rPr lang="en-GB" sz="1300" b="0" i="0" dirty="0">
                          <a:solidFill>
                            <a:srgbClr val="3A1857"/>
                          </a:solidFill>
                          <a:latin typeface="UCL Sans SemiBold"/>
                        </a:rPr>
                        <a:t>Chemistry trends</a:t>
                      </a:r>
                      <a:endParaRPr sz="1300" b="0" i="0" dirty="0">
                        <a:solidFill>
                          <a:srgbClr val="3A1857"/>
                        </a:solidFill>
                        <a:latin typeface="UCL Sans SemiBold"/>
                      </a:endParaRPr>
                    </a:p>
                  </a:txBody>
                  <a:tcPr anchor="ctr">
                    <a:solidFill>
                      <a:srgbClr val="FFFFFF"/>
                    </a:solidFill>
                  </a:tcPr>
                </a:tc>
                <a:tc>
                  <a:txBody>
                    <a:bodyPr/>
                    <a:lstStyle/>
                    <a:p>
                      <a:r>
                        <a:rPr lang="en-GB" sz="1300" b="0" i="0" dirty="0">
                          <a:solidFill>
                            <a:srgbClr val="1C1C1C"/>
                          </a:solidFill>
                          <a:latin typeface="UCL Sans"/>
                        </a:rPr>
                        <a:t>Approved drugs (</a:t>
                      </a:r>
                      <a:r>
                        <a:rPr lang="en-GB" sz="1300" b="0" i="0" dirty="0" err="1">
                          <a:solidFill>
                            <a:srgbClr val="1C1C1C"/>
                          </a:solidFill>
                          <a:latin typeface="UCL Sans"/>
                        </a:rPr>
                        <a:t>ChEMBL</a:t>
                      </a:r>
                      <a:r>
                        <a:rPr lang="en-GB" sz="1300" b="0" i="0" dirty="0">
                          <a:solidFill>
                            <a:srgbClr val="1C1C1C"/>
                          </a:solidFill>
                          <a:latin typeface="UCL Sans"/>
                        </a:rPr>
                        <a:t>)</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Physicochemical or structural features</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Across approval periods, target classes, originators</a:t>
                      </a:r>
                      <a:endParaRPr sz="1300" b="0" i="0" dirty="0">
                        <a:solidFill>
                          <a:srgbClr val="1C1C1C"/>
                        </a:solidFill>
                        <a:latin typeface="UCL Sans"/>
                      </a:endParaRPr>
                    </a:p>
                  </a:txBody>
                  <a:tcPr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05802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3B870-937B-CD15-4A96-947FF2B257A4}"/>
              </a:ext>
            </a:extLst>
          </p:cNvPr>
          <p:cNvSpPr>
            <a:spLocks noGrp="1"/>
          </p:cNvSpPr>
          <p:nvPr>
            <p:ph type="ctrTitle"/>
          </p:nvPr>
        </p:nvSpPr>
        <p:spPr/>
        <p:txBody>
          <a:bodyPr/>
          <a:lstStyle/>
          <a:p>
            <a:r>
              <a:rPr lang="en-GB" dirty="0"/>
              <a:t>‘Areas of inspiration’</a:t>
            </a:r>
          </a:p>
        </p:txBody>
      </p:sp>
      <p:sp>
        <p:nvSpPr>
          <p:cNvPr id="3" name="Content Placeholder 2">
            <a:extLst>
              <a:ext uri="{FF2B5EF4-FFF2-40B4-BE49-F238E27FC236}">
                <a16:creationId xmlns:a16="http://schemas.microsoft.com/office/drawing/2014/main" id="{FA5ADBBC-72AF-AD3B-95F9-239DE690DD39}"/>
              </a:ext>
            </a:extLst>
          </p:cNvPr>
          <p:cNvSpPr>
            <a:spLocks noGrp="1"/>
          </p:cNvSpPr>
          <p:nvPr>
            <p:ph idx="1"/>
          </p:nvPr>
        </p:nvSpPr>
        <p:spPr/>
        <p:txBody>
          <a:bodyPr numCol="2"/>
          <a:lstStyle/>
          <a:p>
            <a:pPr marL="285750" indent="-285750">
              <a:buFont typeface="Arial" panose="020B0604020202020204" pitchFamily="34" charset="0"/>
              <a:buChar char="•"/>
            </a:pPr>
            <a:r>
              <a:rPr lang="en-GB" dirty="0"/>
              <a:t>International comparison</a:t>
            </a:r>
          </a:p>
          <a:p>
            <a:pPr marL="285750" indent="-285750">
              <a:buFont typeface="Arial" panose="020B0604020202020204" pitchFamily="34" charset="0"/>
              <a:buChar char="•"/>
            </a:pPr>
            <a:r>
              <a:rPr lang="en-GB" dirty="0"/>
              <a:t>Africa and global health</a:t>
            </a:r>
          </a:p>
          <a:p>
            <a:pPr marL="285750" indent="-285750">
              <a:buFont typeface="Arial" panose="020B0604020202020204" pitchFamily="34" charset="0"/>
              <a:buChar char="•"/>
            </a:pPr>
            <a:r>
              <a:rPr lang="en-GB" dirty="0"/>
              <a:t>Women’s health</a:t>
            </a:r>
          </a:p>
          <a:p>
            <a:pPr marL="285750" indent="-285750">
              <a:buFont typeface="Arial" panose="020B0604020202020204" pitchFamily="34" charset="0"/>
              <a:buChar char="•"/>
            </a:pPr>
            <a:r>
              <a:rPr lang="en-GB" dirty="0"/>
              <a:t>Pregnancy</a:t>
            </a:r>
          </a:p>
          <a:p>
            <a:pPr marL="285750" indent="-285750">
              <a:buFont typeface="Arial" panose="020B0604020202020204" pitchFamily="34" charset="0"/>
              <a:buChar char="•"/>
            </a:pPr>
            <a:r>
              <a:rPr lang="en-GB" dirty="0"/>
              <a:t>Ethnic diversity</a:t>
            </a:r>
          </a:p>
          <a:p>
            <a:pPr marL="285750" indent="-285750">
              <a:buFont typeface="Arial" panose="020B0604020202020204" pitchFamily="34" charset="0"/>
              <a:buChar char="•"/>
            </a:pPr>
            <a:r>
              <a:rPr lang="en-GB" dirty="0"/>
              <a:t>Geriatrics / paediatrics</a:t>
            </a:r>
          </a:p>
          <a:p>
            <a:pPr marL="285750" indent="-285750">
              <a:buFont typeface="Arial" panose="020B0604020202020204" pitchFamily="34" charset="0"/>
              <a:buChar char="•"/>
            </a:pPr>
            <a:r>
              <a:rPr lang="en-GB" dirty="0"/>
              <a:t>Rare diseases</a:t>
            </a:r>
          </a:p>
          <a:p>
            <a:pPr marL="285750" indent="-285750">
              <a:buFont typeface="Arial" panose="020B0604020202020204" pitchFamily="34" charset="0"/>
              <a:buChar char="•"/>
            </a:pPr>
            <a:r>
              <a:rPr lang="en-GB" dirty="0"/>
              <a:t>Advanced therapies</a:t>
            </a:r>
          </a:p>
          <a:p>
            <a:pPr marL="285750" indent="-285750">
              <a:buFont typeface="Arial" panose="020B0604020202020204" pitchFamily="34" charset="0"/>
              <a:buChar char="•"/>
            </a:pPr>
            <a:r>
              <a:rPr lang="en-GB" dirty="0"/>
              <a:t>AMR</a:t>
            </a:r>
          </a:p>
          <a:p>
            <a:pPr marL="285750" indent="-285750">
              <a:buFont typeface="Arial" panose="020B0604020202020204" pitchFamily="34" charset="0"/>
              <a:buChar char="•"/>
            </a:pPr>
            <a:r>
              <a:rPr lang="en-GB" dirty="0"/>
              <a:t>Obesity</a:t>
            </a:r>
          </a:p>
          <a:p>
            <a:pPr marL="285750" indent="-285750">
              <a:buFont typeface="Arial" panose="020B0604020202020204" pitchFamily="34" charset="0"/>
              <a:buChar char="•"/>
            </a:pPr>
            <a:r>
              <a:rPr lang="en-GB" dirty="0"/>
              <a:t>Mental health</a:t>
            </a:r>
          </a:p>
          <a:p>
            <a:pPr marL="285750" indent="-285750">
              <a:buFont typeface="Arial" panose="020B0604020202020204" pitchFamily="34" charset="0"/>
              <a:buChar char="•"/>
            </a:pPr>
            <a:r>
              <a:rPr lang="en-GB" dirty="0"/>
              <a:t>Generics and biosimilars</a:t>
            </a:r>
          </a:p>
          <a:p>
            <a:pPr marL="285750" indent="-285750">
              <a:buFont typeface="Arial" panose="020B0604020202020204" pitchFamily="34" charset="0"/>
              <a:buChar char="•"/>
            </a:pPr>
            <a:r>
              <a:rPr lang="en-GB" dirty="0"/>
              <a:t>Discontinuations and switching</a:t>
            </a:r>
          </a:p>
          <a:p>
            <a:pPr marL="285750" indent="-285750">
              <a:buFont typeface="Arial" panose="020B0604020202020204" pitchFamily="34" charset="0"/>
              <a:buChar char="•"/>
            </a:pPr>
            <a:r>
              <a:rPr lang="en-GB" dirty="0"/>
              <a:t>Health inequalities</a:t>
            </a:r>
          </a:p>
          <a:p>
            <a:pPr marL="285750" indent="-285750">
              <a:buFont typeface="Arial" panose="020B0604020202020204" pitchFamily="34" charset="0"/>
              <a:buChar char="•"/>
            </a:pPr>
            <a:r>
              <a:rPr lang="en-GB" dirty="0"/>
              <a:t>Sustainability</a:t>
            </a:r>
          </a:p>
          <a:p>
            <a:pPr marL="285750" indent="-285750">
              <a:buFont typeface="Arial" panose="020B0604020202020204" pitchFamily="34" charset="0"/>
              <a:buChar char="•"/>
            </a:pPr>
            <a:r>
              <a:rPr lang="en-GB" dirty="0"/>
              <a:t>Research waste and transparency</a:t>
            </a:r>
          </a:p>
          <a:p>
            <a:pPr marL="285750" indent="-285750">
              <a:buFont typeface="Arial" panose="020B0604020202020204" pitchFamily="34" charset="0"/>
              <a:buChar char="•"/>
            </a:pPr>
            <a:r>
              <a:rPr lang="en-GB" dirty="0"/>
              <a:t>Drug repurposing</a:t>
            </a:r>
          </a:p>
          <a:p>
            <a:pPr marL="285750" indent="-285750">
              <a:buFont typeface="Arial" panose="020B0604020202020204" pitchFamily="34" charset="0"/>
              <a:buChar char="•"/>
            </a:pPr>
            <a:r>
              <a:rPr lang="en-GB" dirty="0"/>
              <a:t>New modalities</a:t>
            </a:r>
          </a:p>
          <a:p>
            <a:pPr marL="285750" indent="-285750">
              <a:buFont typeface="Arial" panose="020B0604020202020204" pitchFamily="34" charset="0"/>
              <a:buChar char="•"/>
            </a:pPr>
            <a:r>
              <a:rPr lang="en-GB" dirty="0"/>
              <a:t>AI in discovery</a:t>
            </a:r>
          </a:p>
        </p:txBody>
      </p:sp>
    </p:spTree>
    <p:extLst>
      <p:ext uri="{BB962C8B-B14F-4D97-AF65-F5344CB8AC3E}">
        <p14:creationId xmlns:p14="http://schemas.microsoft.com/office/powerpoint/2010/main" val="2787174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AA7C0-6555-3B7B-E886-9F43CF14B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51EAF-3443-312C-8BB2-CC6D465A6E03}"/>
              </a:ext>
            </a:extLst>
          </p:cNvPr>
          <p:cNvSpPr>
            <a:spLocks noGrp="1"/>
          </p:cNvSpPr>
          <p:nvPr>
            <p:ph type="ctrTitle"/>
          </p:nvPr>
        </p:nvSpPr>
        <p:spPr/>
        <p:txBody>
          <a:bodyPr/>
          <a:lstStyle/>
          <a:p>
            <a:r>
              <a:rPr lang="en-GB" dirty="0"/>
              <a:t>Use of AI</a:t>
            </a:r>
          </a:p>
        </p:txBody>
      </p:sp>
      <p:sp>
        <p:nvSpPr>
          <p:cNvPr id="3" name="Content Placeholder 2">
            <a:extLst>
              <a:ext uri="{FF2B5EF4-FFF2-40B4-BE49-F238E27FC236}">
                <a16:creationId xmlns:a16="http://schemas.microsoft.com/office/drawing/2014/main" id="{A1C57457-4B97-D62C-5CB3-9F37CB429D8D}"/>
              </a:ext>
            </a:extLst>
          </p:cNvPr>
          <p:cNvSpPr>
            <a:spLocks noGrp="1"/>
          </p:cNvSpPr>
          <p:nvPr>
            <p:ph idx="1"/>
          </p:nvPr>
        </p:nvSpPr>
        <p:spPr/>
        <p:txBody>
          <a:bodyPr/>
          <a:lstStyle/>
          <a:p>
            <a:pPr marL="285750" indent="-285750">
              <a:buFont typeface="Arial" panose="020B0604020202020204" pitchFamily="34" charset="0"/>
              <a:buChar char="•"/>
            </a:pPr>
            <a:r>
              <a:rPr lang="en-GB" dirty="0"/>
              <a:t>Currently, we ask students to revise their abstract using GenAI</a:t>
            </a:r>
          </a:p>
          <a:p>
            <a:pPr marL="285750" indent="-285750">
              <a:buFont typeface="Arial" panose="020B0604020202020204" pitchFamily="34" charset="0"/>
              <a:buChar char="•"/>
            </a:pPr>
            <a:r>
              <a:rPr lang="en-GB" dirty="0"/>
              <a:t>Easy marks for prompt writing, no test of critical thinking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Alternative?</a:t>
            </a:r>
          </a:p>
          <a:p>
            <a:pPr marL="742950" lvl="1" indent="-285750">
              <a:buFont typeface="Arial" panose="020B0604020202020204" pitchFamily="34" charset="0"/>
              <a:buChar char="•"/>
            </a:pPr>
            <a:r>
              <a:rPr lang="en-GB" sz="1800" dirty="0"/>
              <a:t>Use AI to critique a draft of results and discussion – student should incorporate or reject the points raised, with reasoning</a:t>
            </a:r>
          </a:p>
          <a:p>
            <a:pPr marL="742950" lvl="1" indent="-285750">
              <a:buFont typeface="Arial" panose="020B0604020202020204" pitchFamily="34" charset="0"/>
              <a:buChar char="•"/>
            </a:pPr>
            <a:r>
              <a:rPr lang="en-GB" sz="1800" dirty="0"/>
              <a:t>Limit to 5 points – in table format – to keep marking easy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Industry projects</a:t>
            </a:r>
          </a:p>
          <a:p>
            <a:pPr marL="742950" lvl="1" indent="-285750">
              <a:buFont typeface="Arial" panose="020B0604020202020204" pitchFamily="34" charset="0"/>
              <a:buChar char="•"/>
            </a:pPr>
            <a:r>
              <a:rPr lang="en-GB" sz="1800" dirty="0"/>
              <a:t>Student must use UCL-licensed tool with no retention, and partner consent in the project agreement</a:t>
            </a:r>
          </a:p>
          <a:p>
            <a:pPr marL="742950" lvl="1" indent="-285750">
              <a:buFont typeface="Arial" panose="020B0604020202020204" pitchFamily="34" charset="0"/>
              <a:buChar char="•"/>
            </a:pPr>
            <a:r>
              <a:rPr lang="en-GB" sz="1800" dirty="0"/>
              <a:t>Otherwise, critique a redacted design and methods</a:t>
            </a:r>
          </a:p>
        </p:txBody>
      </p:sp>
    </p:spTree>
    <p:extLst>
      <p:ext uri="{BB962C8B-B14F-4D97-AF65-F5344CB8AC3E}">
        <p14:creationId xmlns:p14="http://schemas.microsoft.com/office/powerpoint/2010/main" val="760792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5C027-463C-76BA-6E69-2912D75CF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E8F5C-8007-5D42-5888-853385FAF11A}"/>
              </a:ext>
            </a:extLst>
          </p:cNvPr>
          <p:cNvSpPr>
            <a:spLocks noGrp="1"/>
          </p:cNvSpPr>
          <p:nvPr>
            <p:ph type="ctrTitle"/>
          </p:nvPr>
        </p:nvSpPr>
        <p:spPr/>
        <p:txBody>
          <a:bodyPr/>
          <a:lstStyle/>
          <a:p>
            <a:r>
              <a:rPr lang="en-GB" dirty="0"/>
              <a:t>Marking schemes</a:t>
            </a:r>
          </a:p>
        </p:txBody>
      </p:sp>
      <p:graphicFrame>
        <p:nvGraphicFramePr>
          <p:cNvPr id="7" name="Content Placeholder 6">
            <a:extLst>
              <a:ext uri="{FF2B5EF4-FFF2-40B4-BE49-F238E27FC236}">
                <a16:creationId xmlns:a16="http://schemas.microsoft.com/office/drawing/2014/main" id="{D9C611F4-4502-2D74-E98D-2E1B89067611}"/>
              </a:ext>
            </a:extLst>
          </p:cNvPr>
          <p:cNvGraphicFramePr>
            <a:graphicFrameLocks noGrp="1"/>
          </p:cNvGraphicFramePr>
          <p:nvPr>
            <p:ph idx="1"/>
            <p:extLst>
              <p:ext uri="{D42A27DB-BD31-4B8C-83A1-F6EECF244321}">
                <p14:modId xmlns:p14="http://schemas.microsoft.com/office/powerpoint/2010/main" val="333166074"/>
              </p:ext>
            </p:extLst>
          </p:nvPr>
        </p:nvGraphicFramePr>
        <p:xfrm>
          <a:off x="426720" y="1437809"/>
          <a:ext cx="11338560" cy="4206240"/>
        </p:xfrm>
        <a:graphic>
          <a:graphicData uri="http://schemas.openxmlformats.org/drawingml/2006/table">
            <a:tbl>
              <a:tblPr firstRow="1"/>
              <a:tblGrid>
                <a:gridCol w="2652564">
                  <a:extLst>
                    <a:ext uri="{9D8B030D-6E8A-4147-A177-3AD203B41FA5}">
                      <a16:colId xmlns:a16="http://schemas.microsoft.com/office/drawing/2014/main" val="2064294215"/>
                    </a:ext>
                  </a:extLst>
                </a:gridCol>
                <a:gridCol w="928484">
                  <a:extLst>
                    <a:ext uri="{9D8B030D-6E8A-4147-A177-3AD203B41FA5}">
                      <a16:colId xmlns:a16="http://schemas.microsoft.com/office/drawing/2014/main" val="4095819791"/>
                    </a:ext>
                  </a:extLst>
                </a:gridCol>
                <a:gridCol w="1008112">
                  <a:extLst>
                    <a:ext uri="{9D8B030D-6E8A-4147-A177-3AD203B41FA5}">
                      <a16:colId xmlns:a16="http://schemas.microsoft.com/office/drawing/2014/main" val="643153856"/>
                    </a:ext>
                  </a:extLst>
                </a:gridCol>
                <a:gridCol w="6749400">
                  <a:extLst>
                    <a:ext uri="{9D8B030D-6E8A-4147-A177-3AD203B41FA5}">
                      <a16:colId xmlns:a16="http://schemas.microsoft.com/office/drawing/2014/main" val="3374153321"/>
                    </a:ext>
                  </a:extLst>
                </a:gridCol>
              </a:tblGrid>
              <a:tr h="502920">
                <a:tc>
                  <a:txBody>
                    <a:bodyPr/>
                    <a:lstStyle/>
                    <a:p>
                      <a:r>
                        <a:rPr sz="1300" b="0" i="0" dirty="0">
                          <a:solidFill>
                            <a:srgbClr val="FFFFFF"/>
                          </a:solidFill>
                          <a:latin typeface="UCL Sans SemiBold"/>
                        </a:rPr>
                        <a:t>Criterion</a:t>
                      </a:r>
                    </a:p>
                  </a:txBody>
                  <a:tcPr anchor="ctr">
                    <a:solidFill>
                      <a:srgbClr val="3A1857"/>
                    </a:solidFill>
                  </a:tcPr>
                </a:tc>
                <a:tc>
                  <a:txBody>
                    <a:bodyPr/>
                    <a:lstStyle/>
                    <a:p>
                      <a:r>
                        <a:rPr lang="en-GB" sz="1300" b="0" i="0" dirty="0">
                          <a:solidFill>
                            <a:srgbClr val="FFFFFF"/>
                          </a:solidFill>
                          <a:latin typeface="UCL Sans SemiBold"/>
                        </a:rPr>
                        <a:t>Current</a:t>
                      </a:r>
                      <a:endParaRPr sz="1300" b="0" i="0" dirty="0">
                        <a:solidFill>
                          <a:srgbClr val="FFFFFF"/>
                        </a:solidFill>
                        <a:latin typeface="UCL Sans SemiBold"/>
                      </a:endParaRPr>
                    </a:p>
                  </a:txBody>
                  <a:tcPr anchor="ctr">
                    <a:solidFill>
                      <a:srgbClr val="3A1857"/>
                    </a:solidFill>
                  </a:tcPr>
                </a:tc>
                <a:tc>
                  <a:txBody>
                    <a:bodyPr/>
                    <a:lstStyle/>
                    <a:p>
                      <a:r>
                        <a:rPr lang="en-GB" sz="1300" b="0" i="0" dirty="0">
                          <a:solidFill>
                            <a:srgbClr val="FFFFFF"/>
                          </a:solidFill>
                          <a:latin typeface="UCL Sans SemiBold"/>
                        </a:rPr>
                        <a:t>Proposed</a:t>
                      </a:r>
                      <a:endParaRPr sz="1300" b="0" i="0" dirty="0">
                        <a:solidFill>
                          <a:srgbClr val="FFFFFF"/>
                        </a:solidFill>
                        <a:latin typeface="UCL Sans SemiBold"/>
                      </a:endParaRPr>
                    </a:p>
                  </a:txBody>
                  <a:tcPr anchor="ctr">
                    <a:solidFill>
                      <a:srgbClr val="3A1857"/>
                    </a:solidFill>
                  </a:tcPr>
                </a:tc>
                <a:tc>
                  <a:txBody>
                    <a:bodyPr/>
                    <a:lstStyle/>
                    <a:p>
                      <a:r>
                        <a:rPr sz="1300" b="0" i="0" dirty="0">
                          <a:solidFill>
                            <a:srgbClr val="FFFFFF"/>
                          </a:solidFill>
                          <a:latin typeface="UCL Sans SemiBold"/>
                        </a:rPr>
                        <a:t>What markers look for</a:t>
                      </a:r>
                    </a:p>
                  </a:txBody>
                  <a:tcPr anchor="ctr">
                    <a:solidFill>
                      <a:srgbClr val="3A1857"/>
                    </a:solidFill>
                  </a:tcPr>
                </a:tc>
                <a:extLst>
                  <a:ext uri="{0D108BD9-81ED-4DB2-BD59-A6C34878D82A}">
                    <a16:rowId xmlns:a16="http://schemas.microsoft.com/office/drawing/2014/main" val="2190558113"/>
                  </a:ext>
                </a:extLst>
              </a:tr>
              <a:tr h="502920">
                <a:tc>
                  <a:txBody>
                    <a:bodyPr/>
                    <a:lstStyle/>
                    <a:p>
                      <a:r>
                        <a:rPr sz="1300" b="0" i="0" dirty="0">
                          <a:solidFill>
                            <a:srgbClr val="3A1857"/>
                          </a:solidFill>
                          <a:latin typeface="UCL Sans SemiBold"/>
                        </a:rPr>
                        <a:t>Presentation and referencing</a:t>
                      </a:r>
                    </a:p>
                  </a:txBody>
                  <a:tcPr anchor="ctr">
                    <a:solidFill>
                      <a:srgbClr val="FFFFFF"/>
                    </a:solidFill>
                  </a:tcPr>
                </a:tc>
                <a:tc>
                  <a:txBody>
                    <a:bodyPr/>
                    <a:lstStyle/>
                    <a:p>
                      <a:r>
                        <a:rPr sz="1300" b="0" i="0" dirty="0">
                          <a:solidFill>
                            <a:srgbClr val="1C1C1C"/>
                          </a:solidFill>
                          <a:latin typeface="UCL Sans"/>
                        </a:rPr>
                        <a:t>10</a:t>
                      </a:r>
                    </a:p>
                  </a:txBody>
                  <a:tcPr anchor="ctr">
                    <a:solidFill>
                      <a:srgbClr val="FFFFFF"/>
                    </a:solidFill>
                  </a:tcPr>
                </a:tc>
                <a:tc>
                  <a:txBody>
                    <a:bodyPr/>
                    <a:lstStyle/>
                    <a:p>
                      <a:r>
                        <a:rPr lang="en-GB" sz="1300" b="0" i="0" dirty="0">
                          <a:solidFill>
                            <a:srgbClr val="1C1C1C"/>
                          </a:solidFill>
                          <a:latin typeface="UCL Sans"/>
                        </a:rPr>
                        <a:t>5</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Clear o</a:t>
                      </a:r>
                      <a:r>
                        <a:rPr sz="1300" b="0" i="0" dirty="0" err="1">
                          <a:solidFill>
                            <a:srgbClr val="1C1C1C"/>
                          </a:solidFill>
                          <a:latin typeface="UCL Sans"/>
                        </a:rPr>
                        <a:t>rganisation</a:t>
                      </a:r>
                      <a:r>
                        <a:rPr lang="en-GB" sz="1300" b="0" i="0" dirty="0">
                          <a:solidFill>
                            <a:srgbClr val="1C1C1C"/>
                          </a:solidFill>
                          <a:latin typeface="UCL Sans"/>
                        </a:rPr>
                        <a:t> with consistent formatting and appropriate structure, and </a:t>
                      </a:r>
                      <a:r>
                        <a:rPr sz="1300" b="0" i="0" dirty="0">
                          <a:solidFill>
                            <a:srgbClr val="1C1C1C"/>
                          </a:solidFill>
                          <a:latin typeface="UCL Sans"/>
                        </a:rPr>
                        <a:t>consistent and accurate referencing</a:t>
                      </a:r>
                    </a:p>
                  </a:txBody>
                  <a:tcPr anchor="ctr">
                    <a:solidFill>
                      <a:srgbClr val="FFFFFF"/>
                    </a:solidFill>
                  </a:tcPr>
                </a:tc>
                <a:extLst>
                  <a:ext uri="{0D108BD9-81ED-4DB2-BD59-A6C34878D82A}">
                    <a16:rowId xmlns:a16="http://schemas.microsoft.com/office/drawing/2014/main" val="2729846107"/>
                  </a:ext>
                </a:extLst>
              </a:tr>
              <a:tr h="502920">
                <a:tc>
                  <a:txBody>
                    <a:bodyPr/>
                    <a:lstStyle/>
                    <a:p>
                      <a:r>
                        <a:rPr sz="1300" b="0" i="0" dirty="0">
                          <a:solidFill>
                            <a:srgbClr val="3A1857"/>
                          </a:solidFill>
                          <a:latin typeface="UCL Sans SemiBold"/>
                        </a:rPr>
                        <a:t>Hypothesis</a:t>
                      </a:r>
                    </a:p>
                  </a:txBody>
                  <a:tcPr anchor="ctr">
                    <a:solidFill>
                      <a:srgbClr val="EEDEFF"/>
                    </a:solidFill>
                  </a:tcPr>
                </a:tc>
                <a:tc>
                  <a:txBody>
                    <a:bodyPr/>
                    <a:lstStyle/>
                    <a:p>
                      <a:r>
                        <a:rPr sz="1300" b="0" i="0" dirty="0">
                          <a:solidFill>
                            <a:srgbClr val="1C1C1C"/>
                          </a:solidFill>
                          <a:latin typeface="UCL Sans"/>
                        </a:rPr>
                        <a:t>5</a:t>
                      </a:r>
                    </a:p>
                  </a:txBody>
                  <a:tcPr anchor="ctr">
                    <a:solidFill>
                      <a:srgbClr val="EEDEFF"/>
                    </a:solidFill>
                  </a:tcPr>
                </a:tc>
                <a:tc>
                  <a:txBody>
                    <a:bodyPr/>
                    <a:lstStyle/>
                    <a:p>
                      <a:r>
                        <a:rPr lang="en-GB" sz="1300" b="0" i="0" dirty="0">
                          <a:solidFill>
                            <a:srgbClr val="1C1C1C"/>
                          </a:solidFill>
                          <a:latin typeface="UCL Sans"/>
                        </a:rPr>
                        <a:t>5</a:t>
                      </a:r>
                      <a:endParaRPr sz="1300" b="0" i="0" dirty="0">
                        <a:solidFill>
                          <a:srgbClr val="1C1C1C"/>
                        </a:solidFill>
                        <a:latin typeface="UCL Sans"/>
                      </a:endParaRPr>
                    </a:p>
                  </a:txBody>
                  <a:tcPr anchor="ctr">
                    <a:solidFill>
                      <a:srgbClr val="EEDEFF"/>
                    </a:solidFill>
                  </a:tcPr>
                </a:tc>
                <a:tc>
                  <a:txBody>
                    <a:bodyPr/>
                    <a:lstStyle/>
                    <a:p>
                      <a:r>
                        <a:rPr lang="en-GB" sz="1300" b="0" i="0" dirty="0">
                          <a:solidFill>
                            <a:srgbClr val="1C1C1C"/>
                          </a:solidFill>
                          <a:latin typeface="UCL Sans"/>
                        </a:rPr>
                        <a:t>A clear research question or hypothesis, with appropriate aims and objectives</a:t>
                      </a:r>
                    </a:p>
                  </a:txBody>
                  <a:tcPr anchor="ctr">
                    <a:solidFill>
                      <a:srgbClr val="EEDEFF"/>
                    </a:solidFill>
                  </a:tcPr>
                </a:tc>
                <a:extLst>
                  <a:ext uri="{0D108BD9-81ED-4DB2-BD59-A6C34878D82A}">
                    <a16:rowId xmlns:a16="http://schemas.microsoft.com/office/drawing/2014/main" val="3393858550"/>
                  </a:ext>
                </a:extLst>
              </a:tr>
              <a:tr h="502920">
                <a:tc>
                  <a:txBody>
                    <a:bodyPr/>
                    <a:lstStyle/>
                    <a:p>
                      <a:r>
                        <a:rPr sz="1300" b="0" i="0" dirty="0">
                          <a:solidFill>
                            <a:srgbClr val="3A1857"/>
                          </a:solidFill>
                          <a:latin typeface="UCL Sans SemiBold"/>
                        </a:rPr>
                        <a:t>Introduction</a:t>
                      </a:r>
                    </a:p>
                  </a:txBody>
                  <a:tcPr anchor="ctr">
                    <a:solidFill>
                      <a:srgbClr val="FFFFFF"/>
                    </a:solidFill>
                  </a:tcPr>
                </a:tc>
                <a:tc>
                  <a:txBody>
                    <a:bodyPr/>
                    <a:lstStyle/>
                    <a:p>
                      <a:r>
                        <a:rPr sz="1300" b="0" i="0">
                          <a:solidFill>
                            <a:srgbClr val="1C1C1C"/>
                          </a:solidFill>
                          <a:latin typeface="UCL Sans"/>
                        </a:rPr>
                        <a:t>15</a:t>
                      </a:r>
                    </a:p>
                  </a:txBody>
                  <a:tcPr anchor="ctr">
                    <a:solidFill>
                      <a:srgbClr val="FFFFFF"/>
                    </a:solidFill>
                  </a:tcPr>
                </a:tc>
                <a:tc>
                  <a:txBody>
                    <a:bodyPr/>
                    <a:lstStyle/>
                    <a:p>
                      <a:r>
                        <a:rPr sz="1300" b="0" i="0" dirty="0">
                          <a:solidFill>
                            <a:srgbClr val="1C1C1C"/>
                          </a:solidFill>
                          <a:latin typeface="UCL Sans"/>
                        </a:rPr>
                        <a:t>1</a:t>
                      </a:r>
                      <a:r>
                        <a:rPr lang="en-GB" sz="1300" b="0" i="0" dirty="0">
                          <a:solidFill>
                            <a:srgbClr val="1C1C1C"/>
                          </a:solidFill>
                          <a:latin typeface="UCL Sans"/>
                        </a:rPr>
                        <a:t>0</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Literature context, and why the research question is worth asking</a:t>
                      </a:r>
                      <a:endParaRPr sz="1300" b="1" i="0" dirty="0">
                        <a:solidFill>
                          <a:srgbClr val="1C1C1C"/>
                        </a:solidFill>
                        <a:latin typeface="UCL Sans"/>
                      </a:endParaRPr>
                    </a:p>
                  </a:txBody>
                  <a:tcPr anchor="ctr">
                    <a:solidFill>
                      <a:srgbClr val="FFFFFF"/>
                    </a:solidFill>
                  </a:tcPr>
                </a:tc>
                <a:extLst>
                  <a:ext uri="{0D108BD9-81ED-4DB2-BD59-A6C34878D82A}">
                    <a16:rowId xmlns:a16="http://schemas.microsoft.com/office/drawing/2014/main" val="1888109844"/>
                  </a:ext>
                </a:extLst>
              </a:tr>
              <a:tr h="502920">
                <a:tc>
                  <a:txBody>
                    <a:bodyPr/>
                    <a:lstStyle/>
                    <a:p>
                      <a:r>
                        <a:rPr lang="en-GB" sz="1300" b="0" i="0" dirty="0">
                          <a:solidFill>
                            <a:srgbClr val="3A1857"/>
                          </a:solidFill>
                          <a:latin typeface="UCL Sans SemiBold"/>
                        </a:rPr>
                        <a:t>Methods</a:t>
                      </a:r>
                      <a:endParaRPr sz="1300" b="0" i="0" dirty="0">
                        <a:solidFill>
                          <a:srgbClr val="3A1857"/>
                        </a:solidFill>
                        <a:latin typeface="UCL Sans SemiBold"/>
                      </a:endParaRPr>
                    </a:p>
                  </a:txBody>
                  <a:tcPr anchor="ctr">
                    <a:solidFill>
                      <a:srgbClr val="FFFFFF"/>
                    </a:solidFill>
                  </a:tcPr>
                </a:tc>
                <a:tc>
                  <a:txBody>
                    <a:bodyPr/>
                    <a:lstStyle/>
                    <a:p>
                      <a:r>
                        <a:rPr lang="en-GB" sz="1300" b="0" i="0" dirty="0">
                          <a:solidFill>
                            <a:srgbClr val="1C1C1C"/>
                          </a:solidFill>
                          <a:latin typeface="UCL Sans"/>
                        </a:rPr>
                        <a:t>(+intro)</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10</a:t>
                      </a:r>
                      <a:endParaRPr sz="1300" b="0" i="0" dirty="0">
                        <a:solidFill>
                          <a:srgbClr val="1C1C1C"/>
                        </a:solidFill>
                        <a:latin typeface="UCL Sans"/>
                      </a:endParaRPr>
                    </a:p>
                  </a:txBody>
                  <a:tcPr anchor="ctr">
                    <a:solidFill>
                      <a:srgbClr val="FFFFFF"/>
                    </a:solidFill>
                  </a:tcPr>
                </a:tc>
                <a:tc>
                  <a:txBody>
                    <a:bodyPr/>
                    <a:lstStyle/>
                    <a:p>
                      <a:r>
                        <a:rPr lang="en-GB" sz="1300" b="0" i="0" dirty="0">
                          <a:solidFill>
                            <a:srgbClr val="1C1C1C"/>
                          </a:solidFill>
                          <a:latin typeface="UCL Sans"/>
                        </a:rPr>
                        <a:t>Methods described </a:t>
                      </a:r>
                      <a:r>
                        <a:rPr lang="en-GB" sz="1300" b="1" i="0" dirty="0">
                          <a:solidFill>
                            <a:srgbClr val="1C1C1C"/>
                          </a:solidFill>
                          <a:latin typeface="UCL Sans"/>
                        </a:rPr>
                        <a:t>in sufficient detail to reproduce the work</a:t>
                      </a:r>
                      <a:r>
                        <a:rPr lang="en-GB" sz="1300" b="0" i="0" dirty="0">
                          <a:solidFill>
                            <a:srgbClr val="1C1C1C"/>
                          </a:solidFill>
                          <a:latin typeface="UCL Sans"/>
                        </a:rPr>
                        <a:t>, with appropriate </a:t>
                      </a:r>
                      <a:r>
                        <a:rPr lang="en-GB" sz="1300" b="1" i="0" dirty="0">
                          <a:solidFill>
                            <a:srgbClr val="1C1C1C"/>
                          </a:solidFill>
                          <a:latin typeface="UCL Sans"/>
                        </a:rPr>
                        <a:t>replicates, controls or comparisons</a:t>
                      </a:r>
                    </a:p>
                  </a:txBody>
                  <a:tcPr anchor="ctr">
                    <a:solidFill>
                      <a:srgbClr val="FFFFFF"/>
                    </a:solidFill>
                  </a:tcPr>
                </a:tc>
                <a:extLst>
                  <a:ext uri="{0D108BD9-81ED-4DB2-BD59-A6C34878D82A}">
                    <a16:rowId xmlns:a16="http://schemas.microsoft.com/office/drawing/2014/main" val="3318896571"/>
                  </a:ext>
                </a:extLst>
              </a:tr>
              <a:tr h="502920">
                <a:tc>
                  <a:txBody>
                    <a:bodyPr/>
                    <a:lstStyle/>
                    <a:p>
                      <a:r>
                        <a:rPr sz="1300" b="0" i="0">
                          <a:solidFill>
                            <a:srgbClr val="3A1857"/>
                          </a:solidFill>
                          <a:latin typeface="UCL Sans SemiBold"/>
                        </a:rPr>
                        <a:t>Analysis and evidence</a:t>
                      </a:r>
                    </a:p>
                  </a:txBody>
                  <a:tcPr anchor="ctr">
                    <a:solidFill>
                      <a:srgbClr val="EEDEFF"/>
                    </a:solidFill>
                  </a:tcPr>
                </a:tc>
                <a:tc>
                  <a:txBody>
                    <a:bodyPr/>
                    <a:lstStyle/>
                    <a:p>
                      <a:r>
                        <a:rPr sz="1300" b="0" i="0">
                          <a:solidFill>
                            <a:srgbClr val="1C1C1C"/>
                          </a:solidFill>
                          <a:latin typeface="UCL Sans"/>
                        </a:rPr>
                        <a:t>20</a:t>
                      </a:r>
                    </a:p>
                  </a:txBody>
                  <a:tcPr anchor="ctr">
                    <a:solidFill>
                      <a:srgbClr val="EEDEFF"/>
                    </a:solidFill>
                  </a:tcPr>
                </a:tc>
                <a:tc>
                  <a:txBody>
                    <a:bodyPr/>
                    <a:lstStyle/>
                    <a:p>
                      <a:r>
                        <a:rPr sz="1300" b="0" i="0">
                          <a:solidFill>
                            <a:srgbClr val="1C1C1C"/>
                          </a:solidFill>
                          <a:latin typeface="UCL Sans"/>
                        </a:rPr>
                        <a:t>20</a:t>
                      </a:r>
                    </a:p>
                  </a:txBody>
                  <a:tcPr anchor="ctr">
                    <a:solidFill>
                      <a:srgbClr val="EEDEFF"/>
                    </a:solidFill>
                  </a:tcPr>
                </a:tc>
                <a:tc>
                  <a:txBody>
                    <a:bodyPr/>
                    <a:lstStyle/>
                    <a:p>
                      <a:r>
                        <a:rPr lang="en-GB" sz="1300" b="0" i="0" dirty="0">
                          <a:solidFill>
                            <a:srgbClr val="1C1C1C"/>
                          </a:solidFill>
                          <a:latin typeface="UCL Sans"/>
                        </a:rPr>
                        <a:t>Analysis appropriate to the data, </a:t>
                      </a:r>
                      <a:r>
                        <a:rPr lang="en-GB" sz="1300" b="1" i="0" dirty="0">
                          <a:solidFill>
                            <a:srgbClr val="1C1C1C"/>
                          </a:solidFill>
                          <a:latin typeface="UCL Sans"/>
                        </a:rPr>
                        <a:t>including treatment of variability or uncertainty</a:t>
                      </a:r>
                      <a:r>
                        <a:rPr lang="en-GB" sz="1300" b="0" i="0" dirty="0">
                          <a:solidFill>
                            <a:srgbClr val="1C1C1C"/>
                          </a:solidFill>
                          <a:latin typeface="UCL Sans"/>
                        </a:rPr>
                        <a:t>, and figures that clearly represent the data on which the conclusions rest</a:t>
                      </a:r>
                      <a:endParaRPr sz="1300" b="0" i="0" dirty="0">
                        <a:solidFill>
                          <a:srgbClr val="1C1C1C"/>
                        </a:solidFill>
                        <a:latin typeface="UCL Sans"/>
                      </a:endParaRPr>
                    </a:p>
                  </a:txBody>
                  <a:tcPr anchor="ctr">
                    <a:solidFill>
                      <a:srgbClr val="EEDEFF"/>
                    </a:solidFill>
                  </a:tcPr>
                </a:tc>
                <a:extLst>
                  <a:ext uri="{0D108BD9-81ED-4DB2-BD59-A6C34878D82A}">
                    <a16:rowId xmlns:a16="http://schemas.microsoft.com/office/drawing/2014/main" val="2386527098"/>
                  </a:ext>
                </a:extLst>
              </a:tr>
              <a:tr h="544735">
                <a:tc>
                  <a:txBody>
                    <a:bodyPr/>
                    <a:lstStyle/>
                    <a:p>
                      <a:r>
                        <a:rPr sz="1300" b="0" i="0" dirty="0">
                          <a:solidFill>
                            <a:srgbClr val="3A1857"/>
                          </a:solidFill>
                          <a:latin typeface="UCL Sans SemiBold"/>
                        </a:rPr>
                        <a:t>Discussion</a:t>
                      </a:r>
                    </a:p>
                  </a:txBody>
                  <a:tcPr anchor="ctr">
                    <a:solidFill>
                      <a:srgbClr val="FFFFFF"/>
                    </a:solidFill>
                  </a:tcPr>
                </a:tc>
                <a:tc>
                  <a:txBody>
                    <a:bodyPr/>
                    <a:lstStyle/>
                    <a:p>
                      <a:r>
                        <a:rPr sz="1300" b="0" i="0">
                          <a:solidFill>
                            <a:srgbClr val="1C1C1C"/>
                          </a:solidFill>
                          <a:latin typeface="UCL Sans"/>
                        </a:rPr>
                        <a:t>20</a:t>
                      </a:r>
                    </a:p>
                  </a:txBody>
                  <a:tcPr anchor="ctr">
                    <a:solidFill>
                      <a:srgbClr val="FFFFFF"/>
                    </a:solidFill>
                  </a:tcPr>
                </a:tc>
                <a:tc>
                  <a:txBody>
                    <a:bodyPr/>
                    <a:lstStyle/>
                    <a:p>
                      <a:r>
                        <a:rPr sz="1300" b="0" i="0">
                          <a:solidFill>
                            <a:srgbClr val="1C1C1C"/>
                          </a:solidFill>
                          <a:latin typeface="UCL Sans"/>
                        </a:rPr>
                        <a:t>20</a:t>
                      </a:r>
                    </a:p>
                  </a:txBody>
                  <a:tcPr anchor="ctr">
                    <a:solidFill>
                      <a:srgbClr val="FFFFFF"/>
                    </a:solidFill>
                  </a:tcPr>
                </a:tc>
                <a:tc>
                  <a:txBody>
                    <a:bodyPr/>
                    <a:lstStyle/>
                    <a:p>
                      <a:r>
                        <a:rPr lang="en-GB" sz="1300" b="0" i="0" dirty="0">
                          <a:solidFill>
                            <a:srgbClr val="1C1C1C"/>
                          </a:solidFill>
                          <a:latin typeface="UCL Sans"/>
                        </a:rPr>
                        <a:t>Results interpreted in the context of the literature and </a:t>
                      </a:r>
                      <a:r>
                        <a:rPr lang="en-GB" sz="1300" b="1" i="0" dirty="0">
                          <a:solidFill>
                            <a:srgbClr val="1C1C1C"/>
                          </a:solidFill>
                          <a:latin typeface="UCL Sans"/>
                        </a:rPr>
                        <a:t>related back to the original question or hypothesis</a:t>
                      </a:r>
                      <a:r>
                        <a:rPr lang="en-GB" sz="1300" b="0" i="0" dirty="0">
                          <a:solidFill>
                            <a:srgbClr val="1C1C1C"/>
                          </a:solidFill>
                          <a:latin typeface="UCL Sans"/>
                        </a:rPr>
                        <a:t>. Alternative explanations explored, assumptions or selection criteria critically assessed, and appropriate future work identified.</a:t>
                      </a:r>
                    </a:p>
                  </a:txBody>
                  <a:tcPr anchor="ctr">
                    <a:solidFill>
                      <a:srgbClr val="FFFFFF"/>
                    </a:solidFill>
                  </a:tcPr>
                </a:tc>
                <a:extLst>
                  <a:ext uri="{0D108BD9-81ED-4DB2-BD59-A6C34878D82A}">
                    <a16:rowId xmlns:a16="http://schemas.microsoft.com/office/drawing/2014/main" val="1068685882"/>
                  </a:ext>
                </a:extLst>
              </a:tr>
              <a:tr h="502920">
                <a:tc>
                  <a:txBody>
                    <a:bodyPr/>
                    <a:lstStyle/>
                    <a:p>
                      <a:r>
                        <a:rPr lang="en-GB" sz="1300" b="0" i="0" dirty="0">
                          <a:solidFill>
                            <a:srgbClr val="3A1857"/>
                          </a:solidFill>
                          <a:latin typeface="UCL Sans SemiBold"/>
                        </a:rPr>
                        <a:t>Responsible use of AI</a:t>
                      </a:r>
                      <a:endParaRPr sz="1300" b="0" i="0" dirty="0">
                        <a:solidFill>
                          <a:srgbClr val="3A1857"/>
                        </a:solidFill>
                        <a:latin typeface="UCL Sans SemiBold"/>
                      </a:endParaRPr>
                    </a:p>
                  </a:txBody>
                  <a:tcPr anchor="ctr">
                    <a:solidFill>
                      <a:srgbClr val="EEDEFF"/>
                    </a:solidFill>
                  </a:tcPr>
                </a:tc>
                <a:tc>
                  <a:txBody>
                    <a:bodyPr/>
                    <a:lstStyle/>
                    <a:p>
                      <a:r>
                        <a:rPr sz="1300" b="0" i="0">
                          <a:solidFill>
                            <a:srgbClr val="1C1C1C"/>
                          </a:solidFill>
                          <a:latin typeface="UCL Sans"/>
                        </a:rPr>
                        <a:t>5</a:t>
                      </a:r>
                    </a:p>
                  </a:txBody>
                  <a:tcPr anchor="ctr">
                    <a:solidFill>
                      <a:srgbClr val="EEDEFF"/>
                    </a:solidFill>
                  </a:tcPr>
                </a:tc>
                <a:tc>
                  <a:txBody>
                    <a:bodyPr/>
                    <a:lstStyle/>
                    <a:p>
                      <a:r>
                        <a:rPr sz="1300" b="0" i="0">
                          <a:solidFill>
                            <a:srgbClr val="1C1C1C"/>
                          </a:solidFill>
                          <a:latin typeface="UCL Sans"/>
                        </a:rPr>
                        <a:t>5</a:t>
                      </a:r>
                    </a:p>
                  </a:txBody>
                  <a:tcPr anchor="ctr">
                    <a:solidFill>
                      <a:srgbClr val="EEDEFF"/>
                    </a:solidFill>
                  </a:tcPr>
                </a:tc>
                <a:tc>
                  <a:txBody>
                    <a:bodyPr/>
                    <a:lstStyle/>
                    <a:p>
                      <a:r>
                        <a:rPr lang="en-GB" sz="1300" b="0" i="0" dirty="0">
                          <a:solidFill>
                            <a:srgbClr val="1C1C1C"/>
                          </a:solidFill>
                          <a:latin typeface="UCL Sans"/>
                        </a:rPr>
                        <a:t>Critical engagement with the AI critique, distinguishing the points worth accepting from those worth rejecting, with reasons given</a:t>
                      </a:r>
                      <a:endParaRPr sz="1300" b="0" i="0" dirty="0">
                        <a:solidFill>
                          <a:srgbClr val="1C1C1C"/>
                        </a:solidFill>
                        <a:latin typeface="UCL Sans"/>
                      </a:endParaRPr>
                    </a:p>
                  </a:txBody>
                  <a:tcPr anchor="ctr">
                    <a:solidFill>
                      <a:srgbClr val="EEDEFF"/>
                    </a:solidFill>
                  </a:tcPr>
                </a:tc>
                <a:extLst>
                  <a:ext uri="{0D108BD9-81ED-4DB2-BD59-A6C34878D82A}">
                    <a16:rowId xmlns:a16="http://schemas.microsoft.com/office/drawing/2014/main" val="506334876"/>
                  </a:ext>
                </a:extLst>
              </a:tr>
            </a:tbl>
          </a:graphicData>
        </a:graphic>
      </p:graphicFrame>
    </p:spTree>
    <p:extLst>
      <p:ext uri="{BB962C8B-B14F-4D97-AF65-F5344CB8AC3E}">
        <p14:creationId xmlns:p14="http://schemas.microsoft.com/office/powerpoint/2010/main" val="2246135647"/>
      </p:ext>
    </p:extLst>
  </p:cSld>
  <p:clrMapOvr>
    <a:masterClrMapping/>
  </p:clrMapOvr>
</p:sld>
</file>

<file path=ppt/theme/theme1.xml><?xml version="1.0" encoding="utf-8"?>
<a:theme xmlns:a="http://schemas.openxmlformats.org/drawingml/2006/main" name="UCL Slides templates - Simple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CL-PowerPoint-Template-UCL-Sans" id="{AC9F7F46-5478-C648-B109-9354269A32F8}" vid="{63EBF5C6-21B7-3E43-A7D8-5A5EA93D8825}"/>
    </a:ext>
  </a:extLst>
</a:theme>
</file>

<file path=ppt/theme/theme2.xml><?xml version="1.0" encoding="utf-8"?>
<a:theme xmlns:a="http://schemas.openxmlformats.org/drawingml/2006/main" name="UCL Slides templates - Complex design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CL-PowerPoint-Template-UCL-Sans" id="{AC9F7F46-5478-C648-B109-9354269A32F8}" vid="{1F72A101-28E8-0B4F-9AC9-FD2B43C1CFC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UCL Slides templates - Simple theme</Template>
  <TotalTime>2549</TotalTime>
  <Words>877</Words>
  <Application>Microsoft Macintosh PowerPoint</Application>
  <PresentationFormat>Widescreen</PresentationFormat>
  <Paragraphs>147</Paragraphs>
  <Slides>9</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Arial</vt:lpstr>
      <vt:lpstr>Wingdings</vt:lpstr>
      <vt:lpstr>Aptos</vt:lpstr>
      <vt:lpstr>UCL Sans SemiBold</vt:lpstr>
      <vt:lpstr>UCL Sans</vt:lpstr>
      <vt:lpstr>UCL Slides templates - Simple theme</vt:lpstr>
      <vt:lpstr>UCL Slides templates - Complex design theme</vt:lpstr>
      <vt:lpstr>Ideas for improving DDPM projects</vt:lpstr>
      <vt:lpstr>Weak DDPM projects</vt:lpstr>
      <vt:lpstr>Elements of strong DDPM projects</vt:lpstr>
      <vt:lpstr>Ideas to improve the project design process</vt:lpstr>
      <vt:lpstr>Whitelist of reliable data sources</vt:lpstr>
      <vt:lpstr>Example archetypes</vt:lpstr>
      <vt:lpstr>‘Areas of inspiration’</vt:lpstr>
      <vt:lpstr>Use of AI</vt:lpstr>
      <vt:lpstr>Marking schemes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 www</dc:creator>
  <cp:keywords/>
  <dc:description/>
  <cp:lastModifiedBy>chris www</cp:lastModifiedBy>
  <cp:revision>5</cp:revision>
  <dcterms:created xsi:type="dcterms:W3CDTF">2026-10-21T16:13:01Z</dcterms:created>
  <dcterms:modified xsi:type="dcterms:W3CDTF">2026-10-23T10:54:33Z</dcterms:modified>
  <cp:category/>
</cp:coreProperties>
</file>