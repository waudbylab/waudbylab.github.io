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345" r:id="rId3"/>
    <p:sldId id="376" r:id="rId4"/>
    <p:sldId id="378" r:id="rId5"/>
    <p:sldId id="379" r:id="rId6"/>
    <p:sldId id="377" r:id="rId7"/>
    <p:sldId id="380" r:id="rId8"/>
    <p:sldId id="381" r:id="rId9"/>
    <p:sldId id="382" r:id="rId10"/>
    <p:sldId id="388" r:id="rId11"/>
    <p:sldId id="385" r:id="rId12"/>
    <p:sldId id="383" r:id="rId13"/>
    <p:sldId id="389" r:id="rId14"/>
    <p:sldId id="390" r:id="rId15"/>
    <p:sldId id="386" r:id="rId16"/>
    <p:sldId id="391" r:id="rId17"/>
    <p:sldId id="387" r:id="rId18"/>
    <p:sldId id="392" r:id="rId19"/>
  </p:sldIdLst>
  <p:sldSz cx="9144000" cy="6858000" type="screen4x3"/>
  <p:notesSz cx="6858000" cy="9144000"/>
  <p:custDataLst>
    <p:tags r:id="rId21"/>
  </p:custDataLst>
  <p:defaultTextStyle>
    <a:defPPr>
      <a:defRPr lang="en-US"/>
    </a:defPPr>
    <a:lvl1pPr algn="l" rtl="0" fontAlgn="base">
      <a:spcBef>
        <a:spcPct val="0"/>
      </a:spcBef>
      <a:spcAft>
        <a:spcPct val="0"/>
      </a:spcAft>
      <a:defRPr sz="2000" kern="1200">
        <a:solidFill>
          <a:srgbClr val="FFFF00"/>
        </a:solidFill>
        <a:latin typeface="Comic Sans MS" pitchFamily="66" charset="0"/>
        <a:ea typeface="+mn-ea"/>
        <a:cs typeface="+mn-cs"/>
      </a:defRPr>
    </a:lvl1pPr>
    <a:lvl2pPr marL="457200" algn="l" rtl="0" fontAlgn="base">
      <a:spcBef>
        <a:spcPct val="0"/>
      </a:spcBef>
      <a:spcAft>
        <a:spcPct val="0"/>
      </a:spcAft>
      <a:defRPr sz="2000" kern="1200">
        <a:solidFill>
          <a:srgbClr val="FFFF00"/>
        </a:solidFill>
        <a:latin typeface="Comic Sans MS" pitchFamily="66" charset="0"/>
        <a:ea typeface="+mn-ea"/>
        <a:cs typeface="+mn-cs"/>
      </a:defRPr>
    </a:lvl2pPr>
    <a:lvl3pPr marL="914400" algn="l" rtl="0" fontAlgn="base">
      <a:spcBef>
        <a:spcPct val="0"/>
      </a:spcBef>
      <a:spcAft>
        <a:spcPct val="0"/>
      </a:spcAft>
      <a:defRPr sz="2000" kern="1200">
        <a:solidFill>
          <a:srgbClr val="FFFF00"/>
        </a:solidFill>
        <a:latin typeface="Comic Sans MS" pitchFamily="66" charset="0"/>
        <a:ea typeface="+mn-ea"/>
        <a:cs typeface="+mn-cs"/>
      </a:defRPr>
    </a:lvl3pPr>
    <a:lvl4pPr marL="1371600" algn="l" rtl="0" fontAlgn="base">
      <a:spcBef>
        <a:spcPct val="0"/>
      </a:spcBef>
      <a:spcAft>
        <a:spcPct val="0"/>
      </a:spcAft>
      <a:defRPr sz="2000" kern="1200">
        <a:solidFill>
          <a:srgbClr val="FFFF00"/>
        </a:solidFill>
        <a:latin typeface="Comic Sans MS" pitchFamily="66" charset="0"/>
        <a:ea typeface="+mn-ea"/>
        <a:cs typeface="+mn-cs"/>
      </a:defRPr>
    </a:lvl4pPr>
    <a:lvl5pPr marL="1828800" algn="l" rtl="0" fontAlgn="base">
      <a:spcBef>
        <a:spcPct val="0"/>
      </a:spcBef>
      <a:spcAft>
        <a:spcPct val="0"/>
      </a:spcAft>
      <a:defRPr sz="2000" kern="1200">
        <a:solidFill>
          <a:srgbClr val="FFFF00"/>
        </a:solidFill>
        <a:latin typeface="Comic Sans MS" pitchFamily="66" charset="0"/>
        <a:ea typeface="+mn-ea"/>
        <a:cs typeface="+mn-cs"/>
      </a:defRPr>
    </a:lvl5pPr>
    <a:lvl6pPr marL="2286000" algn="l" defTabSz="914400" rtl="0" eaLnBrk="1" latinLnBrk="0" hangingPunct="1">
      <a:defRPr sz="2000" kern="1200">
        <a:solidFill>
          <a:srgbClr val="FFFF00"/>
        </a:solidFill>
        <a:latin typeface="Comic Sans MS" pitchFamily="66" charset="0"/>
        <a:ea typeface="+mn-ea"/>
        <a:cs typeface="+mn-cs"/>
      </a:defRPr>
    </a:lvl6pPr>
    <a:lvl7pPr marL="2743200" algn="l" defTabSz="914400" rtl="0" eaLnBrk="1" latinLnBrk="0" hangingPunct="1">
      <a:defRPr sz="2000" kern="1200">
        <a:solidFill>
          <a:srgbClr val="FFFF00"/>
        </a:solidFill>
        <a:latin typeface="Comic Sans MS" pitchFamily="66" charset="0"/>
        <a:ea typeface="+mn-ea"/>
        <a:cs typeface="+mn-cs"/>
      </a:defRPr>
    </a:lvl7pPr>
    <a:lvl8pPr marL="3200400" algn="l" defTabSz="914400" rtl="0" eaLnBrk="1" latinLnBrk="0" hangingPunct="1">
      <a:defRPr sz="2000" kern="1200">
        <a:solidFill>
          <a:srgbClr val="FFFF00"/>
        </a:solidFill>
        <a:latin typeface="Comic Sans MS" pitchFamily="66" charset="0"/>
        <a:ea typeface="+mn-ea"/>
        <a:cs typeface="+mn-cs"/>
      </a:defRPr>
    </a:lvl8pPr>
    <a:lvl9pPr marL="3657600" algn="l" defTabSz="914400" rtl="0" eaLnBrk="1" latinLnBrk="0" hangingPunct="1">
      <a:defRPr sz="2000" kern="1200">
        <a:solidFill>
          <a:srgbClr val="FFFF00"/>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00"/>
    <a:srgbClr val="00FF00"/>
    <a:srgbClr val="FF3300"/>
    <a:srgbClr val="FF33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65" autoAdjust="0"/>
    <p:restoredTop sz="94658" autoAdjust="0"/>
  </p:normalViewPr>
  <p:slideViewPr>
    <p:cSldViewPr>
      <p:cViewPr varScale="1">
        <p:scale>
          <a:sx n="116" d="100"/>
          <a:sy n="116" d="100"/>
        </p:scale>
        <p:origin x="144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1BC38E5-B218-4D08-852B-B84638C75438}" type="datetimeFigureOut">
              <a:rPr lang="en-GB"/>
              <a:pPr>
                <a:defRPr/>
              </a:pPr>
              <a:t>15/10/2025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DB388C9-BF95-4A12-AC9B-993FCF77B0CF}" type="slidenum">
              <a:rPr lang="en-GB"/>
              <a:pPr>
                <a:defRPr/>
              </a:pPr>
              <a:t>‹#›</a:t>
            </a:fld>
            <a:endParaRPr lang="en-GB"/>
          </a:p>
        </p:txBody>
      </p:sp>
    </p:spTree>
    <p:extLst>
      <p:ext uri="{BB962C8B-B14F-4D97-AF65-F5344CB8AC3E}">
        <p14:creationId xmlns:p14="http://schemas.microsoft.com/office/powerpoint/2010/main" val="21756381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FB490F8-0569-46B8-9049-97F06F06C5E5}" type="slidenum">
              <a:rPr lang="en-US"/>
              <a:pPr>
                <a:defRPr/>
              </a:pPr>
              <a:t>‹#›</a:t>
            </a:fld>
            <a:endParaRPr lang="en-US"/>
          </a:p>
        </p:txBody>
      </p:sp>
    </p:spTree>
    <p:extLst>
      <p:ext uri="{BB962C8B-B14F-4D97-AF65-F5344CB8AC3E}">
        <p14:creationId xmlns:p14="http://schemas.microsoft.com/office/powerpoint/2010/main" val="567589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B9D075B-04E1-4DA9-90B4-94B5B5E978BA}" type="slidenum">
              <a:rPr lang="en-US"/>
              <a:pPr>
                <a:defRPr/>
              </a:pPr>
              <a:t>‹#›</a:t>
            </a:fld>
            <a:endParaRPr lang="en-US"/>
          </a:p>
        </p:txBody>
      </p:sp>
    </p:spTree>
    <p:extLst>
      <p:ext uri="{BB962C8B-B14F-4D97-AF65-F5344CB8AC3E}">
        <p14:creationId xmlns:p14="http://schemas.microsoft.com/office/powerpoint/2010/main" val="4215044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760C913-76D6-42A1-A7CB-64CB3DC63899}" type="slidenum">
              <a:rPr lang="en-US"/>
              <a:pPr>
                <a:defRPr/>
              </a:pPr>
              <a:t>‹#›</a:t>
            </a:fld>
            <a:endParaRPr lang="en-US"/>
          </a:p>
        </p:txBody>
      </p:sp>
    </p:spTree>
    <p:extLst>
      <p:ext uri="{BB962C8B-B14F-4D97-AF65-F5344CB8AC3E}">
        <p14:creationId xmlns:p14="http://schemas.microsoft.com/office/powerpoint/2010/main" val="283073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9D3BF94-0433-43FF-B285-EC80208D8E3F}" type="slidenum">
              <a:rPr lang="en-US"/>
              <a:pPr>
                <a:defRPr/>
              </a:pPr>
              <a:t>‹#›</a:t>
            </a:fld>
            <a:endParaRPr lang="en-US"/>
          </a:p>
        </p:txBody>
      </p:sp>
    </p:spTree>
    <p:extLst>
      <p:ext uri="{BB962C8B-B14F-4D97-AF65-F5344CB8AC3E}">
        <p14:creationId xmlns:p14="http://schemas.microsoft.com/office/powerpoint/2010/main" val="1370598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718A1BF3-D914-48E6-ABAA-E04D5943A18D}" type="slidenum">
              <a:rPr lang="en-US"/>
              <a:pPr>
                <a:defRPr/>
              </a:pPr>
              <a:t>‹#›</a:t>
            </a:fld>
            <a:endParaRPr lang="en-US"/>
          </a:p>
        </p:txBody>
      </p:sp>
    </p:spTree>
    <p:extLst>
      <p:ext uri="{BB962C8B-B14F-4D97-AF65-F5344CB8AC3E}">
        <p14:creationId xmlns:p14="http://schemas.microsoft.com/office/powerpoint/2010/main" val="344557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0A5DD787-8111-4EB3-9F9B-BC8F3E068D89}" type="slidenum">
              <a:rPr lang="en-US"/>
              <a:pPr>
                <a:defRPr/>
              </a:pPr>
              <a:t>‹#›</a:t>
            </a:fld>
            <a:endParaRPr lang="en-US"/>
          </a:p>
        </p:txBody>
      </p:sp>
    </p:spTree>
    <p:extLst>
      <p:ext uri="{BB962C8B-B14F-4D97-AF65-F5344CB8AC3E}">
        <p14:creationId xmlns:p14="http://schemas.microsoft.com/office/powerpoint/2010/main" val="184434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0FC09B8-731A-4667-92DC-A3A5146B6171}" type="slidenum">
              <a:rPr lang="en-US"/>
              <a:pPr>
                <a:defRPr/>
              </a:pPr>
              <a:t>‹#›</a:t>
            </a:fld>
            <a:endParaRPr lang="en-US"/>
          </a:p>
        </p:txBody>
      </p:sp>
    </p:spTree>
    <p:extLst>
      <p:ext uri="{BB962C8B-B14F-4D97-AF65-F5344CB8AC3E}">
        <p14:creationId xmlns:p14="http://schemas.microsoft.com/office/powerpoint/2010/main" val="659912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A71D54C-B232-48A7-A059-3DB0F5AD5603}" type="slidenum">
              <a:rPr lang="en-US"/>
              <a:pPr>
                <a:defRPr/>
              </a:pPr>
              <a:t>‹#›</a:t>
            </a:fld>
            <a:endParaRPr lang="en-US"/>
          </a:p>
        </p:txBody>
      </p:sp>
    </p:spTree>
    <p:extLst>
      <p:ext uri="{BB962C8B-B14F-4D97-AF65-F5344CB8AC3E}">
        <p14:creationId xmlns:p14="http://schemas.microsoft.com/office/powerpoint/2010/main" val="1296070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8BB5E59-9161-40A3-A4B7-D1848044C1E9}" type="slidenum">
              <a:rPr lang="en-US"/>
              <a:pPr>
                <a:defRPr/>
              </a:pPr>
              <a:t>‹#›</a:t>
            </a:fld>
            <a:endParaRPr lang="en-US"/>
          </a:p>
        </p:txBody>
      </p:sp>
    </p:spTree>
    <p:extLst>
      <p:ext uri="{BB962C8B-B14F-4D97-AF65-F5344CB8AC3E}">
        <p14:creationId xmlns:p14="http://schemas.microsoft.com/office/powerpoint/2010/main" val="3158975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45D6432-B658-4044-AC09-2C3FDA285FAD}" type="slidenum">
              <a:rPr lang="en-US"/>
              <a:pPr>
                <a:defRPr/>
              </a:pPr>
              <a:t>‹#›</a:t>
            </a:fld>
            <a:endParaRPr lang="en-US"/>
          </a:p>
        </p:txBody>
      </p:sp>
    </p:spTree>
    <p:extLst>
      <p:ext uri="{BB962C8B-B14F-4D97-AF65-F5344CB8AC3E}">
        <p14:creationId xmlns:p14="http://schemas.microsoft.com/office/powerpoint/2010/main" val="4014708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93683F1-D2AF-495D-BDD5-F500074EAE7C}" type="slidenum">
              <a:rPr lang="en-US"/>
              <a:pPr>
                <a:defRPr/>
              </a:pPr>
              <a:t>‹#›</a:t>
            </a:fld>
            <a:endParaRPr lang="en-US"/>
          </a:p>
        </p:txBody>
      </p:sp>
    </p:spTree>
    <p:extLst>
      <p:ext uri="{BB962C8B-B14F-4D97-AF65-F5344CB8AC3E}">
        <p14:creationId xmlns:p14="http://schemas.microsoft.com/office/powerpoint/2010/main" val="3785215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mn-lt"/>
              </a:defRPr>
            </a:lvl1pPr>
          </a:lstStyle>
          <a:p>
            <a:pPr>
              <a:defRPr/>
            </a:pPr>
            <a:fld id="{8976FA7F-F6AD-4B0E-B3EB-788785D0DE4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ext Box 2"/>
          <p:cNvSpPr txBox="1">
            <a:spLocks noChangeArrowheads="1"/>
          </p:cNvSpPr>
          <p:nvPr/>
        </p:nvSpPr>
        <p:spPr bwMode="auto">
          <a:xfrm>
            <a:off x="0" y="548680"/>
            <a:ext cx="9144000" cy="6130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algn="ct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PHAY0002: Chemistry of Medicines</a:t>
            </a:r>
          </a:p>
          <a:p>
            <a:pPr algn="ctr" eaLnBrk="1" hangingPunct="1">
              <a:spcBef>
                <a:spcPct val="50000"/>
              </a:spcBef>
            </a:pPr>
            <a:endParaRPr lang="en-GB" b="1" dirty="0">
              <a:solidFill>
                <a:schemeClr val="tx1"/>
              </a:solidFill>
              <a:latin typeface="Arial" panose="020B0604020202020204" pitchFamily="34" charset="0"/>
              <a:cs typeface="Arial" panose="020B0604020202020204" pitchFamily="34" charset="0"/>
            </a:endParaRPr>
          </a:p>
          <a:p>
            <a:pPr algn="ctr" eaLnBrk="1" hangingPunct="1">
              <a:spcBef>
                <a:spcPct val="50000"/>
              </a:spcBef>
            </a:pPr>
            <a:endParaRPr lang="en-GB" sz="3200" b="1" dirty="0">
              <a:solidFill>
                <a:schemeClr val="tx1"/>
              </a:solidFill>
              <a:latin typeface="Arial" panose="020B0604020202020204" pitchFamily="34" charset="0"/>
              <a:cs typeface="Arial" panose="020B0604020202020204" pitchFamily="34" charset="0"/>
            </a:endParaRPr>
          </a:p>
          <a:p>
            <a:pPr algn="ctr" eaLnBrk="1" hangingPunct="1">
              <a:lnSpc>
                <a:spcPct val="80000"/>
              </a:lnSpc>
              <a:spcBef>
                <a:spcPct val="50000"/>
              </a:spcBef>
            </a:pPr>
            <a:r>
              <a:rPr lang="en-GB" sz="4400" b="1" dirty="0">
                <a:solidFill>
                  <a:schemeClr val="tx1"/>
                </a:solidFill>
                <a:latin typeface="Arial" panose="020B0604020202020204" pitchFamily="34" charset="0"/>
                <a:cs typeface="Arial" panose="020B0604020202020204" pitchFamily="34" charset="0"/>
              </a:rPr>
              <a:t>Tutorial 1</a:t>
            </a:r>
          </a:p>
          <a:p>
            <a:pPr algn="ctr" eaLnBrk="1" hangingPunct="1">
              <a:lnSpc>
                <a:spcPct val="80000"/>
              </a:lnSpc>
              <a:spcBef>
                <a:spcPct val="50000"/>
              </a:spcBef>
            </a:pPr>
            <a:r>
              <a:rPr lang="en-GB" sz="4400" b="1" dirty="0">
                <a:solidFill>
                  <a:schemeClr val="tx1"/>
                </a:solidFill>
                <a:latin typeface="Arial" panose="020B0604020202020204" pitchFamily="34" charset="0"/>
                <a:cs typeface="Arial" panose="020B0604020202020204" pitchFamily="34" charset="0"/>
              </a:rPr>
              <a:t>Structure &amp; </a:t>
            </a:r>
          </a:p>
          <a:p>
            <a:pPr algn="ctr" eaLnBrk="1" hangingPunct="1">
              <a:spcBef>
                <a:spcPts val="0"/>
              </a:spcBef>
            </a:pPr>
            <a:r>
              <a:rPr lang="en-GB" sz="4400" b="1" dirty="0">
                <a:solidFill>
                  <a:schemeClr val="tx1"/>
                </a:solidFill>
                <a:latin typeface="Arial" panose="020B0604020202020204" pitchFamily="34" charset="0"/>
                <a:cs typeface="Arial" panose="020B0604020202020204" pitchFamily="34" charset="0"/>
              </a:rPr>
              <a:t>Stoichiometry</a:t>
            </a:r>
          </a:p>
          <a:p>
            <a:pPr algn="ctr" eaLnBrk="1" hangingPunct="1">
              <a:spcBef>
                <a:spcPct val="50000"/>
              </a:spcBef>
            </a:pPr>
            <a:endParaRPr lang="en-GB" sz="2400" b="1" dirty="0">
              <a:solidFill>
                <a:schemeClr val="tx1"/>
              </a:solidFill>
              <a:latin typeface="Arial" panose="020B0604020202020204" pitchFamily="34" charset="0"/>
              <a:cs typeface="Arial" panose="020B0604020202020204" pitchFamily="34" charset="0"/>
            </a:endParaRPr>
          </a:p>
          <a:p>
            <a:pPr algn="ctr" eaLnBrk="1" hangingPunct="1">
              <a:spcBef>
                <a:spcPct val="50000"/>
              </a:spcBef>
            </a:pPr>
            <a:endParaRPr lang="en-GB" sz="2400" b="1" dirty="0">
              <a:solidFill>
                <a:schemeClr val="tx1"/>
              </a:solidFill>
              <a:latin typeface="Arial" panose="020B0604020202020204" pitchFamily="34" charset="0"/>
              <a:cs typeface="Arial" panose="020B0604020202020204" pitchFamily="34" charset="0"/>
            </a:endParaRPr>
          </a:p>
          <a:p>
            <a:pPr algn="ctr" eaLnBrk="1" hangingPunct="1">
              <a:spcBef>
                <a:spcPts val="0"/>
              </a:spcBef>
            </a:pPr>
            <a:r>
              <a:rPr lang="en-GB" sz="2800" b="1" dirty="0">
                <a:solidFill>
                  <a:schemeClr val="tx1"/>
                </a:solidFill>
                <a:latin typeface="Arial" panose="020B0604020202020204" pitchFamily="34" charset="0"/>
                <a:cs typeface="Arial" panose="020B0604020202020204" pitchFamily="34" charset="0"/>
              </a:rPr>
              <a:t>Dr John Malkinson</a:t>
            </a:r>
          </a:p>
          <a:p>
            <a:pPr algn="ctr" eaLnBrk="1" hangingPunct="1">
              <a:spcBef>
                <a:spcPts val="0"/>
              </a:spcBef>
            </a:pPr>
            <a:r>
              <a:rPr lang="en-GB" sz="2800" b="1" dirty="0">
                <a:solidFill>
                  <a:schemeClr val="tx1"/>
                </a:solidFill>
                <a:latin typeface="Arial" panose="020B0604020202020204" pitchFamily="34" charset="0"/>
                <a:cs typeface="Arial" panose="020B0604020202020204" pitchFamily="34" charset="0"/>
              </a:rPr>
              <a:t>Dr Chris Waudby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Structure and Bonding</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C86BB22-F399-435B-A0C9-F8E84E5049E8}"/>
              </a:ext>
            </a:extLst>
          </p:cNvPr>
          <p:cNvSpPr txBox="1"/>
          <p:nvPr/>
        </p:nvSpPr>
        <p:spPr>
          <a:xfrm>
            <a:off x="0" y="548680"/>
            <a:ext cx="9144000" cy="830997"/>
          </a:xfrm>
          <a:prstGeom prst="rect">
            <a:avLst/>
          </a:prstGeom>
          <a:noFill/>
        </p:spPr>
        <p:txBody>
          <a:bodyPr wrap="square" rtlCol="0">
            <a:spAutoFit/>
          </a:bodyPr>
          <a:lstStyle/>
          <a:p>
            <a:pPr marL="457200" indent="-457200">
              <a:buFont typeface="+mj-lt"/>
              <a:buAutoNum type="arabicPeriod"/>
            </a:pPr>
            <a:r>
              <a:rPr lang="en-GB" sz="2400" b="1" dirty="0">
                <a:solidFill>
                  <a:srgbClr val="0070C0"/>
                </a:solidFill>
                <a:latin typeface="Arial" pitchFamily="34" charset="0"/>
                <a:cs typeface="Arial" pitchFamily="34" charset="0"/>
              </a:rPr>
              <a:t>Which of the following ions have closed-shell configurations? (a) H</a:t>
            </a:r>
            <a:r>
              <a:rPr lang="en-GB" sz="2400" b="1" baseline="30000" dirty="0">
                <a:solidFill>
                  <a:srgbClr val="0070C0"/>
                </a:solidFill>
                <a:latin typeface="Arial" pitchFamily="34" charset="0"/>
                <a:cs typeface="Arial" pitchFamily="34" charset="0"/>
              </a:rPr>
              <a:t>–</a:t>
            </a:r>
            <a:r>
              <a:rPr lang="en-GB" sz="2400" b="1" dirty="0">
                <a:solidFill>
                  <a:srgbClr val="0070C0"/>
                </a:solidFill>
                <a:latin typeface="Arial" pitchFamily="34" charset="0"/>
                <a:cs typeface="Arial" pitchFamily="34" charset="0"/>
              </a:rPr>
              <a:t>   (b) O</a:t>
            </a:r>
            <a:r>
              <a:rPr lang="en-GB" sz="2400" b="1" baseline="30000" dirty="0">
                <a:solidFill>
                  <a:srgbClr val="0070C0"/>
                </a:solidFill>
                <a:latin typeface="Arial" pitchFamily="34" charset="0"/>
                <a:cs typeface="Arial" pitchFamily="34" charset="0"/>
              </a:rPr>
              <a:t>–</a:t>
            </a:r>
            <a:r>
              <a:rPr lang="en-GB" sz="2400" b="1" dirty="0">
                <a:solidFill>
                  <a:srgbClr val="0070C0"/>
                </a:solidFill>
                <a:latin typeface="Arial" pitchFamily="34" charset="0"/>
                <a:cs typeface="Arial" pitchFamily="34" charset="0"/>
              </a:rPr>
              <a:t>   (c) Mg</a:t>
            </a:r>
            <a:r>
              <a:rPr lang="en-GB" sz="2400" b="1" baseline="30000" dirty="0">
                <a:solidFill>
                  <a:srgbClr val="0070C0"/>
                </a:solidFill>
                <a:latin typeface="Arial" pitchFamily="34" charset="0"/>
                <a:cs typeface="Arial" pitchFamily="34" charset="0"/>
              </a:rPr>
              <a:t>2+</a:t>
            </a:r>
            <a:r>
              <a:rPr lang="en-GB" sz="2400" b="1" dirty="0">
                <a:solidFill>
                  <a:srgbClr val="0070C0"/>
                </a:solidFill>
                <a:latin typeface="Arial" pitchFamily="34" charset="0"/>
                <a:cs typeface="Arial" pitchFamily="34"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Structure and Bonding</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C86BB22-F399-435B-A0C9-F8E84E5049E8}"/>
              </a:ext>
            </a:extLst>
          </p:cNvPr>
          <p:cNvSpPr txBox="1"/>
          <p:nvPr/>
        </p:nvSpPr>
        <p:spPr>
          <a:xfrm>
            <a:off x="0" y="548680"/>
            <a:ext cx="9144000" cy="1200329"/>
          </a:xfrm>
          <a:prstGeom prst="rect">
            <a:avLst/>
          </a:prstGeom>
          <a:noFill/>
        </p:spPr>
        <p:txBody>
          <a:bodyPr wrap="square" rtlCol="0">
            <a:spAutoFit/>
          </a:bodyPr>
          <a:lstStyle/>
          <a:p>
            <a:pPr marL="457200" indent="-457200">
              <a:buFont typeface="+mj-lt"/>
              <a:buAutoNum type="arabicPeriod" startAt="2"/>
            </a:pPr>
            <a:r>
              <a:rPr lang="en-US" sz="2400" b="1" dirty="0">
                <a:solidFill>
                  <a:srgbClr val="0070C0"/>
                </a:solidFill>
                <a:latin typeface="Arial" pitchFamily="34" charset="0"/>
                <a:cs typeface="Arial" pitchFamily="34" charset="0"/>
              </a:rPr>
              <a:t>How many covalent bonds does phosphorous form to complete its valence shell in phosphine, </a:t>
            </a:r>
            <a:r>
              <a:rPr lang="en-US" sz="2400" b="1" dirty="0" err="1">
                <a:solidFill>
                  <a:srgbClr val="0070C0"/>
                </a:solidFill>
                <a:latin typeface="Arial" pitchFamily="34" charset="0"/>
                <a:cs typeface="Arial" pitchFamily="34" charset="0"/>
              </a:rPr>
              <a:t>PH</a:t>
            </a:r>
            <a:r>
              <a:rPr lang="en-US" sz="2400" b="1" baseline="-25000" dirty="0" err="1">
                <a:solidFill>
                  <a:srgbClr val="0070C0"/>
                </a:solidFill>
                <a:latin typeface="Arial" pitchFamily="34" charset="0"/>
                <a:cs typeface="Arial" pitchFamily="34" charset="0"/>
              </a:rPr>
              <a:t>x</a:t>
            </a:r>
            <a:r>
              <a:rPr lang="en-US" sz="2400" b="1" dirty="0">
                <a:solidFill>
                  <a:srgbClr val="0070C0"/>
                </a:solidFill>
                <a:latin typeface="Arial" pitchFamily="34" charset="0"/>
                <a:cs typeface="Arial" pitchFamily="34" charset="0"/>
              </a:rPr>
              <a:t>? Similarly, complete the molecular formula CH</a:t>
            </a:r>
            <a:r>
              <a:rPr lang="en-US" sz="2400" b="1" baseline="-25000" dirty="0">
                <a:solidFill>
                  <a:srgbClr val="0070C0"/>
                </a:solidFill>
                <a:latin typeface="Arial" pitchFamily="34" charset="0"/>
                <a:cs typeface="Arial" pitchFamily="34" charset="0"/>
              </a:rPr>
              <a:t>3</a:t>
            </a:r>
            <a:r>
              <a:rPr lang="en-US" sz="2400" b="1" dirty="0">
                <a:solidFill>
                  <a:srgbClr val="0070C0"/>
                </a:solidFill>
                <a:latin typeface="Arial" pitchFamily="34" charset="0"/>
                <a:cs typeface="Arial" pitchFamily="34" charset="0"/>
              </a:rPr>
              <a:t>NH</a:t>
            </a:r>
            <a:r>
              <a:rPr lang="en-US" sz="2400" b="1" baseline="-25000" dirty="0">
                <a:solidFill>
                  <a:srgbClr val="0070C0"/>
                </a:solidFill>
                <a:latin typeface="Arial" pitchFamily="34" charset="0"/>
                <a:cs typeface="Arial" pitchFamily="34" charset="0"/>
              </a:rPr>
              <a:t>x</a:t>
            </a:r>
            <a:r>
              <a:rPr lang="en-US" sz="2400" b="1" dirty="0">
                <a:solidFill>
                  <a:srgbClr val="0070C0"/>
                </a:solidFill>
                <a:latin typeface="Arial" pitchFamily="34" charset="0"/>
                <a:cs typeface="Arial" pitchFamily="34" charset="0"/>
              </a:rPr>
              <a:t>.</a:t>
            </a: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3852276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Structure and Bonding</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C86BB22-F399-435B-A0C9-F8E84E5049E8}"/>
              </a:ext>
            </a:extLst>
          </p:cNvPr>
          <p:cNvSpPr txBox="1"/>
          <p:nvPr/>
        </p:nvSpPr>
        <p:spPr>
          <a:xfrm>
            <a:off x="0" y="548680"/>
            <a:ext cx="9144000" cy="830997"/>
          </a:xfrm>
          <a:prstGeom prst="rect">
            <a:avLst/>
          </a:prstGeom>
          <a:noFill/>
        </p:spPr>
        <p:txBody>
          <a:bodyPr wrap="square" rtlCol="0">
            <a:spAutoFit/>
          </a:bodyPr>
          <a:lstStyle/>
          <a:p>
            <a:pPr marL="457200" indent="-457200">
              <a:buFont typeface="+mj-lt"/>
              <a:buAutoNum type="arabicPeriod" startAt="3"/>
            </a:pPr>
            <a:r>
              <a:rPr lang="en-US" sz="2400" b="1" dirty="0">
                <a:solidFill>
                  <a:srgbClr val="0070C0"/>
                </a:solidFill>
                <a:latin typeface="Arial" pitchFamily="34" charset="0"/>
                <a:cs typeface="Arial" pitchFamily="34" charset="0"/>
              </a:rPr>
              <a:t>Calculate the formal charges on the appropriate atoms in the following:</a:t>
            </a:r>
            <a:endParaRPr lang="en-GB" sz="2400" b="1" dirty="0">
              <a:solidFill>
                <a:srgbClr val="0070C0"/>
              </a:solidFill>
              <a:latin typeface="Arial" pitchFamily="34" charset="0"/>
              <a:cs typeface="Arial" pitchFamily="34" charset="0"/>
            </a:endParaRPr>
          </a:p>
        </p:txBody>
      </p:sp>
      <p:graphicFrame>
        <p:nvGraphicFramePr>
          <p:cNvPr id="3" name="Object 2">
            <a:extLst>
              <a:ext uri="{FF2B5EF4-FFF2-40B4-BE49-F238E27FC236}">
                <a16:creationId xmlns:a16="http://schemas.microsoft.com/office/drawing/2014/main" id="{1E97EE64-8E35-4929-A548-FDD2756047B5}"/>
              </a:ext>
            </a:extLst>
          </p:cNvPr>
          <p:cNvGraphicFramePr>
            <a:graphicFrameLocks noChangeAspect="1"/>
          </p:cNvGraphicFramePr>
          <p:nvPr>
            <p:extLst>
              <p:ext uri="{D42A27DB-BD31-4B8C-83A1-F6EECF244321}">
                <p14:modId xmlns:p14="http://schemas.microsoft.com/office/powerpoint/2010/main" val="1628463693"/>
              </p:ext>
            </p:extLst>
          </p:nvPr>
        </p:nvGraphicFramePr>
        <p:xfrm>
          <a:off x="3413918" y="4653136"/>
          <a:ext cx="2316163" cy="533400"/>
        </p:xfrm>
        <a:graphic>
          <a:graphicData uri="http://schemas.openxmlformats.org/presentationml/2006/ole">
            <mc:AlternateContent xmlns:mc="http://schemas.openxmlformats.org/markup-compatibility/2006">
              <mc:Choice xmlns:v="urn:schemas-microsoft-com:vml" Requires="v">
                <p:oleObj name="CS ChemDraw Drawing" r:id="rId2" imgW="2313402" imgH="533505" progId="ChemDraw.Document.6.0">
                  <p:embed/>
                </p:oleObj>
              </mc:Choice>
              <mc:Fallback>
                <p:oleObj name="CS ChemDraw Drawing" r:id="rId2" imgW="2313402" imgH="533505" progId="ChemDraw.Document.6.0">
                  <p:embed/>
                  <p:pic>
                    <p:nvPicPr>
                      <p:cNvPr id="0" name="Object 1"/>
                      <p:cNvPicPr>
                        <a:picLocks noChangeAspect="1" noChangeArrowheads="1"/>
                      </p:cNvPicPr>
                      <p:nvPr/>
                    </p:nvPicPr>
                    <p:blipFill>
                      <a:blip r:embed="rId3"/>
                      <a:srcRect/>
                      <a:stretch>
                        <a:fillRect/>
                      </a:stretch>
                    </p:blipFill>
                    <p:spPr bwMode="auto">
                      <a:xfrm>
                        <a:off x="3413918" y="4653136"/>
                        <a:ext cx="231616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a:extLst>
              <a:ext uri="{FF2B5EF4-FFF2-40B4-BE49-F238E27FC236}">
                <a16:creationId xmlns:a16="http://schemas.microsoft.com/office/drawing/2014/main" id="{785669D0-C3FD-44BA-B5AA-6CE606699EAF}"/>
              </a:ext>
            </a:extLst>
          </p:cNvPr>
          <p:cNvGraphicFramePr>
            <a:graphicFrameLocks noChangeAspect="1"/>
          </p:cNvGraphicFramePr>
          <p:nvPr>
            <p:extLst>
              <p:ext uri="{D42A27DB-BD31-4B8C-83A1-F6EECF244321}">
                <p14:modId xmlns:p14="http://schemas.microsoft.com/office/powerpoint/2010/main" val="2525608415"/>
              </p:ext>
            </p:extLst>
          </p:nvPr>
        </p:nvGraphicFramePr>
        <p:xfrm>
          <a:off x="3524250" y="2239703"/>
          <a:ext cx="2095500" cy="1104900"/>
        </p:xfrm>
        <a:graphic>
          <a:graphicData uri="http://schemas.openxmlformats.org/presentationml/2006/ole">
            <mc:AlternateContent xmlns:mc="http://schemas.openxmlformats.org/markup-compatibility/2006">
              <mc:Choice xmlns:v="urn:schemas-microsoft-com:vml" Requires="v">
                <p:oleObj name="CS ChemDraw Drawing" r:id="rId4" imgW="2092763" imgH="1104847" progId="ChemDraw.Document.6.0">
                  <p:embed/>
                </p:oleObj>
              </mc:Choice>
              <mc:Fallback>
                <p:oleObj name="CS ChemDraw Drawing" r:id="rId4" imgW="2092763" imgH="1104847" progId="ChemDraw.Document.6.0">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4250" y="2239703"/>
                        <a:ext cx="20955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75061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Structure and Bonding</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C86BB22-F399-435B-A0C9-F8E84E5049E8}"/>
              </a:ext>
            </a:extLst>
          </p:cNvPr>
          <p:cNvSpPr txBox="1"/>
          <p:nvPr/>
        </p:nvSpPr>
        <p:spPr>
          <a:xfrm>
            <a:off x="0" y="548680"/>
            <a:ext cx="9144000" cy="1200329"/>
          </a:xfrm>
          <a:prstGeom prst="rect">
            <a:avLst/>
          </a:prstGeom>
          <a:noFill/>
        </p:spPr>
        <p:txBody>
          <a:bodyPr wrap="square" rtlCol="0">
            <a:spAutoFit/>
          </a:bodyPr>
          <a:lstStyle/>
          <a:p>
            <a:pPr marL="457200" indent="-457200">
              <a:buFont typeface="+mj-lt"/>
              <a:buAutoNum type="arabicPeriod" startAt="4"/>
            </a:pPr>
            <a:r>
              <a:rPr lang="en-US" sz="2400" b="1" dirty="0" err="1">
                <a:solidFill>
                  <a:srgbClr val="0070C0"/>
                </a:solidFill>
                <a:latin typeface="Arial" pitchFamily="34" charset="0"/>
                <a:cs typeface="Arial" pitchFamily="34" charset="0"/>
              </a:rPr>
              <a:t>Acrivastine</a:t>
            </a:r>
            <a:r>
              <a:rPr lang="en-US" sz="2400" b="1" dirty="0">
                <a:solidFill>
                  <a:srgbClr val="0070C0"/>
                </a:solidFill>
                <a:latin typeface="Arial" pitchFamily="34" charset="0"/>
                <a:cs typeface="Arial" pitchFamily="34" charset="0"/>
              </a:rPr>
              <a:t> is an anti-histamine. </a:t>
            </a:r>
            <a:r>
              <a:rPr lang="en-US" sz="2400" b="1" dirty="0" err="1">
                <a:solidFill>
                  <a:srgbClr val="0070C0"/>
                </a:solidFill>
                <a:latin typeface="Arial" pitchFamily="34" charset="0"/>
                <a:cs typeface="Arial" pitchFamily="34" charset="0"/>
              </a:rPr>
              <a:t>Hybridisation</a:t>
            </a:r>
            <a:r>
              <a:rPr lang="en-US" sz="2400" b="1" dirty="0">
                <a:solidFill>
                  <a:srgbClr val="0070C0"/>
                </a:solidFill>
                <a:latin typeface="Arial" pitchFamily="34" charset="0"/>
                <a:cs typeface="Arial" pitchFamily="34" charset="0"/>
              </a:rPr>
              <a:t> state of each C, N and O atom. Lone pairs. H-bond donors and acceptors? </a:t>
            </a:r>
            <a:endParaRPr lang="en-GB" sz="2400" b="1" dirty="0">
              <a:solidFill>
                <a:srgbClr val="0070C0"/>
              </a:solidFill>
              <a:latin typeface="Arial" pitchFamily="34" charset="0"/>
              <a:cs typeface="Arial" pitchFamily="34" charset="0"/>
            </a:endParaRPr>
          </a:p>
        </p:txBody>
      </p:sp>
      <p:graphicFrame>
        <p:nvGraphicFramePr>
          <p:cNvPr id="5" name="Object 4">
            <a:extLst>
              <a:ext uri="{FF2B5EF4-FFF2-40B4-BE49-F238E27FC236}">
                <a16:creationId xmlns:a16="http://schemas.microsoft.com/office/drawing/2014/main" id="{35DEDBB6-91AE-4389-A0C0-944D5A96D923}"/>
              </a:ext>
            </a:extLst>
          </p:cNvPr>
          <p:cNvGraphicFramePr>
            <a:graphicFrameLocks noChangeAspect="1"/>
          </p:cNvGraphicFramePr>
          <p:nvPr>
            <p:extLst>
              <p:ext uri="{D42A27DB-BD31-4B8C-83A1-F6EECF244321}">
                <p14:modId xmlns:p14="http://schemas.microsoft.com/office/powerpoint/2010/main" val="4143171557"/>
              </p:ext>
            </p:extLst>
          </p:nvPr>
        </p:nvGraphicFramePr>
        <p:xfrm>
          <a:off x="2796381" y="2708920"/>
          <a:ext cx="3551238" cy="2217738"/>
        </p:xfrm>
        <a:graphic>
          <a:graphicData uri="http://schemas.openxmlformats.org/presentationml/2006/ole">
            <mc:AlternateContent xmlns:mc="http://schemas.openxmlformats.org/markup-compatibility/2006">
              <mc:Choice xmlns:v="urn:schemas-microsoft-com:vml" Requires="v">
                <p:oleObj name="CS ChemDraw Drawing" r:id="rId2" imgW="3552488" imgH="2218681" progId="ChemDraw.Document.6.0">
                  <p:embed/>
                </p:oleObj>
              </mc:Choice>
              <mc:Fallback>
                <p:oleObj name="CS ChemDraw Drawing" r:id="rId2" imgW="3552488" imgH="2218681" progId="ChemDraw.Document.6.0">
                  <p:embed/>
                  <p:pic>
                    <p:nvPicPr>
                      <p:cNvPr id="3" name="Object 2">
                        <a:extLst>
                          <a:ext uri="{FF2B5EF4-FFF2-40B4-BE49-F238E27FC236}">
                            <a16:creationId xmlns:a16="http://schemas.microsoft.com/office/drawing/2014/main" id="{F6521BB7-3C9F-4AD2-9CB1-CA4F8B4E3B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6381" y="2708920"/>
                        <a:ext cx="3551238" cy="2217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86239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Structure and Bonding</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C86BB22-F399-435B-A0C9-F8E84E5049E8}"/>
              </a:ext>
            </a:extLst>
          </p:cNvPr>
          <p:cNvSpPr txBox="1"/>
          <p:nvPr/>
        </p:nvSpPr>
        <p:spPr>
          <a:xfrm>
            <a:off x="0" y="548680"/>
            <a:ext cx="9144000" cy="1200329"/>
          </a:xfrm>
          <a:prstGeom prst="rect">
            <a:avLst/>
          </a:prstGeom>
          <a:noFill/>
        </p:spPr>
        <p:txBody>
          <a:bodyPr wrap="square" rtlCol="0">
            <a:spAutoFit/>
          </a:bodyPr>
          <a:lstStyle/>
          <a:p>
            <a:pPr marL="457200" indent="-457200">
              <a:buFont typeface="+mj-lt"/>
              <a:buAutoNum type="arabicPeriod" startAt="4"/>
            </a:pPr>
            <a:r>
              <a:rPr lang="en-US" sz="2400" b="1" dirty="0">
                <a:solidFill>
                  <a:srgbClr val="0070C0"/>
                </a:solidFill>
                <a:latin typeface="Arial" pitchFamily="34" charset="0"/>
                <a:cs typeface="Arial" pitchFamily="34" charset="0"/>
              </a:rPr>
              <a:t>Molecular formula of </a:t>
            </a:r>
            <a:r>
              <a:rPr lang="en-US" sz="2400" b="1" dirty="0" err="1">
                <a:solidFill>
                  <a:srgbClr val="0070C0"/>
                </a:solidFill>
                <a:latin typeface="Arial" pitchFamily="34" charset="0"/>
                <a:cs typeface="Arial" pitchFamily="34" charset="0"/>
              </a:rPr>
              <a:t>acrivastine</a:t>
            </a:r>
            <a:r>
              <a:rPr lang="en-US" sz="2400" b="1" dirty="0">
                <a:solidFill>
                  <a:srgbClr val="0070C0"/>
                </a:solidFill>
                <a:latin typeface="Arial" pitchFamily="34" charset="0"/>
                <a:cs typeface="Arial" pitchFamily="34" charset="0"/>
              </a:rPr>
              <a:t>. How many moles of drug would be required to prepare 100 tablets if each tablet contains 8 mg of </a:t>
            </a:r>
            <a:r>
              <a:rPr lang="en-US" sz="2400" b="1" dirty="0" err="1">
                <a:solidFill>
                  <a:srgbClr val="0070C0"/>
                </a:solidFill>
                <a:latin typeface="Arial" pitchFamily="34" charset="0"/>
                <a:cs typeface="Arial" pitchFamily="34" charset="0"/>
              </a:rPr>
              <a:t>acrivastine</a:t>
            </a:r>
            <a:r>
              <a:rPr lang="en-US" sz="2400" b="1" dirty="0">
                <a:solidFill>
                  <a:srgbClr val="0070C0"/>
                </a:solidFill>
                <a:latin typeface="Arial" pitchFamily="34" charset="0"/>
                <a:cs typeface="Arial" pitchFamily="34" charset="0"/>
              </a:rPr>
              <a:t>.</a:t>
            </a:r>
            <a:endParaRPr lang="en-GB" sz="2400" b="1" dirty="0">
              <a:solidFill>
                <a:srgbClr val="0070C0"/>
              </a:solidFill>
              <a:latin typeface="Arial" pitchFamily="34" charset="0"/>
              <a:cs typeface="Arial" pitchFamily="34" charset="0"/>
            </a:endParaRPr>
          </a:p>
        </p:txBody>
      </p:sp>
      <p:sp>
        <p:nvSpPr>
          <p:cNvPr id="2" name="Rectangle 2">
            <a:extLst>
              <a:ext uri="{FF2B5EF4-FFF2-40B4-BE49-F238E27FC236}">
                <a16:creationId xmlns:a16="http://schemas.microsoft.com/office/drawing/2014/main" id="{AB32C3E4-87EB-4D3B-9453-474533E2AAB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3" name="Object 2">
            <a:extLst>
              <a:ext uri="{FF2B5EF4-FFF2-40B4-BE49-F238E27FC236}">
                <a16:creationId xmlns:a16="http://schemas.microsoft.com/office/drawing/2014/main" id="{F6521BB7-3C9F-4AD2-9CB1-CA4F8B4E3B48}"/>
              </a:ext>
            </a:extLst>
          </p:cNvPr>
          <p:cNvGraphicFramePr>
            <a:graphicFrameLocks noChangeAspect="1"/>
          </p:cNvGraphicFramePr>
          <p:nvPr>
            <p:extLst>
              <p:ext uri="{D42A27DB-BD31-4B8C-83A1-F6EECF244321}">
                <p14:modId xmlns:p14="http://schemas.microsoft.com/office/powerpoint/2010/main" val="102898789"/>
              </p:ext>
            </p:extLst>
          </p:nvPr>
        </p:nvGraphicFramePr>
        <p:xfrm>
          <a:off x="251520" y="1916832"/>
          <a:ext cx="3551238" cy="2217738"/>
        </p:xfrm>
        <a:graphic>
          <a:graphicData uri="http://schemas.openxmlformats.org/presentationml/2006/ole">
            <mc:AlternateContent xmlns:mc="http://schemas.openxmlformats.org/markup-compatibility/2006">
              <mc:Choice xmlns:v="urn:schemas-microsoft-com:vml" Requires="v">
                <p:oleObj name="CS ChemDraw Drawing" r:id="rId2" imgW="3552488" imgH="2218681" progId="ChemDraw.Document.6.0">
                  <p:embed/>
                </p:oleObj>
              </mc:Choice>
              <mc:Fallback>
                <p:oleObj name="CS ChemDraw Drawing" r:id="rId2" imgW="3552488" imgH="2218681" progId="ChemDraw.Document.6.0">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916832"/>
                        <a:ext cx="3551238" cy="2217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65855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C86BB22-F399-435B-A0C9-F8E84E5049E8}"/>
              </a:ext>
            </a:extLst>
          </p:cNvPr>
          <p:cNvSpPr txBox="1"/>
          <p:nvPr/>
        </p:nvSpPr>
        <p:spPr>
          <a:xfrm>
            <a:off x="0" y="548680"/>
            <a:ext cx="9144000" cy="1569660"/>
          </a:xfrm>
          <a:prstGeom prst="rect">
            <a:avLst/>
          </a:prstGeom>
          <a:noFill/>
        </p:spPr>
        <p:txBody>
          <a:bodyPr wrap="square" rtlCol="0">
            <a:spAutoFit/>
          </a:bodyPr>
          <a:lstStyle/>
          <a:p>
            <a:pPr marL="457200" indent="-457200">
              <a:buFont typeface="+mj-lt"/>
              <a:buAutoNum type="arabicPeriod" startAt="5"/>
            </a:pPr>
            <a:r>
              <a:rPr lang="en-US" sz="2400" b="1" dirty="0">
                <a:solidFill>
                  <a:srgbClr val="0070C0"/>
                </a:solidFill>
                <a:latin typeface="Arial" pitchFamily="34" charset="0"/>
                <a:cs typeface="Arial" pitchFamily="34" charset="0"/>
              </a:rPr>
              <a:t>A buffer solution is made up with 0.0074 mol of potassium dihydrogen phosphate and 0.0175 mol of dipotassium hydrogen phosphate hexahydrate. Calculate the total mass of potassium in the final solution.</a:t>
            </a: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619117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F1FB01-42EF-64C9-87B7-88B78A2A64CB}"/>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814E2F9B-9266-B3FB-C19B-74E9FBE1BB86}"/>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1A7EBC7-B69D-9F5C-EF3D-F3F10A12E15A}"/>
              </a:ext>
            </a:extLst>
          </p:cNvPr>
          <p:cNvSpPr txBox="1"/>
          <p:nvPr/>
        </p:nvSpPr>
        <p:spPr>
          <a:xfrm>
            <a:off x="0" y="548680"/>
            <a:ext cx="9144000" cy="1569660"/>
          </a:xfrm>
          <a:prstGeom prst="rect">
            <a:avLst/>
          </a:prstGeom>
          <a:noFill/>
        </p:spPr>
        <p:txBody>
          <a:bodyPr wrap="square" rtlCol="0">
            <a:spAutoFit/>
          </a:bodyPr>
          <a:lstStyle/>
          <a:p>
            <a:pPr marL="457200" indent="-457200">
              <a:buFont typeface="+mj-lt"/>
              <a:buAutoNum type="arabicPeriod" startAt="6"/>
            </a:pPr>
            <a:r>
              <a:rPr lang="en-US" sz="2400" b="1" dirty="0">
                <a:solidFill>
                  <a:srgbClr val="0070C0"/>
                </a:solidFill>
                <a:latin typeface="Arial" pitchFamily="34" charset="0"/>
                <a:cs typeface="Arial" pitchFamily="34" charset="0"/>
              </a:rPr>
              <a:t>If you mix 50 mL of a 2% w/v solution of ephedrine hydrochloride with 24 mL of a 5% w/v solution of ephedrine hydrochloride, what will the final % strength be? Calculate the molarity of the final mixture.</a:t>
            </a:r>
            <a:endParaRPr lang="en-GB" sz="2400" b="1" dirty="0">
              <a:solidFill>
                <a:srgbClr val="0070C0"/>
              </a:solidFill>
              <a:latin typeface="Arial" pitchFamily="34" charset="0"/>
              <a:cs typeface="Arial" pitchFamily="34" charset="0"/>
            </a:endParaRPr>
          </a:p>
        </p:txBody>
      </p:sp>
      <p:pic>
        <p:nvPicPr>
          <p:cNvPr id="2" name="Picture 2" descr="Chemical structure of the (1R,2S)-ephedrine molecule">
            <a:extLst>
              <a:ext uri="{FF2B5EF4-FFF2-40B4-BE49-F238E27FC236}">
                <a16:creationId xmlns:a16="http://schemas.microsoft.com/office/drawing/2014/main" id="{1615771C-BC58-B691-6B66-673D5B4B4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276872"/>
            <a:ext cx="2497873" cy="13975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9474CB0-74E9-F416-9FFC-B7D9FC85EFFC}"/>
              </a:ext>
            </a:extLst>
          </p:cNvPr>
          <p:cNvSpPr txBox="1"/>
          <p:nvPr/>
        </p:nvSpPr>
        <p:spPr>
          <a:xfrm>
            <a:off x="813409" y="3674445"/>
            <a:ext cx="1374094"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ephedrine</a:t>
            </a:r>
          </a:p>
        </p:txBody>
      </p:sp>
    </p:spTree>
    <p:extLst>
      <p:ext uri="{BB962C8B-B14F-4D97-AF65-F5344CB8AC3E}">
        <p14:creationId xmlns:p14="http://schemas.microsoft.com/office/powerpoint/2010/main" val="2557747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F2B6C4-2DD4-0C60-5F1B-0FAAA9053924}"/>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75DCB4F9-4C78-0122-85CB-A1D258EC5310}"/>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4867C031-6EEA-1DE2-3DDF-8E33949E18E2}"/>
              </a:ext>
            </a:extLst>
          </p:cNvPr>
          <p:cNvSpPr txBox="1"/>
          <p:nvPr/>
        </p:nvSpPr>
        <p:spPr>
          <a:xfrm>
            <a:off x="0" y="548680"/>
            <a:ext cx="9144000" cy="1200329"/>
          </a:xfrm>
          <a:prstGeom prst="rect">
            <a:avLst/>
          </a:prstGeom>
          <a:noFill/>
        </p:spPr>
        <p:txBody>
          <a:bodyPr wrap="square" rtlCol="0">
            <a:spAutoFit/>
          </a:bodyPr>
          <a:lstStyle/>
          <a:p>
            <a:pPr marL="457200" indent="-457200">
              <a:buFont typeface="+mj-lt"/>
              <a:buAutoNum type="arabicPeriod" startAt="7"/>
            </a:pPr>
            <a:r>
              <a:rPr lang="en-GB" sz="2400" b="1" noProof="0" dirty="0">
                <a:solidFill>
                  <a:srgbClr val="0070C0"/>
                </a:solidFill>
                <a:latin typeface="Arial" pitchFamily="34" charset="0"/>
                <a:cs typeface="Arial" pitchFamily="34" charset="0"/>
              </a:rPr>
              <a:t>Ephedrine is synthesised by the catalytic reduction of </a:t>
            </a:r>
            <a:r>
              <a:rPr lang="en-GB" sz="2400" b="1" noProof="0" dirty="0" err="1">
                <a:solidFill>
                  <a:srgbClr val="0070C0"/>
                </a:solidFill>
                <a:latin typeface="Arial" pitchFamily="34" charset="0"/>
                <a:cs typeface="Arial" pitchFamily="34" charset="0"/>
              </a:rPr>
              <a:t>phenylacetylcarbinol</a:t>
            </a:r>
            <a:r>
              <a:rPr lang="en-GB" sz="2400" b="1" noProof="0" dirty="0">
                <a:solidFill>
                  <a:srgbClr val="0070C0"/>
                </a:solidFill>
                <a:latin typeface="Arial" pitchFamily="34" charset="0"/>
                <a:cs typeface="Arial" pitchFamily="34" charset="0"/>
              </a:rPr>
              <a:t> by hydrogen gas in the presence of methylamine.</a:t>
            </a:r>
            <a:endParaRPr lang="en-GB" sz="2400" noProof="0" dirty="0">
              <a:solidFill>
                <a:srgbClr val="0070C0"/>
              </a:solidFill>
              <a:latin typeface="Arial" pitchFamily="34" charset="0"/>
              <a:cs typeface="Arial" pitchFamily="34" charset="0"/>
            </a:endParaRPr>
          </a:p>
        </p:txBody>
      </p:sp>
      <p:grpSp>
        <p:nvGrpSpPr>
          <p:cNvPr id="10" name="Group 9">
            <a:extLst>
              <a:ext uri="{FF2B5EF4-FFF2-40B4-BE49-F238E27FC236}">
                <a16:creationId xmlns:a16="http://schemas.microsoft.com/office/drawing/2014/main" id="{FFC92E92-2806-6C8A-0939-5754DB236DE3}"/>
              </a:ext>
            </a:extLst>
          </p:cNvPr>
          <p:cNvGrpSpPr/>
          <p:nvPr/>
        </p:nvGrpSpPr>
        <p:grpSpPr>
          <a:xfrm>
            <a:off x="1744828" y="1749009"/>
            <a:ext cx="5654343" cy="2285810"/>
            <a:chOff x="1415589" y="1726680"/>
            <a:chExt cx="5654343" cy="2285810"/>
          </a:xfrm>
        </p:grpSpPr>
        <p:pic>
          <p:nvPicPr>
            <p:cNvPr id="2" name="Picture 1" descr="A black background with red and blue text&#10;&#10;Description automatically generated">
              <a:extLst>
                <a:ext uri="{FF2B5EF4-FFF2-40B4-BE49-F238E27FC236}">
                  <a16:creationId xmlns:a16="http://schemas.microsoft.com/office/drawing/2014/main" id="{156BE3E9-63BC-8C71-7999-3845CA7E710F}"/>
                </a:ext>
              </a:extLst>
            </p:cNvPr>
            <p:cNvPicPr>
              <a:picLocks noChangeAspect="1"/>
            </p:cNvPicPr>
            <p:nvPr/>
          </p:nvPicPr>
          <p:blipFill rotWithShape="1">
            <a:blip r:embed="rId2"/>
            <a:srcRect t="20805" r="54098" b="18883"/>
            <a:stretch/>
          </p:blipFill>
          <p:spPr>
            <a:xfrm>
              <a:off x="1895006" y="1839415"/>
              <a:ext cx="1316855" cy="1730253"/>
            </a:xfrm>
            <a:prstGeom prst="rect">
              <a:avLst/>
            </a:prstGeom>
          </p:spPr>
        </p:pic>
        <p:pic>
          <p:nvPicPr>
            <p:cNvPr id="3" name="Picture 2" descr="A black background with red and blue text&#10;&#10;Description automatically generated">
              <a:extLst>
                <a:ext uri="{FF2B5EF4-FFF2-40B4-BE49-F238E27FC236}">
                  <a16:creationId xmlns:a16="http://schemas.microsoft.com/office/drawing/2014/main" id="{6E4D80A5-EDD5-0515-87B1-C63EFA298D6A}"/>
                </a:ext>
              </a:extLst>
            </p:cNvPr>
            <p:cNvPicPr>
              <a:picLocks noChangeAspect="1"/>
            </p:cNvPicPr>
            <p:nvPr/>
          </p:nvPicPr>
          <p:blipFill rotWithShape="1">
            <a:blip r:embed="rId2"/>
            <a:srcRect l="50293" t="14344" b="16744"/>
            <a:stretch/>
          </p:blipFill>
          <p:spPr>
            <a:xfrm>
              <a:off x="5580112" y="1726680"/>
              <a:ext cx="1426010" cy="1976966"/>
            </a:xfrm>
            <a:prstGeom prst="rect">
              <a:avLst/>
            </a:prstGeom>
          </p:spPr>
        </p:pic>
        <p:cxnSp>
          <p:nvCxnSpPr>
            <p:cNvPr id="5" name="Straight Arrow Connector 4">
              <a:extLst>
                <a:ext uri="{FF2B5EF4-FFF2-40B4-BE49-F238E27FC236}">
                  <a16:creationId xmlns:a16="http://schemas.microsoft.com/office/drawing/2014/main" id="{8120B318-A986-1D00-8BD8-6A0013129D78}"/>
                </a:ext>
              </a:extLst>
            </p:cNvPr>
            <p:cNvCxnSpPr>
              <a:cxnSpLocks/>
              <a:stCxn id="2" idx="3"/>
              <a:endCxn id="3" idx="1"/>
            </p:cNvCxnSpPr>
            <p:nvPr/>
          </p:nvCxnSpPr>
          <p:spPr>
            <a:xfrm>
              <a:off x="3211861" y="2704542"/>
              <a:ext cx="2368251" cy="1062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71C093B-C022-EBFB-3DE7-C6FD405AF261}"/>
                </a:ext>
              </a:extLst>
            </p:cNvPr>
            <p:cNvSpPr txBox="1"/>
            <p:nvPr/>
          </p:nvSpPr>
          <p:spPr>
            <a:xfrm>
              <a:off x="3871126" y="2277290"/>
              <a:ext cx="1007007"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MeNH</a:t>
              </a:r>
              <a:r>
                <a:rPr lang="en-GB" baseline="-25000" dirty="0">
                  <a:solidFill>
                    <a:schemeClr val="tx1"/>
                  </a:solidFill>
                  <a:latin typeface="Arial" panose="020B0604020202020204" pitchFamily="34" charset="0"/>
                  <a:cs typeface="Arial" panose="020B0604020202020204" pitchFamily="34" charset="0"/>
                </a:rPr>
                <a:t>2</a:t>
              </a:r>
            </a:p>
          </p:txBody>
        </p:sp>
        <p:sp>
          <p:nvSpPr>
            <p:cNvPr id="7" name="TextBox 6">
              <a:extLst>
                <a:ext uri="{FF2B5EF4-FFF2-40B4-BE49-F238E27FC236}">
                  <a16:creationId xmlns:a16="http://schemas.microsoft.com/office/drawing/2014/main" id="{F38C4F37-4A55-5DF5-5103-39095AA73492}"/>
                </a:ext>
              </a:extLst>
            </p:cNvPr>
            <p:cNvSpPr txBox="1"/>
            <p:nvPr/>
          </p:nvSpPr>
          <p:spPr>
            <a:xfrm>
              <a:off x="3472428" y="2773083"/>
              <a:ext cx="1887055"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H</a:t>
              </a:r>
              <a:r>
                <a:rPr lang="en-GB" baseline="-25000" dirty="0">
                  <a:solidFill>
                    <a:schemeClr val="tx1"/>
                  </a:solidFill>
                  <a:latin typeface="Arial" panose="020B0604020202020204" pitchFamily="34" charset="0"/>
                  <a:cs typeface="Arial" panose="020B0604020202020204" pitchFamily="34" charset="0"/>
                </a:rPr>
                <a:t>2</a:t>
              </a:r>
              <a:r>
                <a:rPr lang="en-GB" dirty="0">
                  <a:solidFill>
                    <a:schemeClr val="tx1"/>
                  </a:solidFill>
                  <a:latin typeface="Arial" panose="020B0604020202020204" pitchFamily="34" charset="0"/>
                  <a:cs typeface="Arial" panose="020B0604020202020204" pitchFamily="34" charset="0"/>
                </a:rPr>
                <a:t> (Pt catalyst)</a:t>
              </a:r>
            </a:p>
          </p:txBody>
        </p:sp>
        <p:sp>
          <p:nvSpPr>
            <p:cNvPr id="8" name="TextBox 7">
              <a:extLst>
                <a:ext uri="{FF2B5EF4-FFF2-40B4-BE49-F238E27FC236}">
                  <a16:creationId xmlns:a16="http://schemas.microsoft.com/office/drawing/2014/main" id="{7F473D15-6A46-947E-74C8-DDCC2CCA7B10}"/>
                </a:ext>
              </a:extLst>
            </p:cNvPr>
            <p:cNvSpPr txBox="1"/>
            <p:nvPr/>
          </p:nvSpPr>
          <p:spPr>
            <a:xfrm>
              <a:off x="1415589" y="3612380"/>
              <a:ext cx="2510624" cy="400110"/>
            </a:xfrm>
            <a:prstGeom prst="rect">
              <a:avLst/>
            </a:prstGeom>
            <a:noFill/>
          </p:spPr>
          <p:txBody>
            <a:bodyPr wrap="none" rtlCol="0">
              <a:spAutoFit/>
            </a:bodyPr>
            <a:lstStyle/>
            <a:p>
              <a:r>
                <a:rPr lang="en-GB" dirty="0" err="1">
                  <a:solidFill>
                    <a:schemeClr val="tx1"/>
                  </a:solidFill>
                  <a:latin typeface="Arial" panose="020B0604020202020204" pitchFamily="34" charset="0"/>
                  <a:cs typeface="Arial" panose="020B0604020202020204" pitchFamily="34" charset="0"/>
                </a:rPr>
                <a:t>phenylacetylcarbinol</a:t>
              </a:r>
              <a:endParaRPr lang="en-GB"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A51339F-CA10-CE71-C2BE-989D52F79652}"/>
                </a:ext>
              </a:extLst>
            </p:cNvPr>
            <p:cNvSpPr txBox="1"/>
            <p:nvPr/>
          </p:nvSpPr>
          <p:spPr>
            <a:xfrm>
              <a:off x="5695838" y="3612380"/>
              <a:ext cx="1374094"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ephedrine</a:t>
              </a:r>
            </a:p>
          </p:txBody>
        </p:sp>
      </p:grpSp>
    </p:spTree>
    <p:extLst>
      <p:ext uri="{BB962C8B-B14F-4D97-AF65-F5344CB8AC3E}">
        <p14:creationId xmlns:p14="http://schemas.microsoft.com/office/powerpoint/2010/main" val="2133594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2D2E06-D50D-B47F-7CB6-578ECB7B739E}"/>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0FA4D28D-8245-EFAD-E248-B7341FD4CEFC}"/>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37D0790-901A-FB01-FE67-49CAFD559B6B}"/>
              </a:ext>
            </a:extLst>
          </p:cNvPr>
          <p:cNvSpPr txBox="1"/>
          <p:nvPr/>
        </p:nvSpPr>
        <p:spPr>
          <a:xfrm>
            <a:off x="0" y="548680"/>
            <a:ext cx="9144000" cy="1200329"/>
          </a:xfrm>
          <a:prstGeom prst="rect">
            <a:avLst/>
          </a:prstGeom>
          <a:noFill/>
        </p:spPr>
        <p:txBody>
          <a:bodyPr wrap="square" rtlCol="0">
            <a:spAutoFit/>
          </a:bodyPr>
          <a:lstStyle/>
          <a:p>
            <a:pPr marL="457200" indent="-457200">
              <a:buFont typeface="+mj-lt"/>
              <a:buAutoNum type="arabicPeriod" startAt="7"/>
            </a:pPr>
            <a:r>
              <a:rPr lang="en-GB" sz="2400" b="1" noProof="0" dirty="0">
                <a:solidFill>
                  <a:srgbClr val="0070C0"/>
                </a:solidFill>
                <a:latin typeface="Arial" pitchFamily="34" charset="0"/>
                <a:cs typeface="Arial" pitchFamily="34" charset="0"/>
              </a:rPr>
              <a:t>(a) 2.7 g of </a:t>
            </a:r>
            <a:r>
              <a:rPr lang="en-GB" sz="2400" b="1" noProof="0" dirty="0" err="1">
                <a:solidFill>
                  <a:srgbClr val="0070C0"/>
                </a:solidFill>
                <a:latin typeface="Arial" pitchFamily="34" charset="0"/>
                <a:cs typeface="Arial" pitchFamily="34" charset="0"/>
              </a:rPr>
              <a:t>phenylacetylcarbinol</a:t>
            </a:r>
            <a:r>
              <a:rPr lang="en-GB" sz="2400" b="1" noProof="0" dirty="0">
                <a:solidFill>
                  <a:srgbClr val="0070C0"/>
                </a:solidFill>
                <a:latin typeface="Arial" pitchFamily="34" charset="0"/>
                <a:cs typeface="Arial" pitchFamily="34" charset="0"/>
              </a:rPr>
              <a:t> were reacted with 0.7 g methylamine in the presence of excess hydrogen gas, and 2.77 g of ephedrine was obtained. Calculate the yield.</a:t>
            </a:r>
          </a:p>
        </p:txBody>
      </p:sp>
      <p:grpSp>
        <p:nvGrpSpPr>
          <p:cNvPr id="10" name="Group 9">
            <a:extLst>
              <a:ext uri="{FF2B5EF4-FFF2-40B4-BE49-F238E27FC236}">
                <a16:creationId xmlns:a16="http://schemas.microsoft.com/office/drawing/2014/main" id="{F5C56B71-1767-B360-4796-6F625F609B05}"/>
              </a:ext>
            </a:extLst>
          </p:cNvPr>
          <p:cNvGrpSpPr/>
          <p:nvPr/>
        </p:nvGrpSpPr>
        <p:grpSpPr>
          <a:xfrm>
            <a:off x="1744828" y="1749009"/>
            <a:ext cx="5654343" cy="2285810"/>
            <a:chOff x="1415589" y="1726680"/>
            <a:chExt cx="5654343" cy="2285810"/>
          </a:xfrm>
        </p:grpSpPr>
        <p:pic>
          <p:nvPicPr>
            <p:cNvPr id="11" name="Picture 10" descr="A black background with red and blue text&#10;&#10;Description automatically generated">
              <a:extLst>
                <a:ext uri="{FF2B5EF4-FFF2-40B4-BE49-F238E27FC236}">
                  <a16:creationId xmlns:a16="http://schemas.microsoft.com/office/drawing/2014/main" id="{C00CAA47-7E47-528E-BDEE-DC1D92548AA7}"/>
                </a:ext>
              </a:extLst>
            </p:cNvPr>
            <p:cNvPicPr>
              <a:picLocks noChangeAspect="1"/>
            </p:cNvPicPr>
            <p:nvPr/>
          </p:nvPicPr>
          <p:blipFill rotWithShape="1">
            <a:blip r:embed="rId2"/>
            <a:srcRect t="20805" r="54098" b="18883"/>
            <a:stretch/>
          </p:blipFill>
          <p:spPr>
            <a:xfrm>
              <a:off x="1895006" y="1839415"/>
              <a:ext cx="1316855" cy="1730253"/>
            </a:xfrm>
            <a:prstGeom prst="rect">
              <a:avLst/>
            </a:prstGeom>
          </p:spPr>
        </p:pic>
        <p:pic>
          <p:nvPicPr>
            <p:cNvPr id="12" name="Picture 11" descr="A black background with red and blue text&#10;&#10;Description automatically generated">
              <a:extLst>
                <a:ext uri="{FF2B5EF4-FFF2-40B4-BE49-F238E27FC236}">
                  <a16:creationId xmlns:a16="http://schemas.microsoft.com/office/drawing/2014/main" id="{49F99CC2-94D4-FA44-7883-797CD4E2F0BB}"/>
                </a:ext>
              </a:extLst>
            </p:cNvPr>
            <p:cNvPicPr>
              <a:picLocks noChangeAspect="1"/>
            </p:cNvPicPr>
            <p:nvPr/>
          </p:nvPicPr>
          <p:blipFill rotWithShape="1">
            <a:blip r:embed="rId2"/>
            <a:srcRect l="50293" t="14344" b="16744"/>
            <a:stretch/>
          </p:blipFill>
          <p:spPr>
            <a:xfrm>
              <a:off x="5580112" y="1726680"/>
              <a:ext cx="1426010" cy="1976966"/>
            </a:xfrm>
            <a:prstGeom prst="rect">
              <a:avLst/>
            </a:prstGeom>
          </p:spPr>
        </p:pic>
        <p:cxnSp>
          <p:nvCxnSpPr>
            <p:cNvPr id="13" name="Straight Arrow Connector 12">
              <a:extLst>
                <a:ext uri="{FF2B5EF4-FFF2-40B4-BE49-F238E27FC236}">
                  <a16:creationId xmlns:a16="http://schemas.microsoft.com/office/drawing/2014/main" id="{BE8F54E2-926E-0D62-5E5F-D3754015A15D}"/>
                </a:ext>
              </a:extLst>
            </p:cNvPr>
            <p:cNvCxnSpPr>
              <a:cxnSpLocks/>
              <a:stCxn id="11" idx="3"/>
              <a:endCxn id="12" idx="1"/>
            </p:cNvCxnSpPr>
            <p:nvPr/>
          </p:nvCxnSpPr>
          <p:spPr>
            <a:xfrm>
              <a:off x="3211861" y="2704542"/>
              <a:ext cx="2368251" cy="1062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0E90628-A9E2-7335-777E-A4EF8BB072F6}"/>
                </a:ext>
              </a:extLst>
            </p:cNvPr>
            <p:cNvSpPr txBox="1"/>
            <p:nvPr/>
          </p:nvSpPr>
          <p:spPr>
            <a:xfrm>
              <a:off x="3871126" y="2277290"/>
              <a:ext cx="1007007"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MeNH</a:t>
              </a:r>
              <a:r>
                <a:rPr lang="en-GB" baseline="-25000" dirty="0">
                  <a:solidFill>
                    <a:schemeClr val="tx1"/>
                  </a:solidFill>
                  <a:latin typeface="Arial" panose="020B0604020202020204" pitchFamily="34" charset="0"/>
                  <a:cs typeface="Arial" panose="020B0604020202020204" pitchFamily="34" charset="0"/>
                </a:rPr>
                <a:t>2</a:t>
              </a:r>
            </a:p>
          </p:txBody>
        </p:sp>
        <p:sp>
          <p:nvSpPr>
            <p:cNvPr id="15" name="TextBox 14">
              <a:extLst>
                <a:ext uri="{FF2B5EF4-FFF2-40B4-BE49-F238E27FC236}">
                  <a16:creationId xmlns:a16="http://schemas.microsoft.com/office/drawing/2014/main" id="{3C5A001A-BA43-CEC1-4EDF-DE3322538120}"/>
                </a:ext>
              </a:extLst>
            </p:cNvPr>
            <p:cNvSpPr txBox="1"/>
            <p:nvPr/>
          </p:nvSpPr>
          <p:spPr>
            <a:xfrm>
              <a:off x="3472428" y="2773083"/>
              <a:ext cx="1887055"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H</a:t>
              </a:r>
              <a:r>
                <a:rPr lang="en-GB" baseline="-25000" dirty="0">
                  <a:solidFill>
                    <a:schemeClr val="tx1"/>
                  </a:solidFill>
                  <a:latin typeface="Arial" panose="020B0604020202020204" pitchFamily="34" charset="0"/>
                  <a:cs typeface="Arial" panose="020B0604020202020204" pitchFamily="34" charset="0"/>
                </a:rPr>
                <a:t>2</a:t>
              </a:r>
              <a:r>
                <a:rPr lang="en-GB" dirty="0">
                  <a:solidFill>
                    <a:schemeClr val="tx1"/>
                  </a:solidFill>
                  <a:latin typeface="Arial" panose="020B0604020202020204" pitchFamily="34" charset="0"/>
                  <a:cs typeface="Arial" panose="020B0604020202020204" pitchFamily="34" charset="0"/>
                </a:rPr>
                <a:t> (Pt catalyst)</a:t>
              </a:r>
            </a:p>
          </p:txBody>
        </p:sp>
        <p:sp>
          <p:nvSpPr>
            <p:cNvPr id="16" name="TextBox 15">
              <a:extLst>
                <a:ext uri="{FF2B5EF4-FFF2-40B4-BE49-F238E27FC236}">
                  <a16:creationId xmlns:a16="http://schemas.microsoft.com/office/drawing/2014/main" id="{756C8946-E78C-07E6-B877-1E9560C1019A}"/>
                </a:ext>
              </a:extLst>
            </p:cNvPr>
            <p:cNvSpPr txBox="1"/>
            <p:nvPr/>
          </p:nvSpPr>
          <p:spPr>
            <a:xfrm>
              <a:off x="1415589" y="3612380"/>
              <a:ext cx="2510624" cy="400110"/>
            </a:xfrm>
            <a:prstGeom prst="rect">
              <a:avLst/>
            </a:prstGeom>
            <a:noFill/>
          </p:spPr>
          <p:txBody>
            <a:bodyPr wrap="none" rtlCol="0">
              <a:spAutoFit/>
            </a:bodyPr>
            <a:lstStyle/>
            <a:p>
              <a:r>
                <a:rPr lang="en-GB" dirty="0" err="1">
                  <a:solidFill>
                    <a:schemeClr val="tx1"/>
                  </a:solidFill>
                  <a:latin typeface="Arial" panose="020B0604020202020204" pitchFamily="34" charset="0"/>
                  <a:cs typeface="Arial" panose="020B0604020202020204" pitchFamily="34" charset="0"/>
                </a:rPr>
                <a:t>phenylacetylcarbinol</a:t>
              </a:r>
              <a:endParaRPr lang="en-GB" dirty="0">
                <a:solidFill>
                  <a:schemeClr val="tx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D20088E-790F-FD62-72B2-F05E9E0FD92D}"/>
                </a:ext>
              </a:extLst>
            </p:cNvPr>
            <p:cNvSpPr txBox="1"/>
            <p:nvPr/>
          </p:nvSpPr>
          <p:spPr>
            <a:xfrm>
              <a:off x="5695838" y="3612380"/>
              <a:ext cx="1374094"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ephedrine</a:t>
              </a:r>
            </a:p>
          </p:txBody>
        </p:sp>
      </p:grpSp>
    </p:spTree>
    <p:extLst>
      <p:ext uri="{BB962C8B-B14F-4D97-AF65-F5344CB8AC3E}">
        <p14:creationId xmlns:p14="http://schemas.microsoft.com/office/powerpoint/2010/main" val="794227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4A3211-1C7E-A9C6-9561-019C6B66AAF3}"/>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A5D9A7C3-39DE-9C27-F71C-954F74F4BB10}"/>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55E6211-262E-788F-F48E-E3AE3F391C0B}"/>
              </a:ext>
            </a:extLst>
          </p:cNvPr>
          <p:cNvSpPr txBox="1"/>
          <p:nvPr/>
        </p:nvSpPr>
        <p:spPr>
          <a:xfrm>
            <a:off x="0" y="548680"/>
            <a:ext cx="9144000" cy="461665"/>
          </a:xfrm>
          <a:prstGeom prst="rect">
            <a:avLst/>
          </a:prstGeom>
          <a:noFill/>
        </p:spPr>
        <p:txBody>
          <a:bodyPr wrap="square" rtlCol="0">
            <a:spAutoFit/>
          </a:bodyPr>
          <a:lstStyle/>
          <a:p>
            <a:pPr marL="457200" indent="-457200">
              <a:buFont typeface="+mj-lt"/>
              <a:buAutoNum type="arabicPeriod" startAt="7"/>
            </a:pPr>
            <a:r>
              <a:rPr lang="en-US" sz="2400" b="1" dirty="0">
                <a:solidFill>
                  <a:srgbClr val="0070C0"/>
                </a:solidFill>
                <a:latin typeface="Arial" pitchFamily="34" charset="0"/>
                <a:cs typeface="Arial" pitchFamily="34" charset="0"/>
              </a:rPr>
              <a:t>(b) Calculate the atom economy of the reaction.</a:t>
            </a:r>
          </a:p>
        </p:txBody>
      </p:sp>
      <p:grpSp>
        <p:nvGrpSpPr>
          <p:cNvPr id="10" name="Group 9">
            <a:extLst>
              <a:ext uri="{FF2B5EF4-FFF2-40B4-BE49-F238E27FC236}">
                <a16:creationId xmlns:a16="http://schemas.microsoft.com/office/drawing/2014/main" id="{ED62B955-9215-3911-436A-AFBEC6C5BA59}"/>
              </a:ext>
            </a:extLst>
          </p:cNvPr>
          <p:cNvGrpSpPr/>
          <p:nvPr/>
        </p:nvGrpSpPr>
        <p:grpSpPr>
          <a:xfrm>
            <a:off x="1744828" y="1749009"/>
            <a:ext cx="5654343" cy="2285810"/>
            <a:chOff x="1415589" y="1726680"/>
            <a:chExt cx="5654343" cy="2285810"/>
          </a:xfrm>
        </p:grpSpPr>
        <p:pic>
          <p:nvPicPr>
            <p:cNvPr id="11" name="Picture 10" descr="A black background with red and blue text&#10;&#10;Description automatically generated">
              <a:extLst>
                <a:ext uri="{FF2B5EF4-FFF2-40B4-BE49-F238E27FC236}">
                  <a16:creationId xmlns:a16="http://schemas.microsoft.com/office/drawing/2014/main" id="{258C1400-A8A7-C68E-ED56-E1017E5CC122}"/>
                </a:ext>
              </a:extLst>
            </p:cNvPr>
            <p:cNvPicPr>
              <a:picLocks noChangeAspect="1"/>
            </p:cNvPicPr>
            <p:nvPr/>
          </p:nvPicPr>
          <p:blipFill rotWithShape="1">
            <a:blip r:embed="rId2"/>
            <a:srcRect t="20805" r="54098" b="18883"/>
            <a:stretch/>
          </p:blipFill>
          <p:spPr>
            <a:xfrm>
              <a:off x="1895006" y="1839415"/>
              <a:ext cx="1316855" cy="1730253"/>
            </a:xfrm>
            <a:prstGeom prst="rect">
              <a:avLst/>
            </a:prstGeom>
          </p:spPr>
        </p:pic>
        <p:pic>
          <p:nvPicPr>
            <p:cNvPr id="12" name="Picture 11" descr="A black background with red and blue text&#10;&#10;Description automatically generated">
              <a:extLst>
                <a:ext uri="{FF2B5EF4-FFF2-40B4-BE49-F238E27FC236}">
                  <a16:creationId xmlns:a16="http://schemas.microsoft.com/office/drawing/2014/main" id="{7F34F40A-E705-EA8F-B5D8-451119115B1C}"/>
                </a:ext>
              </a:extLst>
            </p:cNvPr>
            <p:cNvPicPr>
              <a:picLocks noChangeAspect="1"/>
            </p:cNvPicPr>
            <p:nvPr/>
          </p:nvPicPr>
          <p:blipFill rotWithShape="1">
            <a:blip r:embed="rId2"/>
            <a:srcRect l="50293" t="14344" b="16744"/>
            <a:stretch/>
          </p:blipFill>
          <p:spPr>
            <a:xfrm>
              <a:off x="5580112" y="1726680"/>
              <a:ext cx="1426010" cy="1976966"/>
            </a:xfrm>
            <a:prstGeom prst="rect">
              <a:avLst/>
            </a:prstGeom>
          </p:spPr>
        </p:pic>
        <p:cxnSp>
          <p:nvCxnSpPr>
            <p:cNvPr id="13" name="Straight Arrow Connector 12">
              <a:extLst>
                <a:ext uri="{FF2B5EF4-FFF2-40B4-BE49-F238E27FC236}">
                  <a16:creationId xmlns:a16="http://schemas.microsoft.com/office/drawing/2014/main" id="{3FC1A678-3059-123B-DCE2-857622E9FF48}"/>
                </a:ext>
              </a:extLst>
            </p:cNvPr>
            <p:cNvCxnSpPr>
              <a:cxnSpLocks/>
              <a:stCxn id="11" idx="3"/>
              <a:endCxn id="12" idx="1"/>
            </p:cNvCxnSpPr>
            <p:nvPr/>
          </p:nvCxnSpPr>
          <p:spPr>
            <a:xfrm>
              <a:off x="3211861" y="2704542"/>
              <a:ext cx="2368251" cy="1062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ABB5D80-B576-E8E1-2D55-44B5EC4BFD37}"/>
                </a:ext>
              </a:extLst>
            </p:cNvPr>
            <p:cNvSpPr txBox="1"/>
            <p:nvPr/>
          </p:nvSpPr>
          <p:spPr>
            <a:xfrm>
              <a:off x="3871126" y="2277290"/>
              <a:ext cx="1007007"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MeNH</a:t>
              </a:r>
              <a:r>
                <a:rPr lang="en-GB" baseline="-25000" dirty="0">
                  <a:solidFill>
                    <a:schemeClr val="tx1"/>
                  </a:solidFill>
                  <a:latin typeface="Arial" panose="020B0604020202020204" pitchFamily="34" charset="0"/>
                  <a:cs typeface="Arial" panose="020B0604020202020204" pitchFamily="34" charset="0"/>
                </a:rPr>
                <a:t>2</a:t>
              </a:r>
            </a:p>
          </p:txBody>
        </p:sp>
        <p:sp>
          <p:nvSpPr>
            <p:cNvPr id="15" name="TextBox 14">
              <a:extLst>
                <a:ext uri="{FF2B5EF4-FFF2-40B4-BE49-F238E27FC236}">
                  <a16:creationId xmlns:a16="http://schemas.microsoft.com/office/drawing/2014/main" id="{7EDE8208-39EB-3725-EE9C-B7EE45CBB571}"/>
                </a:ext>
              </a:extLst>
            </p:cNvPr>
            <p:cNvSpPr txBox="1"/>
            <p:nvPr/>
          </p:nvSpPr>
          <p:spPr>
            <a:xfrm>
              <a:off x="3472428" y="2773083"/>
              <a:ext cx="1887055"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H</a:t>
              </a:r>
              <a:r>
                <a:rPr lang="en-GB" baseline="-25000" dirty="0">
                  <a:solidFill>
                    <a:schemeClr val="tx1"/>
                  </a:solidFill>
                  <a:latin typeface="Arial" panose="020B0604020202020204" pitchFamily="34" charset="0"/>
                  <a:cs typeface="Arial" panose="020B0604020202020204" pitchFamily="34" charset="0"/>
                </a:rPr>
                <a:t>2</a:t>
              </a:r>
              <a:r>
                <a:rPr lang="en-GB" dirty="0">
                  <a:solidFill>
                    <a:schemeClr val="tx1"/>
                  </a:solidFill>
                  <a:latin typeface="Arial" panose="020B0604020202020204" pitchFamily="34" charset="0"/>
                  <a:cs typeface="Arial" panose="020B0604020202020204" pitchFamily="34" charset="0"/>
                </a:rPr>
                <a:t> (Pt catalyst)</a:t>
              </a:r>
            </a:p>
          </p:txBody>
        </p:sp>
        <p:sp>
          <p:nvSpPr>
            <p:cNvPr id="16" name="TextBox 15">
              <a:extLst>
                <a:ext uri="{FF2B5EF4-FFF2-40B4-BE49-F238E27FC236}">
                  <a16:creationId xmlns:a16="http://schemas.microsoft.com/office/drawing/2014/main" id="{49A36007-2E99-8313-1F16-335E9095CCF9}"/>
                </a:ext>
              </a:extLst>
            </p:cNvPr>
            <p:cNvSpPr txBox="1"/>
            <p:nvPr/>
          </p:nvSpPr>
          <p:spPr>
            <a:xfrm>
              <a:off x="1415589" y="3612380"/>
              <a:ext cx="2510624" cy="400110"/>
            </a:xfrm>
            <a:prstGeom prst="rect">
              <a:avLst/>
            </a:prstGeom>
            <a:noFill/>
          </p:spPr>
          <p:txBody>
            <a:bodyPr wrap="none" rtlCol="0">
              <a:spAutoFit/>
            </a:bodyPr>
            <a:lstStyle/>
            <a:p>
              <a:r>
                <a:rPr lang="en-GB" dirty="0" err="1">
                  <a:solidFill>
                    <a:schemeClr val="tx1"/>
                  </a:solidFill>
                  <a:latin typeface="Arial" panose="020B0604020202020204" pitchFamily="34" charset="0"/>
                  <a:cs typeface="Arial" panose="020B0604020202020204" pitchFamily="34" charset="0"/>
                </a:rPr>
                <a:t>phenylacetylcarbinol</a:t>
              </a:r>
              <a:endParaRPr lang="en-GB" dirty="0">
                <a:solidFill>
                  <a:schemeClr val="tx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84D344FC-A4C3-6A24-1067-4D99C34188BF}"/>
                </a:ext>
              </a:extLst>
            </p:cNvPr>
            <p:cNvSpPr txBox="1"/>
            <p:nvPr/>
          </p:nvSpPr>
          <p:spPr>
            <a:xfrm>
              <a:off x="5695838" y="3612380"/>
              <a:ext cx="1374094" cy="400110"/>
            </a:xfrm>
            <a:prstGeom prst="rect">
              <a:avLst/>
            </a:prstGeom>
            <a:noFill/>
          </p:spPr>
          <p:txBody>
            <a:bodyPr wrap="none" rtlCol="0">
              <a:spAutoFit/>
            </a:bodyPr>
            <a:lstStyle/>
            <a:p>
              <a:r>
                <a:rPr lang="en-GB" dirty="0">
                  <a:solidFill>
                    <a:schemeClr val="tx1"/>
                  </a:solidFill>
                  <a:latin typeface="Arial" panose="020B0604020202020204" pitchFamily="34" charset="0"/>
                  <a:cs typeface="Arial" panose="020B0604020202020204" pitchFamily="34" charset="0"/>
                </a:rPr>
                <a:t>ephedrine</a:t>
              </a:r>
            </a:p>
          </p:txBody>
        </p:sp>
      </p:grpSp>
    </p:spTree>
    <p:extLst>
      <p:ext uri="{BB962C8B-B14F-4D97-AF65-F5344CB8AC3E}">
        <p14:creationId xmlns:p14="http://schemas.microsoft.com/office/powerpoint/2010/main" val="1793241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4DADF7-15F4-E46A-9DD3-DDC1B5624D02}"/>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65151402-0FD6-EFB0-D0AB-91EC7FFF2AF6}"/>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D742B09-7C85-A589-1CF5-926C527942AF}"/>
              </a:ext>
            </a:extLst>
          </p:cNvPr>
          <p:cNvSpPr txBox="1"/>
          <p:nvPr/>
        </p:nvSpPr>
        <p:spPr>
          <a:xfrm>
            <a:off x="0" y="548680"/>
            <a:ext cx="9144000" cy="3046988"/>
          </a:xfrm>
          <a:prstGeom prst="rect">
            <a:avLst/>
          </a:prstGeom>
          <a:noFill/>
        </p:spPr>
        <p:txBody>
          <a:bodyPr wrap="square" rtlCol="0">
            <a:spAutoFit/>
          </a:bodyPr>
          <a:lstStyle/>
          <a:p>
            <a:pPr marL="457200" indent="-457200">
              <a:buFont typeface="+mj-lt"/>
              <a:buAutoNum type="arabicPeriod" startAt="8"/>
            </a:pPr>
            <a:r>
              <a:rPr lang="en-US" sz="2400" b="1" dirty="0">
                <a:solidFill>
                  <a:srgbClr val="0070C0"/>
                </a:solidFill>
                <a:latin typeface="Arial" pitchFamily="34" charset="0"/>
                <a:cs typeface="Arial" pitchFamily="34" charset="0"/>
              </a:rPr>
              <a:t>A 150 mg vial of acetylcholine chloride (molecular formula C</a:t>
            </a:r>
            <a:r>
              <a:rPr lang="en-US" sz="2400" b="1" baseline="-25000" dirty="0">
                <a:solidFill>
                  <a:srgbClr val="0070C0"/>
                </a:solidFill>
                <a:latin typeface="Arial" pitchFamily="34" charset="0"/>
                <a:cs typeface="Arial" pitchFamily="34" charset="0"/>
              </a:rPr>
              <a:t>7</a:t>
            </a:r>
            <a:r>
              <a:rPr lang="en-US" sz="2400" b="1" dirty="0">
                <a:solidFill>
                  <a:srgbClr val="0070C0"/>
                </a:solidFill>
                <a:latin typeface="Arial" pitchFamily="34" charset="0"/>
                <a:cs typeface="Arial" pitchFamily="34" charset="0"/>
              </a:rPr>
              <a:t>H</a:t>
            </a:r>
            <a:r>
              <a:rPr lang="en-US" sz="2400" b="1" baseline="-25000" dirty="0">
                <a:solidFill>
                  <a:srgbClr val="0070C0"/>
                </a:solidFill>
                <a:latin typeface="Arial" pitchFamily="34" charset="0"/>
                <a:cs typeface="Arial" pitchFamily="34" charset="0"/>
              </a:rPr>
              <a:t>16</a:t>
            </a:r>
            <a:r>
              <a:rPr lang="en-US" sz="2400" b="1" dirty="0">
                <a:solidFill>
                  <a:srgbClr val="0070C0"/>
                </a:solidFill>
                <a:latin typeface="Arial" pitchFamily="34" charset="0"/>
                <a:cs typeface="Arial" pitchFamily="34" charset="0"/>
              </a:rPr>
              <a:t>ClNO</a:t>
            </a:r>
            <a:r>
              <a:rPr lang="en-US" sz="2400" b="1" baseline="-25000" dirty="0">
                <a:solidFill>
                  <a:srgbClr val="0070C0"/>
                </a:solidFill>
                <a:latin typeface="Arial" pitchFamily="34" charset="0"/>
                <a:cs typeface="Arial" pitchFamily="34" charset="0"/>
              </a:rPr>
              <a:t>2</a:t>
            </a:r>
            <a:r>
              <a:rPr lang="en-US" sz="2400" b="1" dirty="0">
                <a:solidFill>
                  <a:srgbClr val="0070C0"/>
                </a:solidFill>
                <a:latin typeface="Arial" pitchFamily="34" charset="0"/>
                <a:cs typeface="Arial" pitchFamily="34" charset="0"/>
              </a:rPr>
              <a:t>) is specified with a purity of &gt;98%. Acetylcholine chloride is a strong base and is determined by back-titration with hydrochloric acid. A primary standard of 0.02 M sodium carbonate solution is provided, together with a solution of approximately 0.03 M hydrochloric acid.</a:t>
            </a:r>
            <a:br>
              <a:rPr lang="en-US" sz="2400" b="1" dirty="0">
                <a:solidFill>
                  <a:srgbClr val="0070C0"/>
                </a:solidFill>
                <a:latin typeface="Arial" pitchFamily="34" charset="0"/>
                <a:cs typeface="Arial" pitchFamily="34" charset="0"/>
              </a:rPr>
            </a:b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4240650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C715A6-7FFD-5779-2EC4-D2F5F849ECE6}"/>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6453FF8C-8FD8-19E2-F49C-2BB11DB96689}"/>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67C46C4-F4F0-DC7F-0776-0C95A8B92C0D}"/>
              </a:ext>
            </a:extLst>
          </p:cNvPr>
          <p:cNvSpPr txBox="1"/>
          <p:nvPr/>
        </p:nvSpPr>
        <p:spPr>
          <a:xfrm>
            <a:off x="0" y="548680"/>
            <a:ext cx="9144000" cy="4524315"/>
          </a:xfrm>
          <a:prstGeom prst="rect">
            <a:avLst/>
          </a:prstGeom>
          <a:noFill/>
        </p:spPr>
        <p:txBody>
          <a:bodyPr wrap="square" rtlCol="0">
            <a:spAutoFit/>
          </a:bodyPr>
          <a:lstStyle/>
          <a:p>
            <a:pPr marL="457200" indent="-457200">
              <a:buFont typeface="+mj-lt"/>
              <a:buAutoNum type="arabicPeriod" startAt="8"/>
            </a:pPr>
            <a:r>
              <a:rPr lang="en-US" sz="2400" b="1" dirty="0">
                <a:solidFill>
                  <a:srgbClr val="0070C0"/>
                </a:solidFill>
                <a:latin typeface="Arial" pitchFamily="34" charset="0"/>
                <a:cs typeface="Arial" pitchFamily="34" charset="0"/>
              </a:rPr>
              <a:t>A 150 mg vial of acetylcholine chloride (molecular formula C</a:t>
            </a:r>
            <a:r>
              <a:rPr lang="en-US" sz="2400" b="1" baseline="-25000" dirty="0">
                <a:solidFill>
                  <a:srgbClr val="0070C0"/>
                </a:solidFill>
                <a:latin typeface="Arial" pitchFamily="34" charset="0"/>
                <a:cs typeface="Arial" pitchFamily="34" charset="0"/>
              </a:rPr>
              <a:t>7</a:t>
            </a:r>
            <a:r>
              <a:rPr lang="en-US" sz="2400" b="1" dirty="0">
                <a:solidFill>
                  <a:srgbClr val="0070C0"/>
                </a:solidFill>
                <a:latin typeface="Arial" pitchFamily="34" charset="0"/>
                <a:cs typeface="Arial" pitchFamily="34" charset="0"/>
              </a:rPr>
              <a:t>H</a:t>
            </a:r>
            <a:r>
              <a:rPr lang="en-US" sz="2400" b="1" baseline="-25000" dirty="0">
                <a:solidFill>
                  <a:srgbClr val="0070C0"/>
                </a:solidFill>
                <a:latin typeface="Arial" pitchFamily="34" charset="0"/>
                <a:cs typeface="Arial" pitchFamily="34" charset="0"/>
              </a:rPr>
              <a:t>16</a:t>
            </a:r>
            <a:r>
              <a:rPr lang="en-US" sz="2400" b="1" dirty="0">
                <a:solidFill>
                  <a:srgbClr val="0070C0"/>
                </a:solidFill>
                <a:latin typeface="Arial" pitchFamily="34" charset="0"/>
                <a:cs typeface="Arial" pitchFamily="34" charset="0"/>
              </a:rPr>
              <a:t>ClNO</a:t>
            </a:r>
            <a:r>
              <a:rPr lang="en-US" sz="2400" b="1" baseline="-25000" dirty="0">
                <a:solidFill>
                  <a:srgbClr val="0070C0"/>
                </a:solidFill>
                <a:latin typeface="Arial" pitchFamily="34" charset="0"/>
                <a:cs typeface="Arial" pitchFamily="34" charset="0"/>
              </a:rPr>
              <a:t>2</a:t>
            </a:r>
            <a:r>
              <a:rPr lang="en-US" sz="2400" b="1" dirty="0">
                <a:solidFill>
                  <a:srgbClr val="0070C0"/>
                </a:solidFill>
                <a:latin typeface="Arial" pitchFamily="34" charset="0"/>
                <a:cs typeface="Arial" pitchFamily="34" charset="0"/>
              </a:rPr>
              <a:t>) is specified with a purity of &gt;98%. Acetylcholine chloride is a strong base and is determined by back-titration with hydrochloric acid. A primary standard of 0.02 M sodium carbonate solution is provided, together with a solution of approximately 0.03 M hydrochloric acid.</a:t>
            </a:r>
            <a:br>
              <a:rPr lang="en-US" sz="2400" b="1" dirty="0">
                <a:solidFill>
                  <a:srgbClr val="0070C0"/>
                </a:solidFill>
                <a:latin typeface="Arial" pitchFamily="34" charset="0"/>
                <a:cs typeface="Arial" pitchFamily="34" charset="0"/>
              </a:rPr>
            </a:b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(a) 50.0 mL of acid was titrated with the sodium carbonate solution, and 36.0 mL was required to reach the equivalence point. Calculate the precise concentration of the acid.</a:t>
            </a: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3382726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6AF346-E971-D5C1-AB1B-8577CDE355C6}"/>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8A200546-A8F4-71F8-EDB7-36B1B07ECC0C}"/>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1FA38F1-F5B3-0D92-BEFF-AACE6A4D06A7}"/>
              </a:ext>
            </a:extLst>
          </p:cNvPr>
          <p:cNvSpPr txBox="1"/>
          <p:nvPr/>
        </p:nvSpPr>
        <p:spPr>
          <a:xfrm>
            <a:off x="0" y="548680"/>
            <a:ext cx="9144000" cy="2308324"/>
          </a:xfrm>
          <a:prstGeom prst="rect">
            <a:avLst/>
          </a:prstGeom>
          <a:noFill/>
        </p:spPr>
        <p:txBody>
          <a:bodyPr wrap="square" rtlCol="0">
            <a:spAutoFit/>
          </a:bodyPr>
          <a:lstStyle/>
          <a:p>
            <a:pPr marL="457200" indent="-457200">
              <a:buFont typeface="+mj-lt"/>
              <a:buAutoNum type="arabicPeriod" startAt="8"/>
            </a:pPr>
            <a:r>
              <a:rPr lang="en-US" sz="2400" b="1" dirty="0">
                <a:solidFill>
                  <a:srgbClr val="0070C0"/>
                </a:solidFill>
                <a:latin typeface="Arial" pitchFamily="34" charset="0"/>
                <a:cs typeface="Arial" pitchFamily="34" charset="0"/>
              </a:rPr>
              <a:t>36.0 mL of primary standard: 0.02 M sodium carbonate</a:t>
            </a: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50.0 mL of ~0.03 M hydrochloric acid</a:t>
            </a:r>
            <a:br>
              <a:rPr lang="en-US" sz="2400" b="1" dirty="0">
                <a:solidFill>
                  <a:srgbClr val="0070C0"/>
                </a:solidFill>
                <a:latin typeface="Arial" pitchFamily="34" charset="0"/>
                <a:cs typeface="Arial" pitchFamily="34" charset="0"/>
              </a:rPr>
            </a:b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Calculate precise concentration of HCl</a:t>
            </a:r>
            <a:br>
              <a:rPr lang="en-US" sz="2400" b="1" dirty="0">
                <a:solidFill>
                  <a:srgbClr val="0070C0"/>
                </a:solidFill>
                <a:latin typeface="Arial" pitchFamily="34" charset="0"/>
                <a:cs typeface="Arial" pitchFamily="34" charset="0"/>
              </a:rPr>
            </a:b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___ Na</a:t>
            </a:r>
            <a:r>
              <a:rPr lang="en-US" sz="2400" b="1" baseline="-25000" dirty="0">
                <a:solidFill>
                  <a:srgbClr val="0070C0"/>
                </a:solidFill>
                <a:latin typeface="Arial" pitchFamily="34" charset="0"/>
                <a:cs typeface="Arial" pitchFamily="34" charset="0"/>
              </a:rPr>
              <a:t>2</a:t>
            </a:r>
            <a:r>
              <a:rPr lang="en-US" sz="2400" b="1" dirty="0">
                <a:solidFill>
                  <a:srgbClr val="0070C0"/>
                </a:solidFill>
                <a:latin typeface="Arial" pitchFamily="34" charset="0"/>
                <a:cs typeface="Arial" pitchFamily="34" charset="0"/>
              </a:rPr>
              <a:t>CO</a:t>
            </a:r>
            <a:r>
              <a:rPr lang="en-US" sz="2400" b="1" baseline="-25000" dirty="0">
                <a:solidFill>
                  <a:srgbClr val="0070C0"/>
                </a:solidFill>
                <a:latin typeface="Arial" pitchFamily="34" charset="0"/>
                <a:cs typeface="Arial" pitchFamily="34" charset="0"/>
              </a:rPr>
              <a:t>3</a:t>
            </a:r>
            <a:r>
              <a:rPr lang="en-US" sz="2400" b="1" dirty="0">
                <a:solidFill>
                  <a:srgbClr val="0070C0"/>
                </a:solidFill>
                <a:latin typeface="Arial" pitchFamily="34" charset="0"/>
                <a:cs typeface="Arial" pitchFamily="34" charset="0"/>
              </a:rPr>
              <a:t> +  ___  HCl </a:t>
            </a:r>
            <a:r>
              <a:rPr lang="en-US" sz="2400" b="1" dirty="0">
                <a:solidFill>
                  <a:srgbClr val="0070C0"/>
                </a:solidFill>
                <a:latin typeface="Arial" pitchFamily="34" charset="0"/>
                <a:cs typeface="Arial" pitchFamily="34" charset="0"/>
                <a:sym typeface="Wingdings" pitchFamily="2" charset="2"/>
              </a:rPr>
              <a:t> ___ NaCl + ___ CO</a:t>
            </a:r>
            <a:r>
              <a:rPr lang="en-US" sz="2400" b="1" baseline="-25000" dirty="0">
                <a:solidFill>
                  <a:srgbClr val="0070C0"/>
                </a:solidFill>
                <a:latin typeface="Arial" pitchFamily="34" charset="0"/>
                <a:cs typeface="Arial" pitchFamily="34" charset="0"/>
                <a:sym typeface="Wingdings" pitchFamily="2" charset="2"/>
              </a:rPr>
              <a:t>2</a:t>
            </a:r>
            <a:r>
              <a:rPr lang="en-US" sz="2400" b="1" dirty="0">
                <a:solidFill>
                  <a:srgbClr val="0070C0"/>
                </a:solidFill>
                <a:latin typeface="Arial" pitchFamily="34" charset="0"/>
                <a:cs typeface="Arial" pitchFamily="34" charset="0"/>
                <a:sym typeface="Wingdings" pitchFamily="2" charset="2"/>
              </a:rPr>
              <a:t> + ___ H</a:t>
            </a:r>
            <a:r>
              <a:rPr lang="en-US" sz="2400" b="1" baseline="-25000" dirty="0">
                <a:solidFill>
                  <a:srgbClr val="0070C0"/>
                </a:solidFill>
                <a:latin typeface="Arial" pitchFamily="34" charset="0"/>
                <a:cs typeface="Arial" pitchFamily="34" charset="0"/>
                <a:sym typeface="Wingdings" pitchFamily="2" charset="2"/>
              </a:rPr>
              <a:t>2</a:t>
            </a:r>
            <a:r>
              <a:rPr lang="en-US" sz="2400" b="1" dirty="0">
                <a:solidFill>
                  <a:srgbClr val="0070C0"/>
                </a:solidFill>
                <a:latin typeface="Arial" pitchFamily="34" charset="0"/>
                <a:cs typeface="Arial" pitchFamily="34" charset="0"/>
                <a:sym typeface="Wingdings" pitchFamily="2" charset="2"/>
              </a:rPr>
              <a:t>O</a:t>
            </a: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3730477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813A62-C25F-39A0-CB2F-A87283B1E9EE}"/>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5C9EBFB6-3BEE-6634-24D2-30673FDA4C72}"/>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FE9363B-BBDC-B337-D9EA-1CF842A51E07}"/>
              </a:ext>
            </a:extLst>
          </p:cNvPr>
          <p:cNvSpPr txBox="1"/>
          <p:nvPr/>
        </p:nvSpPr>
        <p:spPr>
          <a:xfrm>
            <a:off x="0" y="548680"/>
            <a:ext cx="9144000" cy="4524315"/>
          </a:xfrm>
          <a:prstGeom prst="rect">
            <a:avLst/>
          </a:prstGeom>
          <a:noFill/>
        </p:spPr>
        <p:txBody>
          <a:bodyPr wrap="square" rtlCol="0">
            <a:spAutoFit/>
          </a:bodyPr>
          <a:lstStyle/>
          <a:p>
            <a:pPr marL="457200" indent="-457200">
              <a:buFont typeface="+mj-lt"/>
              <a:buAutoNum type="arabicPeriod" startAt="8"/>
            </a:pPr>
            <a:r>
              <a:rPr lang="en-US" sz="2400" b="1" dirty="0">
                <a:solidFill>
                  <a:srgbClr val="0070C0"/>
                </a:solidFill>
                <a:latin typeface="Arial" pitchFamily="34" charset="0"/>
                <a:cs typeface="Arial" pitchFamily="34" charset="0"/>
              </a:rPr>
              <a:t>A 150 mg vial of acetylcholine chloride (molecular formula C</a:t>
            </a:r>
            <a:r>
              <a:rPr lang="en-US" sz="2400" b="1" baseline="-25000" dirty="0">
                <a:solidFill>
                  <a:srgbClr val="0070C0"/>
                </a:solidFill>
                <a:latin typeface="Arial" pitchFamily="34" charset="0"/>
                <a:cs typeface="Arial" pitchFamily="34" charset="0"/>
              </a:rPr>
              <a:t>7</a:t>
            </a:r>
            <a:r>
              <a:rPr lang="en-US" sz="2400" b="1" dirty="0">
                <a:solidFill>
                  <a:srgbClr val="0070C0"/>
                </a:solidFill>
                <a:latin typeface="Arial" pitchFamily="34" charset="0"/>
                <a:cs typeface="Arial" pitchFamily="34" charset="0"/>
              </a:rPr>
              <a:t>H</a:t>
            </a:r>
            <a:r>
              <a:rPr lang="en-US" sz="2400" b="1" baseline="-25000" dirty="0">
                <a:solidFill>
                  <a:srgbClr val="0070C0"/>
                </a:solidFill>
                <a:latin typeface="Arial" pitchFamily="34" charset="0"/>
                <a:cs typeface="Arial" pitchFamily="34" charset="0"/>
              </a:rPr>
              <a:t>16</a:t>
            </a:r>
            <a:r>
              <a:rPr lang="en-US" sz="2400" b="1" dirty="0">
                <a:solidFill>
                  <a:srgbClr val="0070C0"/>
                </a:solidFill>
                <a:latin typeface="Arial" pitchFamily="34" charset="0"/>
                <a:cs typeface="Arial" pitchFamily="34" charset="0"/>
              </a:rPr>
              <a:t>ClNO</a:t>
            </a:r>
            <a:r>
              <a:rPr lang="en-US" sz="2400" b="1" baseline="-25000" dirty="0">
                <a:solidFill>
                  <a:srgbClr val="0070C0"/>
                </a:solidFill>
                <a:latin typeface="Arial" pitchFamily="34" charset="0"/>
                <a:cs typeface="Arial" pitchFamily="34" charset="0"/>
              </a:rPr>
              <a:t>2</a:t>
            </a:r>
            <a:r>
              <a:rPr lang="en-US" sz="2400" b="1" dirty="0">
                <a:solidFill>
                  <a:srgbClr val="0070C0"/>
                </a:solidFill>
                <a:latin typeface="Arial" pitchFamily="34" charset="0"/>
                <a:cs typeface="Arial" pitchFamily="34" charset="0"/>
              </a:rPr>
              <a:t>) is specified with a purity of &gt;98%. Acetylcholine chloride is a strong base and is determined by back-titration with hydrochloric acid. A primary standard of 0.02 M sodium carbonate solution is provided, together with a solution of approximately 0.03 M hydrochloric acid.</a:t>
            </a:r>
            <a:br>
              <a:rPr lang="en-US" sz="2400" b="1" dirty="0">
                <a:solidFill>
                  <a:srgbClr val="0070C0"/>
                </a:solidFill>
                <a:latin typeface="Arial" pitchFamily="34" charset="0"/>
                <a:cs typeface="Arial" pitchFamily="34" charset="0"/>
              </a:rPr>
            </a:b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(b) The contents of the vial were then dissolved in 50 mL of acid, and the titration was repeated. 16.0 mL were required to reach the equivalence point. Calculate the amount of acetylcholine in the vial.</a:t>
            </a: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3869118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9A1BEF-3C34-85A6-F677-F3FB5C00DF16}"/>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5A7675F3-00C5-B86B-715B-FD1CAF6A516D}"/>
              </a:ext>
            </a:extLst>
          </p:cNvPr>
          <p:cNvPicPr>
            <a:picLocks noChangeAspect="1"/>
          </p:cNvPicPr>
          <p:nvPr/>
        </p:nvPicPr>
        <p:blipFill>
          <a:blip r:embed="rId2"/>
          <a:stretch>
            <a:fillRect/>
          </a:stretch>
        </p:blipFill>
        <p:spPr>
          <a:xfrm>
            <a:off x="1440768" y="2348880"/>
            <a:ext cx="6262464" cy="2381500"/>
          </a:xfrm>
          <a:prstGeom prst="rect">
            <a:avLst/>
          </a:prstGeom>
        </p:spPr>
      </p:pic>
      <p:sp>
        <p:nvSpPr>
          <p:cNvPr id="3074" name="Text Box 2">
            <a:extLst>
              <a:ext uri="{FF2B5EF4-FFF2-40B4-BE49-F238E27FC236}">
                <a16:creationId xmlns:a16="http://schemas.microsoft.com/office/drawing/2014/main" id="{4DE4DB30-F1E2-82EF-9029-A420E2E1192A}"/>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DAF70CC-BD7F-AB16-CA0E-2B647C96EB58}"/>
              </a:ext>
            </a:extLst>
          </p:cNvPr>
          <p:cNvSpPr txBox="1"/>
          <p:nvPr/>
        </p:nvSpPr>
        <p:spPr>
          <a:xfrm>
            <a:off x="0" y="548680"/>
            <a:ext cx="9144000" cy="1938992"/>
          </a:xfrm>
          <a:prstGeom prst="rect">
            <a:avLst/>
          </a:prstGeom>
          <a:noFill/>
        </p:spPr>
        <p:txBody>
          <a:bodyPr wrap="square" rtlCol="0">
            <a:spAutoFit/>
          </a:bodyPr>
          <a:lstStyle/>
          <a:p>
            <a:pPr marL="457200" indent="-457200">
              <a:buFont typeface="+mj-lt"/>
              <a:buAutoNum type="arabicPeriod" startAt="8"/>
            </a:pPr>
            <a:r>
              <a:rPr lang="en-US" sz="2400" b="1" dirty="0">
                <a:solidFill>
                  <a:srgbClr val="0070C0"/>
                </a:solidFill>
                <a:latin typeface="Arial" pitchFamily="34" charset="0"/>
                <a:cs typeface="Arial" pitchFamily="34" charset="0"/>
              </a:rPr>
              <a:t>150 mg vial of </a:t>
            </a:r>
            <a:r>
              <a:rPr lang="en-US" sz="2400" b="1" dirty="0" err="1">
                <a:solidFill>
                  <a:srgbClr val="0070C0"/>
                </a:solidFill>
                <a:latin typeface="Arial" pitchFamily="34" charset="0"/>
                <a:cs typeface="Arial" pitchFamily="34" charset="0"/>
              </a:rPr>
              <a:t>AChCl</a:t>
            </a: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 dissolved in 0.0288 M hydrochloric acid (50.0 mL)</a:t>
            </a: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 reacts 1:1 with HCl</a:t>
            </a: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 remaining HCl titrated with 0.02 M Na</a:t>
            </a:r>
            <a:r>
              <a:rPr lang="en-US" sz="2400" b="1" baseline="-25000" dirty="0">
                <a:solidFill>
                  <a:srgbClr val="0070C0"/>
                </a:solidFill>
                <a:latin typeface="Arial" pitchFamily="34" charset="0"/>
                <a:cs typeface="Arial" pitchFamily="34" charset="0"/>
              </a:rPr>
              <a:t>2</a:t>
            </a:r>
            <a:r>
              <a:rPr lang="en-US" sz="2400" b="1" dirty="0">
                <a:solidFill>
                  <a:srgbClr val="0070C0"/>
                </a:solidFill>
                <a:latin typeface="Arial" pitchFamily="34" charset="0"/>
                <a:cs typeface="Arial" pitchFamily="34" charset="0"/>
              </a:rPr>
              <a:t>CO</a:t>
            </a:r>
            <a:r>
              <a:rPr lang="en-US" sz="2400" b="1" baseline="-25000" dirty="0">
                <a:solidFill>
                  <a:srgbClr val="0070C0"/>
                </a:solidFill>
                <a:latin typeface="Arial" pitchFamily="34" charset="0"/>
                <a:cs typeface="Arial" pitchFamily="34" charset="0"/>
              </a:rPr>
              <a:t>3</a:t>
            </a:r>
            <a:r>
              <a:rPr lang="en-US" sz="2400" b="1" dirty="0">
                <a:solidFill>
                  <a:srgbClr val="0070C0"/>
                </a:solidFill>
                <a:latin typeface="Arial" pitchFamily="34" charset="0"/>
                <a:cs typeface="Arial" pitchFamily="34" charset="0"/>
              </a:rPr>
              <a:t> (16.0 mL)</a:t>
            </a: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Calculate the amount of acetylcholine in the vial.</a:t>
            </a: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141269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E3A01B-F360-8093-5FA0-F927D46244E2}"/>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8297B660-EC04-A651-BB45-6146D2DF272D}"/>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A1EB520-9B1B-4658-AB07-7377406AF875}"/>
              </a:ext>
            </a:extLst>
          </p:cNvPr>
          <p:cNvSpPr txBox="1"/>
          <p:nvPr/>
        </p:nvSpPr>
        <p:spPr>
          <a:xfrm>
            <a:off x="0" y="548680"/>
            <a:ext cx="9144000" cy="3416320"/>
          </a:xfrm>
          <a:prstGeom prst="rect">
            <a:avLst/>
          </a:prstGeom>
          <a:noFill/>
        </p:spPr>
        <p:txBody>
          <a:bodyPr wrap="square" rtlCol="0">
            <a:spAutoFit/>
          </a:bodyPr>
          <a:lstStyle/>
          <a:p>
            <a:pPr marL="457200" indent="-457200">
              <a:buFont typeface="+mj-lt"/>
              <a:buAutoNum type="arabicPeriod" startAt="8"/>
            </a:pPr>
            <a:r>
              <a:rPr lang="en-US" sz="2400" b="1" dirty="0">
                <a:solidFill>
                  <a:srgbClr val="0070C0"/>
                </a:solidFill>
                <a:latin typeface="Arial" pitchFamily="34" charset="0"/>
                <a:cs typeface="Arial" pitchFamily="34" charset="0"/>
              </a:rPr>
              <a:t>A 150 mg vial of acetylcholine chloride (molecular formula C</a:t>
            </a:r>
            <a:r>
              <a:rPr lang="en-US" sz="2400" b="1" baseline="-25000" dirty="0">
                <a:solidFill>
                  <a:srgbClr val="0070C0"/>
                </a:solidFill>
                <a:latin typeface="Arial" pitchFamily="34" charset="0"/>
                <a:cs typeface="Arial" pitchFamily="34" charset="0"/>
              </a:rPr>
              <a:t>7</a:t>
            </a:r>
            <a:r>
              <a:rPr lang="en-US" sz="2400" b="1" dirty="0">
                <a:solidFill>
                  <a:srgbClr val="0070C0"/>
                </a:solidFill>
                <a:latin typeface="Arial" pitchFamily="34" charset="0"/>
                <a:cs typeface="Arial" pitchFamily="34" charset="0"/>
              </a:rPr>
              <a:t>H</a:t>
            </a:r>
            <a:r>
              <a:rPr lang="en-US" sz="2400" b="1" baseline="-25000" dirty="0">
                <a:solidFill>
                  <a:srgbClr val="0070C0"/>
                </a:solidFill>
                <a:latin typeface="Arial" pitchFamily="34" charset="0"/>
                <a:cs typeface="Arial" pitchFamily="34" charset="0"/>
              </a:rPr>
              <a:t>16</a:t>
            </a:r>
            <a:r>
              <a:rPr lang="en-US" sz="2400" b="1" dirty="0">
                <a:solidFill>
                  <a:srgbClr val="0070C0"/>
                </a:solidFill>
                <a:latin typeface="Arial" pitchFamily="34" charset="0"/>
                <a:cs typeface="Arial" pitchFamily="34" charset="0"/>
              </a:rPr>
              <a:t>ClNO</a:t>
            </a:r>
            <a:r>
              <a:rPr lang="en-US" sz="2400" b="1" baseline="-25000" dirty="0">
                <a:solidFill>
                  <a:srgbClr val="0070C0"/>
                </a:solidFill>
                <a:latin typeface="Arial" pitchFamily="34" charset="0"/>
                <a:cs typeface="Arial" pitchFamily="34" charset="0"/>
              </a:rPr>
              <a:t>2</a:t>
            </a:r>
            <a:r>
              <a:rPr lang="en-US" sz="2400" b="1" dirty="0">
                <a:solidFill>
                  <a:srgbClr val="0070C0"/>
                </a:solidFill>
                <a:latin typeface="Arial" pitchFamily="34" charset="0"/>
                <a:cs typeface="Arial" pitchFamily="34" charset="0"/>
              </a:rPr>
              <a:t>) is specified with a purity of &gt;98%. Acetylcholine chloride is a strong base and is determined by back-titration with hydrochloric acid. A primary standard of 0.02 M sodium carbonate solution is provided, together with a solution of approximately 0.03 M hydrochloric acid.</a:t>
            </a:r>
            <a:br>
              <a:rPr lang="en-US" sz="2400" b="1" dirty="0">
                <a:solidFill>
                  <a:srgbClr val="0070C0"/>
                </a:solidFill>
                <a:latin typeface="Arial" pitchFamily="34" charset="0"/>
                <a:cs typeface="Arial" pitchFamily="34" charset="0"/>
              </a:rPr>
            </a:b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(c) Does it meet the specified purity?</a:t>
            </a: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2714437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332ED2-F526-4E4D-C0CB-54703EB5D054}"/>
            </a:ext>
          </a:extLst>
        </p:cNvPr>
        <p:cNvGrpSpPr/>
        <p:nvPr/>
      </p:nvGrpSpPr>
      <p:grpSpPr>
        <a:xfrm>
          <a:off x="0" y="0"/>
          <a:ext cx="0" cy="0"/>
          <a:chOff x="0" y="0"/>
          <a:chExt cx="0" cy="0"/>
        </a:xfrm>
      </p:grpSpPr>
      <p:sp>
        <p:nvSpPr>
          <p:cNvPr id="3074" name="Text Box 2">
            <a:extLst>
              <a:ext uri="{FF2B5EF4-FFF2-40B4-BE49-F238E27FC236}">
                <a16:creationId xmlns:a16="http://schemas.microsoft.com/office/drawing/2014/main" id="{8AABC07E-C271-BB43-A9BD-1CE267F65116}"/>
              </a:ext>
            </a:extLst>
          </p:cNvPr>
          <p:cNvSpPr txBox="1">
            <a:spLocks noChangeArrowheads="1"/>
          </p:cNvSpPr>
          <p:nvPr/>
        </p:nvSpPr>
        <p:spPr bwMode="auto">
          <a:xfrm>
            <a:off x="0" y="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rgbClr val="FFFF00"/>
                </a:solidFill>
                <a:latin typeface="Comic Sans MS" pitchFamily="66" charset="0"/>
              </a:defRPr>
            </a:lvl1pPr>
            <a:lvl2pPr marL="742950" indent="-285750" eaLnBrk="0" hangingPunct="0">
              <a:defRPr sz="2000">
                <a:solidFill>
                  <a:srgbClr val="FFFF00"/>
                </a:solidFill>
                <a:latin typeface="Comic Sans MS" pitchFamily="66" charset="0"/>
              </a:defRPr>
            </a:lvl2pPr>
            <a:lvl3pPr marL="1143000" indent="-228600" eaLnBrk="0" hangingPunct="0">
              <a:defRPr sz="2000">
                <a:solidFill>
                  <a:srgbClr val="FFFF00"/>
                </a:solidFill>
                <a:latin typeface="Comic Sans MS" pitchFamily="66" charset="0"/>
              </a:defRPr>
            </a:lvl3pPr>
            <a:lvl4pPr marL="1600200" indent="-228600" eaLnBrk="0" hangingPunct="0">
              <a:defRPr sz="2000">
                <a:solidFill>
                  <a:srgbClr val="FFFF00"/>
                </a:solidFill>
                <a:latin typeface="Comic Sans MS" pitchFamily="66" charset="0"/>
              </a:defRPr>
            </a:lvl4pPr>
            <a:lvl5pPr marL="2057400" indent="-228600" eaLnBrk="0" hangingPunct="0">
              <a:defRPr sz="2000">
                <a:solidFill>
                  <a:srgbClr val="FFFF00"/>
                </a:solidFill>
                <a:latin typeface="Comic Sans MS" pitchFamily="66" charset="0"/>
              </a:defRPr>
            </a:lvl5pPr>
            <a:lvl6pPr marL="2514600" indent="-228600" eaLnBrk="0" fontAlgn="base" hangingPunct="0">
              <a:spcBef>
                <a:spcPct val="0"/>
              </a:spcBef>
              <a:spcAft>
                <a:spcPct val="0"/>
              </a:spcAft>
              <a:defRPr sz="2000">
                <a:solidFill>
                  <a:srgbClr val="FFFF00"/>
                </a:solidFill>
                <a:latin typeface="Comic Sans MS" pitchFamily="66" charset="0"/>
              </a:defRPr>
            </a:lvl6pPr>
            <a:lvl7pPr marL="2971800" indent="-228600" eaLnBrk="0" fontAlgn="base" hangingPunct="0">
              <a:spcBef>
                <a:spcPct val="0"/>
              </a:spcBef>
              <a:spcAft>
                <a:spcPct val="0"/>
              </a:spcAft>
              <a:defRPr sz="2000">
                <a:solidFill>
                  <a:srgbClr val="FFFF00"/>
                </a:solidFill>
                <a:latin typeface="Comic Sans MS" pitchFamily="66" charset="0"/>
              </a:defRPr>
            </a:lvl7pPr>
            <a:lvl8pPr marL="3429000" indent="-228600" eaLnBrk="0" fontAlgn="base" hangingPunct="0">
              <a:spcBef>
                <a:spcPct val="0"/>
              </a:spcBef>
              <a:spcAft>
                <a:spcPct val="0"/>
              </a:spcAft>
              <a:defRPr sz="2000">
                <a:solidFill>
                  <a:srgbClr val="FFFF00"/>
                </a:solidFill>
                <a:latin typeface="Comic Sans MS" pitchFamily="66" charset="0"/>
              </a:defRPr>
            </a:lvl8pPr>
            <a:lvl9pPr marL="3886200" indent="-228600" eaLnBrk="0" fontAlgn="base" hangingPunct="0">
              <a:spcBef>
                <a:spcPct val="0"/>
              </a:spcBef>
              <a:spcAft>
                <a:spcPct val="0"/>
              </a:spcAft>
              <a:defRPr sz="2000">
                <a:solidFill>
                  <a:srgbClr val="FFFF00"/>
                </a:solidFill>
                <a:latin typeface="Comic Sans MS" pitchFamily="66" charset="0"/>
              </a:defRPr>
            </a:lvl9pPr>
          </a:lstStyle>
          <a:p>
            <a:pPr eaLnBrk="1" hangingPunct="1">
              <a:spcBef>
                <a:spcPct val="50000"/>
              </a:spcBef>
            </a:pPr>
            <a:r>
              <a:rPr lang="en-GB" sz="2800" b="1" dirty="0">
                <a:solidFill>
                  <a:schemeClr val="tx1"/>
                </a:solidFill>
                <a:latin typeface="Arial" panose="020B0604020202020204" pitchFamily="34" charset="0"/>
                <a:cs typeface="Arial" panose="020B0604020202020204" pitchFamily="34" charset="0"/>
              </a:rPr>
              <a:t>Stoichiometry and Analysis</a:t>
            </a:r>
            <a:endParaRPr lang="en-US" sz="2800" b="1" dirty="0">
              <a:solidFill>
                <a:schemeClr val="tx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5AF42BF-EBE5-E97D-6FEF-76D55C0ECEDB}"/>
              </a:ext>
            </a:extLst>
          </p:cNvPr>
          <p:cNvSpPr txBox="1"/>
          <p:nvPr/>
        </p:nvSpPr>
        <p:spPr>
          <a:xfrm>
            <a:off x="0" y="548680"/>
            <a:ext cx="9144000" cy="1938992"/>
          </a:xfrm>
          <a:prstGeom prst="rect">
            <a:avLst/>
          </a:prstGeom>
          <a:noFill/>
        </p:spPr>
        <p:txBody>
          <a:bodyPr wrap="square" rtlCol="0">
            <a:spAutoFit/>
          </a:bodyPr>
          <a:lstStyle/>
          <a:p>
            <a:pPr marL="457200" indent="-457200">
              <a:buFont typeface="+mj-lt"/>
              <a:buAutoNum type="arabicPeriod" startAt="8"/>
            </a:pPr>
            <a:r>
              <a:rPr lang="en-US" sz="2400" b="1" dirty="0">
                <a:solidFill>
                  <a:srgbClr val="0070C0"/>
                </a:solidFill>
                <a:latin typeface="Arial" pitchFamily="34" charset="0"/>
                <a:cs typeface="Arial" pitchFamily="34" charset="0"/>
              </a:rPr>
              <a:t>150 mg vial of </a:t>
            </a:r>
            <a:r>
              <a:rPr lang="en-US" sz="2400" b="1" dirty="0" err="1">
                <a:solidFill>
                  <a:srgbClr val="0070C0"/>
                </a:solidFill>
                <a:latin typeface="Arial" pitchFamily="34" charset="0"/>
                <a:cs typeface="Arial" pitchFamily="34" charset="0"/>
              </a:rPr>
              <a:t>AChCl</a:t>
            </a:r>
            <a:r>
              <a:rPr lang="en-US" sz="2400" b="1" dirty="0">
                <a:solidFill>
                  <a:srgbClr val="0070C0"/>
                </a:solidFill>
                <a:latin typeface="Arial" pitchFamily="34" charset="0"/>
                <a:cs typeface="Arial" pitchFamily="34" charset="0"/>
              </a:rPr>
              <a:t> (C</a:t>
            </a:r>
            <a:r>
              <a:rPr lang="en-US" sz="2400" b="1" baseline="-25000" dirty="0">
                <a:solidFill>
                  <a:srgbClr val="0070C0"/>
                </a:solidFill>
                <a:latin typeface="Arial" pitchFamily="34" charset="0"/>
                <a:cs typeface="Arial" pitchFamily="34" charset="0"/>
              </a:rPr>
              <a:t>7</a:t>
            </a:r>
            <a:r>
              <a:rPr lang="en-US" sz="2400" b="1" dirty="0">
                <a:solidFill>
                  <a:srgbClr val="0070C0"/>
                </a:solidFill>
                <a:latin typeface="Arial" pitchFamily="34" charset="0"/>
                <a:cs typeface="Arial" pitchFamily="34" charset="0"/>
              </a:rPr>
              <a:t>H</a:t>
            </a:r>
            <a:r>
              <a:rPr lang="en-US" sz="2400" b="1" baseline="-25000" dirty="0">
                <a:solidFill>
                  <a:srgbClr val="0070C0"/>
                </a:solidFill>
                <a:latin typeface="Arial" pitchFamily="34" charset="0"/>
                <a:cs typeface="Arial" pitchFamily="34" charset="0"/>
              </a:rPr>
              <a:t>16</a:t>
            </a:r>
            <a:r>
              <a:rPr lang="en-US" sz="2400" b="1" dirty="0">
                <a:solidFill>
                  <a:srgbClr val="0070C0"/>
                </a:solidFill>
                <a:latin typeface="Arial" pitchFamily="34" charset="0"/>
                <a:cs typeface="Arial" pitchFamily="34" charset="0"/>
              </a:rPr>
              <a:t>ClNO</a:t>
            </a:r>
            <a:r>
              <a:rPr lang="en-US" sz="2400" b="1" baseline="-25000" dirty="0">
                <a:solidFill>
                  <a:srgbClr val="0070C0"/>
                </a:solidFill>
                <a:latin typeface="Arial" pitchFamily="34" charset="0"/>
                <a:cs typeface="Arial" pitchFamily="34" charset="0"/>
              </a:rPr>
              <a:t>2</a:t>
            </a:r>
            <a:r>
              <a:rPr lang="en-US" sz="2400" b="1" dirty="0">
                <a:solidFill>
                  <a:srgbClr val="0070C0"/>
                </a:solidFill>
                <a:latin typeface="Arial" pitchFamily="34" charset="0"/>
                <a:cs typeface="Arial" pitchFamily="34" charset="0"/>
              </a:rPr>
              <a:t>)</a:t>
            </a: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 specified with a purity of &gt;98% (m/m)</a:t>
            </a: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 by titration, amount in vial = 0.00080 mol</a:t>
            </a:r>
            <a:br>
              <a:rPr lang="en-US" sz="2400" b="1" dirty="0">
                <a:solidFill>
                  <a:srgbClr val="0070C0"/>
                </a:solidFill>
                <a:latin typeface="Arial" pitchFamily="34" charset="0"/>
                <a:cs typeface="Arial" pitchFamily="34" charset="0"/>
              </a:rPr>
            </a:br>
            <a:br>
              <a:rPr lang="en-US" sz="2400" b="1" dirty="0">
                <a:solidFill>
                  <a:srgbClr val="0070C0"/>
                </a:solidFill>
                <a:latin typeface="Arial" pitchFamily="34" charset="0"/>
                <a:cs typeface="Arial" pitchFamily="34" charset="0"/>
              </a:rPr>
            </a:br>
            <a:r>
              <a:rPr lang="en-US" sz="2400" b="1" dirty="0">
                <a:solidFill>
                  <a:srgbClr val="0070C0"/>
                </a:solidFill>
                <a:latin typeface="Arial" pitchFamily="34" charset="0"/>
                <a:cs typeface="Arial" pitchFamily="34" charset="0"/>
              </a:rPr>
              <a:t>Does it meet the specified purity?</a:t>
            </a:r>
            <a:endParaRPr lang="en-GB" sz="2400" b="1"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23719418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PVERSION" val="5"/>
  <p:tag name="TPFULLVERSION" val="5.0.0.2212"/>
  <p:tag name="PPTVERSION" val="14"/>
  <p:tag name="TPOS" val="2"/>
</p:tagLst>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00"/>
            </a:solidFill>
            <a:effectLst/>
            <a:latin typeface="Comic Sans MS"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00"/>
            </a:solidFill>
            <a:effectLst/>
            <a:latin typeface="Comic Sans MS" pitchFamily="66"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37523</TotalTime>
  <Words>805</Words>
  <Application>Microsoft Macintosh PowerPoint</Application>
  <PresentationFormat>On-screen Show (4:3)</PresentationFormat>
  <Paragraphs>57</Paragraphs>
  <Slides>18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4" baseType="lpstr">
      <vt:lpstr>Arial</vt:lpstr>
      <vt:lpstr>Calibri</vt:lpstr>
      <vt:lpstr>Comic Sans MS</vt:lpstr>
      <vt:lpstr>Times New Roman</vt:lpstr>
      <vt:lpstr>Default Design</vt:lpstr>
      <vt:lpstr>CS ChemDraw Drawing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JPM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Malkinson</dc:creator>
  <cp:lastModifiedBy>chris www</cp:lastModifiedBy>
  <cp:revision>483</cp:revision>
  <dcterms:created xsi:type="dcterms:W3CDTF">2003-10-24T16:21:16Z</dcterms:created>
  <dcterms:modified xsi:type="dcterms:W3CDTF">2025-10-15T14:28:58Z</dcterms:modified>
</cp:coreProperties>
</file>